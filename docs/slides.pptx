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5f9f794-42e2-a22d-b803-36d8870c3100}">
          <p14:sldIdLst>
            <p14:sldId id="256"/>
            <p14:sldId id="257"/>
          </p14:sldIdLst>
        </p14:section>
        <p14:section name="The road here · Heroku" id="{6a021128-a3ea-3e16-a94c-1a383b4de63b}">
          <p14:sldIdLst>
            <p14:sldId id="258"/>
          </p14:sldIdLst>
        </p14:section>
        <p14:section name="The road here" id="{22f9f05b-58ad-3b6d-d69e-ba2a3ef61fac}">
          <p14:sldIdLst>
            <p14:sldId id="259"/>
            <p14:sldId id="260"/>
            <p14:sldId id="261"/>
            <p14:sldId id="262"/>
            <p14:sldId id="263"/>
            <p14:sldId id="264"/>
            <p14:sldId id="265"/>
          </p14:sldIdLst>
        </p14:section>
        <p14:section name="Terraform on a laptop" id="{570d5897-4e97-f43f-4315-417b857064db}">
          <p14:sldIdLst>
            <p14:sldId id="266"/>
            <p14:sldId id="267"/>
            <p14:sldId id="268"/>
            <p14:sldId id="269"/>
          </p14:sldIdLst>
        </p14:section>
        <p14:section name="Stack 1 · Static site" id="{21018b3d-f461-9687-1778-43d8f5a0e326}">
          <p14:sldIdLst>
            <p14:sldId id="270"/>
            <p14:sldId id="271"/>
            <p14:sldId id="272"/>
            <p14:sldId id="273"/>
            <p14:sldId id="274"/>
            <p14:sldId id="275"/>
            <p14:sldId id="276"/>
            <p14:sldId id="277"/>
          </p14:sldIdLst>
        </p14:section>
        <p14:section name="Stack 2 · Lambda + DynamoDB" id="{bcb96cf5-b691-d81b-ab15-71e91cad133a}">
          <p14:sldIdLst>
            <p14:sldId id="278"/>
            <p14:sldId id="279"/>
            <p14:sldId id="280"/>
            <p14:sldId id="281"/>
            <p14:sldId id="282"/>
            <p14:sldId id="283"/>
          </p14:sldIdLst>
        </p14:section>
        <p14:section name="Stack 3 · Rails + Postgres + S3" id="{c1e42c2d-d442-1d7e-954d-8fde877eafc9}">
          <p14:sldIdLst>
            <p14:sldId id="284"/>
            <p14:sldId id="285"/>
            <p14:sldId id="286"/>
            <p14:sldId id="287"/>
            <p14:sldId id="288"/>
            <p14:sldId id="289"/>
          </p14:sldIdLst>
        </p14:section>
        <p14:section name="Stack 4 · TanStack Start" id="{491fa353-572b-3538-4ee9-e1b21148d0a0}">
          <p14:sldIdLst>
            <p14:sldId id="290"/>
            <p14:sldId id="291"/>
            <p14:sldId id="292"/>
            <p14:sldId id="293"/>
            <p14:sldId id="294"/>
          </p14:sldIdLst>
        </p14:section>
        <p14:section name="Four shapes" id="{e889a34d-8416-b683-34ea-a47a303f2c88}">
          <p14:sldIdLst>
            <p14:sldId id="295"/>
            <p14:sldId id="296"/>
          </p14:sldIdLst>
        </p14:section>
        <p14:section name="The front door" id="{ca9e4d4f-5d81-9f15-8a2c-be872a5eed4e}">
          <p14:sldIdLst>
            <p14:sldId id="297"/>
            <p14:sldId id="298"/>
          </p14:sldIdLst>
        </p14:section>
        <p14:section name="When stacks share" id="{ff53453e-e12b-0099-1fed-21f72ccfc873}">
          <p14:sldIdLst>
            <p14:sldId id="299"/>
            <p14:sldId id="300"/>
            <p14:sldId id="301"/>
          </p14:sldIdLst>
        </p14:section>
        <p14:section name="Close" id="{ba1c7d59-0a37-4f5a-759f-d2ed08458c2c}">
          <p14:sldIdLst>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whole talk runs live against a local AWS emulator. Nobody in this room needs an account to follow along; the repo link and QR code are on the next slide.
The colored bar is the key for every slide: teal is CDN, indigo is network, plum is compute, ochre is data, brick is access and 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within the opening budget. Show this before the background story so people can scan the QR or open https://github.com/raysapida/terraform_demo, clone the code, and start make prepare. Watching is enough; do not pause for installations.
Make up starts only Floci, pulling its image if missing. Make prepare explicitly pulls the Compose image, starts Floci, and pulls the Lambda runtime, Postgres, Node, Ruby, Docker CLI, registry, Kamal proxy, BuildKit, Ubuntu EC2 image, and Dockerfile frontend. Participants can leave it running in a terminal during the deployment story. It does not provision Terraform resources or deploy the apps.
Make doctor is read-only and lists missing prerequisites. Every stack needs Docker with Compose v2, Terraform, make, and curl. Stack 1's sync also needs AWS CLI. Stack 3's usual route needs host Ruby 4.0.5 and Bundler, Docker Buildx, SSH tools, and OpenSSL; participants can skip it. Stack 4 uses host Node when available and otherwise node:24-slim.
This is image preparation, not a fully offline installation. Terraform providers, npm packages, gems, apt/apk packages, and build layers can still download later. BuildKit has its own cache and can fetch base images again. Download time depends on the connection and existing caches; send make prepare to attendees ahead of the event when possible.
Ports must be free: 4566, 7001–7010, 3020, 3443, 2222, and 5555. Tested on macOS with Apple Silicon; Rails is configured for arm64. The QR on the later Floci slide links to Floci itself, not this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I'm a full-stack developer who learned the infrastructure underneath the apps I maintained. Most of my background is Rails and small agency environments. The examples include Rails, but the deployment and infrastructure questions apply to JavaScript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My first framework was Rails, and Heroku was my starting point, back when beginners could use its free tier. I supplied the application and the platform did these jobs. The rest of this short story unpacks what I took responsibility for when I moved to a bare server. It is an explanation of the jobs, not a requirement to leave a working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an addition to an existing Gemfile. Bundler installs Ruby libraries using the lockfile; a native extension may need compatible binaries or build tools. A system program such as ImageMagick has to be available separately. Whether Heroku supplied it depended on the stack. Keep that boundary as the point; the package manager handles libraries, while the environment supplies system tools.
Sources: https://devcenter.heroku.com/articles/bundler ; https://github.com/minimagick/minimagick#requirements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 platform was doing these jobs for us. On a fresh Linux server we have to account for each one. For JavaScript, picture an Express or Fastify process behind Nginx, kept alive by systemd or PM2. We will return to DNS after the four app examples. The immediate problem is repeating these steps for the next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is a useful first improvement, and it may be enough for a small app. The important limitation is that it edits the running release in place. If installation fails after git pull, old processes can be running against new files. We want to prepare the replacement somewhere else and switch only when it is ready. BUNDLE_DEPLOYMENT=1 also works with Bundler 4, unlike the removed bundle install --deployment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Capistrano prepares a timestamped release directory, links shared files, and runs the build before switching current. The previous directory stays available for rollback. The symlink switch is atomic; that does not make the entire deployment or a database migration atomic. Capistrano still expects the runtime and system libraries to be installed on the host. The same release-directory pattern works for a Node application with different build and restart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Docker moves application environment setup into the image. Kamal coordinates running a new version and switching traffic to it with kamal-proxy. Keep data and secrets outside the image. This does not undo database migrations, patch the host, or create the surrounding network and database. Capistrano remains a reasonable option; keep the trade-off discussion brief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can now ship a release, but someone still has to create what it runs on and what it can reach. The same repeatability question now applies to infrastructure. From here, separate provisioning from deploying, then show four app shapes against a local AWS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can't say which axis a tool is on, you can't tell whether two tools are alternatives or partners. Terraform and Kamal were never competing.
Stack 1 syncs files after apply. Stack 3 has a whole deploy tool. Stack 2 folds the deploy into apply. Stack 4 builds first, then apply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LocalStack's Community edition sunset in March 2026. Floci appeared in direct response: a single native binary on port 4566. No agent, no plugin, no forked provider.
Safety, in thirty seconds: every provider.tf pins endpoints to localhost and uses placeholder test keys, and make preflight refuses to run if anything could reach real AWS.
The QR code opens https://floci.io/, which has installation instructions. For this demo, use the repository's Docker Compose setup and make up; the QR is a reference for installing Floci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through the demos. Start with files a browser can download, then an API handler, then a running application with a database, and finally a full-stack JavaScript framework.
For each one, we'll ask what it needs underneath and where provisioning ends and deploying begins. We'll introduce the infrastructure pieces as we encounter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 resource block names something Terraform manages. The AWS provider makes the API calls; state records which real ID belongs to that resource name. Within a config, reference the resource instead of copying its ID. Outputs expose selected values, which we will use when Kamal reads the database address. Later, separate states explain why two stacks cannot assume that the other one already created a hardcoded ID. State also contains secrets, so it needs protection; sensitive output formatting is not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developers have shipped one of these by clicking deploy on a platform that handles static hosting for them.
If the build output is a folder of HTML, CSS and JS with no server code, this is your shape, even for a big React SPA.
Firebase Hosting, Netlify, Vercel, Cloudflare Pages and GitHub Pages can handle static hosting for you. Here, we'll build that capability ourselves using S3 and CloudFront.
Netlify and Vercel also support applications that run server code when requests arrive. The build and request handling determine the architecture, rather than the platform name. This stack covers prebuilt files served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serve a static site we need somewhere to keep the files, an HTTPS endpoint through a CDN, and permissions that let the CDN read the files while keeping the bucket private.
Let's describe that setup in Terraform, then upload the site separately. Terraform provisions the hosting infrastructure; uploading the built files deploys the site.
Walk the request left to right. The part people skip is the bottom arrow: nobody can read the bucket directly, not even with a website endpoint.
Origin access control replaced origin access identity in 2022. Tutorials still show OAI, and it still works, which is how old patterns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It needs no build, no warm-up and no network, so it is the safest demo in the deck.
This is the standard AWS CLI. The explicit --endpoint-url sends both commands to Floci on the laptop. Use the demo's test credentials and us-east-1 region.
These commands create a bucket and upload a file. They do not configure website access or a CDN. Then run stack 1 to build the complete hosting setup from the diagram.
A line to say: "Could I just point a domain at this bucket? Almost: turn on website hosting, make it public, name the bucket after the domain, and add a DNS record. But you'd get HTTP only. HTTPS on your own domain needs a CDN in front, which is why stack 1 has one."
What that takes on real AWS (checked against AWS's docs, 2026-10-12):
1. Turn on static website hosting with index.html as the index document. That gives the bucket a separate website endpoint, http://BUCKET.s3-website-us-east-1.amazonaws.com. The normal S3 endpoint does not serve an index document: a request to the bucket root returns a list of object keys, and errors come back as XML, not HTML.
2. Make it public, which is two steps: turn off Block Public Access (on the bucket, and on the account if it is on there), then add a bucket policy allowing s3:GetObject to "*". The website endpoint only serves publicly readable content. Since April 2023, buckets created through the CLI, SDKs, APIs or CloudFormation get Block Public Access on and ACLs disabled by default; console-made buckets already did. It applies to new buckets only.
3. Name the bucket exactly after the hostname, such as www.example.com. AWS says the bucket names must match the domain name exactly. Bucket names are global, so if someone else owns that name, you cannot use it.
4. Point DNS at the website endpoint: a CNAME for www, and for the bare domain a Route 53 alias record, which is what AWS's tutorial uses. (A CNAME is not allowed at the bare domain; that is a DNS rule, stated from memory, not from AWS's docs.)
Then it is HTTP only. AWS: "Amazon S3 website endpoints do not support HTTPS." For HTTPS AWS points to CloudFront or Amplify Hosting. Some domains will not load over HTTP at all: .dev and .app are on browsers' HSTS preload list, so browsers force HTTPS for them.
The two approaches are alternatives, not layers. CloudFront's docs say a bucket set up as a website endpoint cannot use origin access control: CloudFront has to treat it as an ordinary custom origin, which means the bucket stays public. So it is either a public website bucket, HTTP only unless a CDN is in front, or what stack 1 builds: a private bucket that only its CloudFront distribution can read. (https://docs.aws.amazon.com/AmazonCloudFront/latest/DeveloperGuide/private-content-restricting-access-to-s3.html)
Keep this about real AWS. Whether Floci emulates S3 website endpoints is untested, and Floci does not enforce bucket privacy by default, so a demo there would make public look like it does not matter.
Sources: https://docs.aws.amazon.com/AmazonS3/latest/userguide/WebsiteEndpoints.html ; https://docs.aws.amazon.com/AmazonS3/latest/userguide/website-hosting-custom-domain-walkthrough.html ; https://aws.amazon.com/about-aws/whats-new/2023/04/amazon-s3-security-best-practices-buckets-default ; https://en.wikipedia.org/wiki/.dev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make site from the repository root. It starts Floci, checks the local endpoints, provisions the bucket and distribution with Terraform, uploads the site files, and checks the response with curl. On a repeat run, the upload may print nothing if the files are unchanged.
Look for HTTP 200 and the distribution_id in the output. The sample ID and byte count are illustrative; use the ID from your own run. Floci assigns that ID when it creates the distribution, and recreating the distribution can change it.
For example, distribution_id E23QVEUMXAS598 opens at http://e23qveumxas598.cloudfront.localhost:4566/. Use HTTP and port 4566 for this local demo. The .localhost suffix sends the browser to the laptop, and Floci selects the distribution from the hostname. No sudo or /etc/hosts changes are needed.
The browser should show the heading “Served by a CDN that does not exist” and explain that the page lives in a private S3 bucket behind a CloudFront distribution, all on the laptop. This demonstrates local content delivery through Floci's CloudFront emulation.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standard AWS CLI commands, explicitly pointed at Floci on localhost:4566. Set the test credentials and region in this terminal: the make recipe's environment does not carry back into the calling shell. AWS_PAGER disables the interactive pager so the results stay visible.
The S3 listing shows the file uploaded by make site. The CloudFront query keeps the output focused on distribution IDs and statuses. Other distributions can appear if participants have already run another stack; their IDs and file timestamps will differ from the presenter's.
Optional: inspect the bucket policy to connect this CLI exercise to the permission diagram. From the repository root, with the same demo environment:
aws --endpoint-url http://localhost:4566 \
  s3api get-bucket-policy --bucket sacjs-static-site \
  --query Policy --output text
The policy grants CloudFront read access with AWS:SourceArn restricted to this distribution. Retrieving the policy demonstrates its stored configuration; Floci's enforcement behavior is covered separately in this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lines includes the comments, which are most of it. The resources themselves fit on one screen.
Note what's absent: no VPC, no subnets, no servers. Hold that for stack 3.
To show all five exist, ask Floci directly. Always use ./scripts/awslocal (the AWS CLI pinned to Floci), never bare aws. Read the names from Terraform instead of copying IDs:
B=$(terraform -chdir=stacks/01-static-site/terraform output -raw bucket_name)
D=$(terraform -chdir=stacks/01-static-site/terraform output -raw distribution_id)
terraform -chdir=stacks/01-static-site/terraform state list           # the five, as Terraform sees them
./scripts/awslocal s3api head-bucket --bucket $B                      # 1 bucket
./scripts/awslocal s3api get-public-access-block --bucket $B          # 2 all four switches true
./scripts/awslocal cloudfront list-origin-access-controls             # 3 sacjs-static-site-oac, signing always
./scripts/awslocal cloudfront get-distribution --id $D                # 4 Deployed, origin = the bucket, uses that OAC
./scripts/awslocal s3api get-bucket-policy --bucket $B                # 5 GetObject for this distribution only
./scripts/awslocal s3 ls s3://$B/                                     # the files: uploaded by make site, not Terraform
The cross-references are the point: the distribution names the bucket and the OAC's ID, and the policy names the distribution.
Exists is not the same as enforced. An anonymous read straight from the bucket, skipping CloudFront, returns 200 on Floci; on real AWS the public access block and the policy would make it 403. Floci stores both but only evaluates them with its enforcement settings on (docs/FINDINGS.md).
curl -s -o /dev/null -w "%{http_code}" http://localhost:4566/sacjs-static-site/index.html
Checked 2026-10-12: all five present, curl returned 200. If you use variables, set them as above; a command stored in one variable and run as $TF does not work in zsh.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line is the difference between "private" and "private unless someone else also uses CloudFront".
Everything is a reference, not a pasted ID, which is the same rule that fixes the Act III bug later.
Why the condition matters, from AWS's docs (checked 2026-10-12): a policy that trusts a service principal such as cloudfront.amazonaws.com "is only authorizing the AWS service principal, and not the actor who configured the calling service". Without the condition, a distribution someone else set up could use CloudFront's trust to read your bucket. AWS calls this the confused deputy problem and recommends aws:SourceArn (or aws:SourceAccount) wherever a service principal is granted access. CloudFront's own guide says to use the condition so CloudFront can read the bucket "only when the request is on behalf of the CloudFront distribution".
Say this about Floci: it stores this policy but does not enforce it unless its enforcement settings are on (FLOCI_SERVICES_S3_ENFORCE_AUTH and FLOCI_SERVICES_IAM_ENFORCEMENT_ENABLED, both off by default). Delete the resource and the demo site still works; an anonymous read of the bucket returns 200. On real AWS, delete it and the site returns 403. One sentence is enough: "Floci keeps this but does not check it; AWS does."
Sources: https://docs.aws.amazon.com/IAM/latest/UserGuide/confused-deputy.html ; https://docs.aws.amazon.com/AmazonCloudFront/latest/DeveloperGuide/private-content-restricting-access-to-s3.html ; docs/FINDINGS.md for the Floci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run make site a second time here. Refer back to the successful run: Terraform describes the hosting infrastructure; the upload deploys the built files. This gives us a working local URL. We'll return to custom domains after the other examples.
Optional: open https://&lt;id&gt;.cloudfront.net through the local Caddy for a real padlock.
What make site runs, as you would type it from the repository root (checked by hand in a clean shell, 2026-10-12):
cd stacks/01-static-site/terraform
terraform init
terraform apply                                   # provision: the five resources
cd ../../..
./scripts/awslocal s3 sync stacks/01-static-site/site \
  "s3://$(terraform -chdir=stacks/01-static-site/terraform output -raw bucket_name)" --delete
                                                  # deploy: the files
D=$(terraform -chdir=stacks/01-static-site/terraform output -raw distribution_id)
curl --resolve "$D.cloudfront.net:4566:127.0.0.1" "http://$D.cloudfront.net:4566/"
./scripts/awslocal is the plain AWS CLI with --endpoint-url http://localhost:4566 added, so nothing can reach real AWS. On real AWS the deploy is the same command with plain aws. make site adds -auto-approve to the apply; typed by hand, terraform apply shows the plan and asks first, which is worth showing once. The bucket name comes from terraform output rather than being typed: the deploy step reads what provisioning made, the same seam stack 3's Kamal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a 64-line Node handler: POST adds a message, GET lists them. No framework.
Honest caveat: long-running work, websockets and heavy relational data push you toward a server, which is stack 3, next.
Not every platform makes permissions the hard part. On Cloudflare Workers access is a binding declared in the config file: no role, no policy, nothing to over-grant. Worth saying, so the IAM slide does not read as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network to build: no VPC, no subnets, no security groups. What's left to get wrong is who may do what: the resource policy on the way in, the role on the way out.
The handler has no endpoint, region or credentials in it. On AWS they come from the role; on Floci, the runtime injects AWS_ENDPOINT_URL.
Hold that thought: in stack 3, the network comes back and is most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nine are permissions. The data layer is a single resource whose whole schema is its key.
There is no separate deploy step here: change the handler and the zip hash changes, so the next apply uploads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October 2025 trap. Works in the console, 403 from Terraform, and the difference is one boolean.
Floci accepts either version, so the emulator won't catch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point plainly: the scoped policy is the intended AWS configuration, but this emulator cannot reliably validate it. Keep the correctly scoped policy and explain the limitation.
If time allows: edit the handler, re-apply, show source_code_hash driving the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with two commands, in one terminal or two. Anyone can call the function: the URL is public, so a laptop in the room could POST to it too if it were reachable.
URL=$(terraform -chdir=stacks/02-lambda/terraform output -raw function_url)
curl -X POST -d '{"message":"hi from the room"}' $URL     # 201, a new message
curl -X POST -d nope $URL                                 # 400, body must be JSON
curl $URL                                                 # 200, the list
./scripts/awslocal logs tail /aws/lambda/sacjs-lambda --since 5m --format short
Each request writes one JSON line: method, status, milliseconds. Lambda sends anything the function prints to stdout or stderr to CloudWatch Logs, in the log group Terraform created (/aws/lambda/sacjs-lambda, kept 7 days). The long ID on each line is the request ID; the same ID ties a log line to one invocation.
The handler logs on purpose: one console.log in index.mjs. Without it there is nothing to read, because Floci does not add the START, END and REPORT lines real Lambda writes around each invocation (those platform lines are from memory of real AWS; Floci's absence of them was observed).
On Floci, logs tail --follow showed nothing, not even recent history, while plain tail works; checked with AWS CLI 2.36 on 2026-10-12. For a live view, rerun tail, or: watch -n2 ./scripts/awslocal logs tail /aws/lambda/sacjs-lambda --since 5m --format short. Floci-only shortcut: docker logs -f on the floci-aws-sacjs-lambda container shows the same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app is Rails 8.1 with one ActiveStorage upload page, but nothing about this shape is Ruby-specific. Swap in Django or Express and the Terraform is identical.
The defining trait: a process that is always on, and a database that must never be reachable from the internet.
On a platform this is a host plus managed Postgres plus object storage, wired for you. Kamal on any plain server is the do-it-yourself version, and it is portable: on Hetzner or DigitalOcean, Terraform makes a server and a firewall and Kamal deploys to its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RDS insists on two subnets in two availability zones, even for a single instance. That surprises people every time.
The database security group admits Postgres from the app's security group, a reference not an IP range. Same rule as the Act III fix: refer to the thing, never copy its address.
The app host is in the Terraform as it would be on real AWS: an aws_instance in the public subnet, behind the app security group, which admits 80 and 443 from anywhere and 22 (Kamal's SSH) from one address. Floci creates the instance too, as an Ubuntu container. On the laptop Kamal still deploys to a stand-in container with sshd and Docker, because Docker inside Floci's instance needs extra steps that are not wired up yet.
Floci does not enforce security groups by default, so on the laptop the fence is described, not tested. On real AWS it is what keeps Postgres private.
Compare stack 2, which had no fence at all: nine resources and not one of them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say: public versus private is three resources, a gateway, a route and an association. Delete the route and the public subnet becomes private. There is no "public" checkbox on a subnet; map_public_ip_on_launch only hands out public addresses, it is the route that makes them reachable.
Addresses, in one sentence: the VPC is 10.20.0.0/16, about 65,000 private addresses that are yours. Each subnet is a /24 slice of it, 256 addresses, of which AWS keeps 5. cidrsubnet() carves the slices so nobody types them: public 10.20.1.0/24, private 10.20.10.0/24 and 10.20.11.0/24.
Availability zones: a subnet lives in one zone, roughly one data center. RDS wants a subnet group across at least two zones even for one instance, which is why there are two private subnets.
Routes and security groups answer different questions. A route decides whether traffic can get somewhere; a security group decides whether it is allowed in once it arrives. Security groups are stateful: allow the request in and the reply goes back out on its own.
If the route points at a gateway that is detached or deleted, the route stays but its state becomes blackhole, and matching traffic is dropped (EC2 API reference, Route: blackhole means the target is not available, for example a detached gateway). Nothing answers, so connections hang and time out. With the route and gateway but no public IP, an instance still cannot get out: the internet gateway only translates for instances with a public address, which is why the public subnet sets map_public_ip_on_launch.
A diagnostic worth giving the room: if a connection hangs and then times out, packets are being dropped, so look at routes and security groups, which both drop silently. If it says "connection refused" straight away, you reached the machine and nothing is listening on that port, so look at the app. On Floci neither shows, because routes and security groups are not enforced.
The database has three independent layers: private subnets with no route out, publicly_accessible = false, and a security group that only admits the app. Any one of them keeps it off the internet.
What is deliberately missing: a NAT gateway. Private subnets have no outbound internet, and the database needs none. An app in a private subnet would need one to reach the internet, and NAT gateways bill by the hour. Small setups often keep the app in the public subnet behind a security group instead, as this stack does.
If someone asks why the app is public: "Here the app is public behind a security group, which is fine for one server. At work you'll usually see it private, behind a load balancer, with a NAT gateway so it can still reach out." The load balancer becomes the only public thing, which shrinks what can be attacked and spreads traffic across servers. The NAT gateway lets private servers pull images and call APIs without being reachable. This stack skips both because it is one server, and both add resources and monthly cost.
On Floci all of this is stored but not enforced by default, so the network is described here, not tested. The ledger notes have describe-subnets and describe-route-tables commands that show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indigo: nine of nineteen. The thing you actually care about, Postgres, is one line in the data group.
The password is generated, but it still sits in terraform.tfstate in plain text. sensitive = true only hides it from your terminal.
To show these exist, ask Floci directly (checked 2026-10-12; read-only, pinned to Floci):
A=./scripts/awslocal
tf() { terraform -chdir=stacks/03-rails/terraform "$@"; }
VPC=$(tf state show -no-color aws_vpc.main | awk -F'"' '/^ *id /{print $2; exit}')
tf state list                                                        # the 19, plus data.aws_ami.ubuntu (a lookup, not a resource)
$A ec2 describe-vpcs --vpc-ids $VPC --query 'Vpcs[0].CidrBlock'      # 10.20.0.0/16
$A ec2 describe-subnets --filters Name=vpc-id,Values=$VPC \
  --query 'Subnets[].[Tags[?Key==`Name`]|[0].Value,CidrBlock,AvailabilityZone]' --output text
                                                                     # public 10.20.1.0/24 + private ×2 in 1a and 1b
$A ec2 describe-route-tables --filters Name=vpc-id,Values=$VPC \
  --query 'RouteTables[].Routes[?GatewayId!=`local`]'                # 0.0.0.0/0 → igw-…
$A ec2 describe-security-groups --filters Name=vpc-id,Values=$VPC \
  --query 'SecurityGroups[].[GroupName,IpPermissions]'               # app: 22, 80, 443 · db: 5432 from the app SG's ID
$A ec2 describe-instances --filters Name=vpc-id,Values=$VPC \
  --query 'Reservations[].Instances[].[InstanceId,State.Name,InstanceType,ImageId,KeyName]' --output text
                                                                     # running t4g.small, Ubuntu 24.04 arm64, the deploy key
$A rds describe-db-instances \
  --query 'DBInstances[0].[Engine,EngineVersion,PubliclyAccessible]' # postgres 15.17 False
$A s3api get-public-access-block --bucket sacjs-rails-uploads        # all four true
$A iam get-user-policy --user-name sacjs-rails-app --policy-name uploads-bucket
                                                                     # ListBucket + Get/Put/DeleteObject, this bucket only
The instance is real in Floci (an Ubuntu container) but idle: Kamal deploys to the stand-in host. The VPC ID is read from Terraform's state, so no ID is copied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outputs the values; Kamal reads them at deploy time. Nothing typed, nothing pasted, and .kamal/secrets holds commands rather than values, so it's safe to commit.
On the right, a real production deploy.yml (sanitized): the seam held together by copy and paste.
One value is still typed: the server. deploy.yml lists 127.0.0.1, the stand-in host. Terraform now outputs app_host_ip, so on real AWS the seam closes completely with:
servers:
  web:
    hosts:
      - &lt;%= tf.("app_host_ip") %&gt;
On the laptop the host stays 127.0.0.1, because Kamal deploys to the stand-in, not to Floci's instance (docs/FINDINGS.md).
Not every secret comes from Terraform. SECRET_KEY_BASE is read from a file (host/state/secret_key_base) generated once by make rails, because it is an app secret, not infrastructure. Terraform owns the values that describe infrastructure: addresses, names, and the credentials it created.
terraform output reads the state file, not AWS. With Floci paused it still answered in under half a second. So it is fast and works offline, but it shows what the last apply recorded; if someone changes the infrastructure outside Terraform, the output is stale until the next apply.
The machine that deploys needs Terraform and access to the state. On a laptop that is the local terraform.tfstate. For a team or a CI job it is the reason to keep state in a shared, encrypted remote backend (for example S3 with locking), since the state also holds the database password in plain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a file first: object appears in Floci S3, row in Postgres (make rails-psql). Then change a line in the view and redeploy with the curl loop running.
First deploy is ~2 minutes (registry, proxy, build). After that about ten seconds.
If someone asks why Kamal does not deploy to the EC2 instance Terraform made: "I tried. Kamal got all the way to a healthy container inside Floci's instance, but Floci's port forwarding can't reach it from the laptop, and the first setup took eleven minutes." The full step-by-step is in docs/FINDINGS.md (Kamal into the EC2 instance, 2026-10-12).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TanStack Start 1.168 with Nitro's aws_lambda preset. The preset is one word in vite.config.ts.
This is the payoff of the order: nothing in this stack is new except the thing that joins the two halves.
These are the platforms this build is usually pointed at. TanStack's own docs name Cloudflare Workers, Netlify and Railway as official hosting partners, and Nitro's preset is the one-word switch: aws_lambda for ours, others for them. Same app, different preset, different Terraform, or none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colors: teal and ochre on the top path are stack 1, plum on the bottom path is stack 2. CloudFront's second behavior is the only new idea.
"Host rewritten": the SSR behavior forwards every viewer header except Host. A function URL routes on its own hostname, so forwarding the browser's Host makes Lambda reject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from stack 1's shape, seven from stack 2's, one new. A modern full-stack framework deploys onto resources this room watched get created twenty minutes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Assets: cached at the edge for a year, safe because Nitro fingerprints filenames. Server renders: never cached, every method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tab: the HTML plus three assets, nothing else. No server-function calls during hydration.
The Terraform is right for real AWS. The app is shaped around the emulator, and saying so out loud is the honest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the resources in all four demos, compare their mix. Each number counts things Terraform manages, including buckets, policies, and permission rules; it is not a server count, a cost, or a performance measurement.
Read Rails as an example: nine network resources, two compute resources (the host and its key pair), five data resources, and three access resources make nineteen total. More than half its configuration is networking. The Lambda stack defines no VPC or subnets, and access is its biggest slice.
TanStack Start uses categories we already saw in the static site and the function API. A new framework combined familiar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timings are local make-target runs, not Lambda cold-start latency or AWS provisioning guarantees. Read the "Mostly" row out loud. That's the talk in four words.
The bottom row is honest: every stack has one thing the emulator stores but doesn't enforce. Learn the shape here; learn the policies against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 registrar gives you the name; records at the DNS host point it somewhere. A maps a name to IPv4, AAAA to IPv6. A CNAME points at another name, which is useful when the CDN's addresses change. At the bare domain, use the DNS provider's supported alias mechanism instead of a CNAME. TTL controls how long an answer may be cached.
The diagram uses documentation addresses, not real hosts. Skip the live dig here so this section stays at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CloudFront needs the alternate domain name and a matching certificate as well as a DNS record. The bare Lambda function URL has no custom-domain feature; add API Gateway or a front door such as CloudFront. For the server app, point an A record at the host and configure Kamal's proxy to obtain a certificate. Our demo stacks do not configure custom domains, so this table describes the production follow-up.
Now the app has code, infrastructure, and an address. The next problem begins when two stacks need to share some of that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within the ownership section's existing seven-minute budget. Define the names before showing any IDs: the pipeline processes data and stores results in Postgres; the portal is the web application that needs to read those results. Each stack has its own Terraform state, which records the resources it manages.
The arrows here show the intended data access, not Terraform's creation order. VPC peering connects the private networks; routes and security rules also need to allow the database connection. This is a simplified production shape, not a new live demo.
Transition: somebody has to create the connection using both network IDs. The next slide shows what happens when the two configurations assume the other one has already done its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Sanitized from a real pair of production repos. Let the room find the bug before you say it.
Refer back to the diagram: the pipeline's peering request needs the portal's VPC ID; the portal's acceptance needs the pipeline's connection ID. Each configuration pastes an ID created by the other state. Ask which complete stack could be applied first in an empty environment.
Explain the change of example before running it: the production story used VPC peering, which Floci does not support. The local demo recreates the same cross-state hardcoded-ID failure with a security group referring to the other stack's VPC. We are testing ownership and rebuildability, not peering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between the first two is the teaching point: a half-built apply versus a clean refusal that names what's missing.
Writing infrastructure in TypeScript still requires clear ownership and dependency direction. Pulumi StackReference and CDK/CloudFormation imports express dependencies; they do not make circular ownership workable.
Run broken, then order, then fixed. The network layer must not already be applied when order runs; check that before the talk. Spend the saved time explaining which state owns each resource and why the dependencies now point one way. A shared resource can belong to a producer stack with explicit consumers; this demo uses a separate network layer because it owns the infrastructure shared by both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https://github.com/raysapida/terraform_demo on screen for questions. The opening follow-along slide also has a QR code for the same repository.
Further watching: Better Stack, "This Tool Runs Real AWS Services on Your Laptop For Free (Floci)" — https://youtu.be/7s462S-qRY4 ; AwesomeFOSS, "Floci: The Drop-In LocalStack Replacement That Stays Free Forever" — https://youtu.be/brHYpf4yKKI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1F3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691640"/>
            <a:ext cx="8138160" cy="2377440"/>
          </a:xfrm>
          <a:prstGeom prst="rect">
            <a:avLst/>
          </a:prstGeom>
          <a:noFill/>
          <a:ln/>
        </p:spPr>
        <p:txBody>
          <a:bodyPr wrap="square" rtlCol="0"/>
          <a:lstStyle>
            <a:lvl1pPr algn="l" indent="0" marL="0">
              <a:buNone/>
              <a:defRPr lang="en-US" sz="6600" b="1" dirty="0">
                <a:solidFill>
                  <a:schemeClr val="tx1"/>
                </a:solidFill>
                <a:latin typeface="Arial" pitchFamily="34" charset="0"/>
                <a:ea typeface="Arial" pitchFamily="34" charset="-122"/>
                <a:cs typeface="Arial" pitchFamily="34" charset="-120"/>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1F3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22960"/>
            <a:ext cx="10820400" cy="109728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RE">
    <p:bg>
      <p:bgPr>
        <a:solidFill>
          <a:srgbClr val="F1F3E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raysapida/terraform_demo" TargetMode="Externa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github.com/raysapida/terraform_demo" TargetMode="External"/><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yebrow chip"/>
          <p:cNvSpPr txBox="1"/>
          <p:nvPr/>
        </p:nvSpPr>
        <p:spPr>
          <a:xfrm>
            <a:off x="685800" y="457200"/>
            <a:ext cx="16672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PLAYFUL PROGRAMMING</a:t>
            </a:r>
            <a:endParaRPr lang="en-US" sz="1000" dirty="0"/>
          </a:p>
        </p:txBody>
      </p:sp>
      <p:sp>
        <p:nvSpPr>
          <p:cNvPr id="4" name="Eyebrow"/>
          <p:cNvSpPr txBox="1"/>
          <p:nvPr/>
        </p:nvSpPr>
        <p:spPr>
          <a:xfrm>
            <a:off x="2481072" y="475488"/>
            <a:ext cx="90251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BIKE DOG BREWING</a:t>
            </a:r>
            <a:endParaRPr lang="en-US" sz="1100" dirty="0"/>
          </a:p>
        </p:txBody>
      </p:sp>
      <p:sp>
        <p:nvSpPr>
          <p:cNvPr id="5" name="Text 0"/>
          <p:cNvSpPr/>
          <p:nvPr>
            <p:ph idx="100" type="title" hasCustomPrompt="1"/>
          </p:nvPr>
        </p:nvSpPr>
        <p:spPr>
          <a:xfrm>
            <a:off x="685800" y="1691640"/>
            <a:ext cx="8138160" cy="2377440"/>
          </a:xfrm>
          <a:prstGeom prst="rect">
            <a:avLst/>
          </a:prstGeom>
          <a:noFill/>
          <a:ln/>
        </p:spPr>
        <p:txBody>
          <a:bodyPr wrap="square" lIns="0" tIns="0" rIns="0" bIns="0" rtlCol="0" anchor="t"/>
          <a:lstStyle/>
          <a:p>
            <a:pPr algn="l" indent="0" marL="0">
              <a:buNone/>
            </a:pPr>
            <a:r>
              <a:rPr lang="en-US" sz="6600" b="1" dirty="0">
                <a:solidFill>
                  <a:schemeClr val="tx1"/>
                </a:solidFill>
                <a:latin typeface="Arial" pitchFamily="34" charset="0"/>
                <a:ea typeface="Arial" pitchFamily="34" charset="-122"/>
                <a:cs typeface="Arial" pitchFamily="34" charset="-120"/>
              </a:rPr>
              <a:t>From Git commits to Terraform</a:t>
            </a:r>
            <a:endParaRPr lang="en-US" sz="6600" dirty="0"/>
          </a:p>
        </p:txBody>
      </p:sp>
      <p:sp>
        <p:nvSpPr>
          <p:cNvPr id="6" name="Subtitle"/>
          <p:cNvSpPr txBox="1"/>
          <p:nvPr/>
        </p:nvSpPr>
        <p:spPr>
          <a:xfrm>
            <a:off x="685800" y="5120640"/>
            <a:ext cx="6766560" cy="640080"/>
          </a:xfrm>
          <a:prstGeom prst="rect">
            <a:avLst/>
          </a:prstGeom>
          <a:noFill/>
          <a:ln/>
        </p:spPr>
        <p:txBody>
          <a:bodyPr wrap="square" lIns="0" tIns="0" rIns="0" bIns="0" rtlCol="0" anchor="t"/>
          <a:lstStyle/>
          <a:p>
            <a:pPr indent="0" marL="0">
              <a:buNone/>
            </a:pPr>
            <a:r>
              <a:rPr lang="en-US" sz="2100" dirty="0">
                <a:solidFill>
                  <a:schemeClr val="tx2"/>
                </a:solidFill>
                <a:latin typeface="Arial" pitchFamily="34" charset="0"/>
                <a:ea typeface="Arial" pitchFamily="34" charset="-122"/>
                <a:cs typeface="Arial" pitchFamily="34" charset="-120"/>
              </a:rPr>
              <a:t>From a git push to four kinds of app, provisioned locally</a:t>
            </a:r>
            <a:endParaRPr lang="en-US" sz="2100" dirty="0"/>
          </a:p>
        </p:txBody>
      </p:sp>
      <p:sp>
        <p:nvSpPr>
          <p:cNvPr id="7" name="Category key"/>
          <p:cNvSpPr/>
          <p:nvPr/>
        </p:nvSpPr>
        <p:spPr>
          <a:xfrm>
            <a:off x="7124700" y="5943600"/>
            <a:ext cx="365125" cy="155448"/>
          </a:xfrm>
          <a:prstGeom prst="rect">
            <a:avLst/>
          </a:prstGeom>
          <a:solidFill>
            <a:schemeClr val="accent2"/>
          </a:solidFill>
          <a:ln/>
        </p:spPr>
      </p:sp>
      <p:sp>
        <p:nvSpPr>
          <p:cNvPr id="8" name="Category key"/>
          <p:cNvSpPr/>
          <p:nvPr/>
        </p:nvSpPr>
        <p:spPr>
          <a:xfrm>
            <a:off x="7489825" y="5943600"/>
            <a:ext cx="1643062" cy="155448"/>
          </a:xfrm>
          <a:prstGeom prst="rect">
            <a:avLst/>
          </a:prstGeom>
          <a:solidFill>
            <a:schemeClr val="accent1"/>
          </a:solidFill>
          <a:ln/>
        </p:spPr>
      </p:sp>
      <p:sp>
        <p:nvSpPr>
          <p:cNvPr id="9" name="Category key"/>
          <p:cNvSpPr/>
          <p:nvPr/>
        </p:nvSpPr>
        <p:spPr>
          <a:xfrm>
            <a:off x="9132888" y="5943600"/>
            <a:ext cx="547687" cy="155448"/>
          </a:xfrm>
          <a:prstGeom prst="rect">
            <a:avLst/>
          </a:prstGeom>
          <a:solidFill>
            <a:schemeClr val="accent3"/>
          </a:solidFill>
          <a:ln/>
        </p:spPr>
      </p:sp>
      <p:sp>
        <p:nvSpPr>
          <p:cNvPr id="10" name="Category key"/>
          <p:cNvSpPr/>
          <p:nvPr/>
        </p:nvSpPr>
        <p:spPr>
          <a:xfrm>
            <a:off x="9680575" y="5943600"/>
            <a:ext cx="912812" cy="155448"/>
          </a:xfrm>
          <a:prstGeom prst="rect">
            <a:avLst/>
          </a:prstGeom>
          <a:solidFill>
            <a:schemeClr val="accent4"/>
          </a:solidFill>
          <a:ln/>
        </p:spPr>
      </p:sp>
      <p:sp>
        <p:nvSpPr>
          <p:cNvPr id="11" name="Category key"/>
          <p:cNvSpPr/>
          <p:nvPr/>
        </p:nvSpPr>
        <p:spPr>
          <a:xfrm>
            <a:off x="10593388" y="5943600"/>
            <a:ext cx="912812" cy="155448"/>
          </a:xfrm>
          <a:prstGeom prst="rect">
            <a:avLst/>
          </a:prstGeom>
          <a:solidFill>
            <a:schemeClr val="accent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OPTIONAL · YOU CAN JUST WATCH · NO AWS ACCOUNT NEEDED</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Get the slides and follow along</a:t>
            </a:r>
            <a:endParaRPr lang="en-US" sz="3600" dirty="0"/>
          </a:p>
        </p:txBody>
      </p:sp>
      <p:sp>
        <p:nvSpPr>
          <p:cNvPr id="5" name="Statement"/>
          <p:cNvSpPr txBox="1"/>
          <p:nvPr/>
        </p:nvSpPr>
        <p:spPr>
          <a:xfrm>
            <a:off x="685800" y="1645920"/>
            <a:ext cx="8595360" cy="457200"/>
          </a:xfrm>
          <a:prstGeom prst="rect">
            <a:avLst/>
          </a:prstGeom>
          <a:noFill/>
          <a:ln/>
        </p:spPr>
        <p:txBody>
          <a:bodyPr wrap="square" lIns="0" tIns="0" rIns="0" bIns="0" rtlCol="0" anchor="t"/>
          <a:lstStyle/>
          <a:p>
            <a:pPr indent="0" marL="0">
              <a:lnSpc>
                <a:spcPct val="100000"/>
              </a:lnSpc>
              <a:buNone/>
            </a:pPr>
            <a:r>
              <a:rPr lang="en-US" sz="3000" u="sng" dirty="0">
                <a:solidFill>
                  <a:schemeClr val="tx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https://github.com/raysapida/terraform_demo</a:t>
            </a:r>
            <a:endParaRPr lang="en-US" sz="3000" dirty="0"/>
          </a:p>
        </p:txBody>
      </p:sp>
      <p:sp>
        <p:nvSpPr>
          <p:cNvPr id="6" name="Shape 3"/>
          <p:cNvSpPr/>
          <p:nvPr/>
        </p:nvSpPr>
        <p:spPr>
          <a:xfrm>
            <a:off x="1773880" y="2286000"/>
            <a:ext cx="2977383" cy="2977383"/>
          </a:xfrm>
          <a:prstGeom prst="rect">
            <a:avLst/>
          </a:prstGeom>
          <a:solidFill>
            <a:srgbClr val="FFFFFF"/>
          </a:solidFill>
          <a:ln/>
        </p:spPr>
      </p:sp>
      <p:sp>
        <p:nvSpPr>
          <p:cNvPr id="7" name="Shape 4"/>
          <p:cNvSpPr/>
          <p:nvPr/>
        </p:nvSpPr>
        <p:spPr>
          <a:xfrm>
            <a:off x="2120088" y="2632207"/>
            <a:ext cx="484690" cy="69241"/>
          </a:xfrm>
          <a:prstGeom prst="rect">
            <a:avLst/>
          </a:prstGeom>
          <a:solidFill>
            <a:srgbClr val="000000"/>
          </a:solidFill>
          <a:ln/>
        </p:spPr>
      </p:sp>
      <p:sp>
        <p:nvSpPr>
          <p:cNvPr id="8" name="Shape 5"/>
          <p:cNvSpPr/>
          <p:nvPr/>
        </p:nvSpPr>
        <p:spPr>
          <a:xfrm>
            <a:off x="2743261" y="2632207"/>
            <a:ext cx="276966" cy="69241"/>
          </a:xfrm>
          <a:prstGeom prst="rect">
            <a:avLst/>
          </a:prstGeom>
          <a:solidFill>
            <a:srgbClr val="000000"/>
          </a:solidFill>
          <a:ln/>
        </p:spPr>
      </p:sp>
      <p:sp>
        <p:nvSpPr>
          <p:cNvPr id="9" name="Shape 6"/>
          <p:cNvSpPr/>
          <p:nvPr/>
        </p:nvSpPr>
        <p:spPr>
          <a:xfrm>
            <a:off x="3089468" y="2632207"/>
            <a:ext cx="69241" cy="69241"/>
          </a:xfrm>
          <a:prstGeom prst="rect">
            <a:avLst/>
          </a:prstGeom>
          <a:solidFill>
            <a:srgbClr val="000000"/>
          </a:solidFill>
          <a:ln/>
        </p:spPr>
      </p:sp>
      <p:sp>
        <p:nvSpPr>
          <p:cNvPr id="10" name="Shape 7"/>
          <p:cNvSpPr/>
          <p:nvPr/>
        </p:nvSpPr>
        <p:spPr>
          <a:xfrm>
            <a:off x="3227951" y="2632207"/>
            <a:ext cx="69241" cy="69241"/>
          </a:xfrm>
          <a:prstGeom prst="rect">
            <a:avLst/>
          </a:prstGeom>
          <a:solidFill>
            <a:srgbClr val="000000"/>
          </a:solidFill>
          <a:ln/>
        </p:spPr>
      </p:sp>
      <p:sp>
        <p:nvSpPr>
          <p:cNvPr id="11" name="Shape 8"/>
          <p:cNvSpPr/>
          <p:nvPr/>
        </p:nvSpPr>
        <p:spPr>
          <a:xfrm>
            <a:off x="3435676" y="2632207"/>
            <a:ext cx="207724" cy="69241"/>
          </a:xfrm>
          <a:prstGeom prst="rect">
            <a:avLst/>
          </a:prstGeom>
          <a:solidFill>
            <a:srgbClr val="000000"/>
          </a:solidFill>
          <a:ln/>
        </p:spPr>
      </p:sp>
      <p:sp>
        <p:nvSpPr>
          <p:cNvPr id="12" name="Shape 9"/>
          <p:cNvSpPr/>
          <p:nvPr/>
        </p:nvSpPr>
        <p:spPr>
          <a:xfrm>
            <a:off x="3712642" y="2632207"/>
            <a:ext cx="69241" cy="69241"/>
          </a:xfrm>
          <a:prstGeom prst="rect">
            <a:avLst/>
          </a:prstGeom>
          <a:solidFill>
            <a:srgbClr val="000000"/>
          </a:solidFill>
          <a:ln/>
        </p:spPr>
      </p:sp>
      <p:sp>
        <p:nvSpPr>
          <p:cNvPr id="13" name="Shape 10"/>
          <p:cNvSpPr/>
          <p:nvPr/>
        </p:nvSpPr>
        <p:spPr>
          <a:xfrm>
            <a:off x="3920366" y="2632207"/>
            <a:ext cx="484690" cy="69241"/>
          </a:xfrm>
          <a:prstGeom prst="rect">
            <a:avLst/>
          </a:prstGeom>
          <a:solidFill>
            <a:srgbClr val="000000"/>
          </a:solidFill>
          <a:ln/>
        </p:spPr>
      </p:sp>
      <p:sp>
        <p:nvSpPr>
          <p:cNvPr id="14" name="Shape 11"/>
          <p:cNvSpPr/>
          <p:nvPr/>
        </p:nvSpPr>
        <p:spPr>
          <a:xfrm>
            <a:off x="2120088" y="2701449"/>
            <a:ext cx="69241" cy="69241"/>
          </a:xfrm>
          <a:prstGeom prst="rect">
            <a:avLst/>
          </a:prstGeom>
          <a:solidFill>
            <a:srgbClr val="000000"/>
          </a:solidFill>
          <a:ln/>
        </p:spPr>
      </p:sp>
      <p:sp>
        <p:nvSpPr>
          <p:cNvPr id="15" name="Shape 12"/>
          <p:cNvSpPr/>
          <p:nvPr/>
        </p:nvSpPr>
        <p:spPr>
          <a:xfrm>
            <a:off x="2535537" y="2701449"/>
            <a:ext cx="69241" cy="69241"/>
          </a:xfrm>
          <a:prstGeom prst="rect">
            <a:avLst/>
          </a:prstGeom>
          <a:solidFill>
            <a:srgbClr val="000000"/>
          </a:solidFill>
          <a:ln/>
        </p:spPr>
      </p:sp>
      <p:sp>
        <p:nvSpPr>
          <p:cNvPr id="16" name="Shape 13"/>
          <p:cNvSpPr/>
          <p:nvPr/>
        </p:nvSpPr>
        <p:spPr>
          <a:xfrm>
            <a:off x="3158710" y="2701449"/>
            <a:ext cx="138483" cy="69241"/>
          </a:xfrm>
          <a:prstGeom prst="rect">
            <a:avLst/>
          </a:prstGeom>
          <a:solidFill>
            <a:srgbClr val="000000"/>
          </a:solidFill>
          <a:ln/>
        </p:spPr>
      </p:sp>
      <p:sp>
        <p:nvSpPr>
          <p:cNvPr id="17" name="Shape 14"/>
          <p:cNvSpPr/>
          <p:nvPr/>
        </p:nvSpPr>
        <p:spPr>
          <a:xfrm>
            <a:off x="3366434" y="2701449"/>
            <a:ext cx="69241" cy="69241"/>
          </a:xfrm>
          <a:prstGeom prst="rect">
            <a:avLst/>
          </a:prstGeom>
          <a:solidFill>
            <a:srgbClr val="000000"/>
          </a:solidFill>
          <a:ln/>
        </p:spPr>
      </p:sp>
      <p:sp>
        <p:nvSpPr>
          <p:cNvPr id="18" name="Shape 15"/>
          <p:cNvSpPr/>
          <p:nvPr/>
        </p:nvSpPr>
        <p:spPr>
          <a:xfrm>
            <a:off x="3504917" y="2701449"/>
            <a:ext cx="138483" cy="69241"/>
          </a:xfrm>
          <a:prstGeom prst="rect">
            <a:avLst/>
          </a:prstGeom>
          <a:solidFill>
            <a:srgbClr val="000000"/>
          </a:solidFill>
          <a:ln/>
        </p:spPr>
      </p:sp>
      <p:sp>
        <p:nvSpPr>
          <p:cNvPr id="19" name="Shape 16"/>
          <p:cNvSpPr/>
          <p:nvPr/>
        </p:nvSpPr>
        <p:spPr>
          <a:xfrm>
            <a:off x="3920366" y="2701449"/>
            <a:ext cx="69241" cy="69241"/>
          </a:xfrm>
          <a:prstGeom prst="rect">
            <a:avLst/>
          </a:prstGeom>
          <a:solidFill>
            <a:srgbClr val="000000"/>
          </a:solidFill>
          <a:ln/>
        </p:spPr>
      </p:sp>
      <p:sp>
        <p:nvSpPr>
          <p:cNvPr id="20" name="Shape 17"/>
          <p:cNvSpPr/>
          <p:nvPr/>
        </p:nvSpPr>
        <p:spPr>
          <a:xfrm>
            <a:off x="4335815" y="2701449"/>
            <a:ext cx="69241" cy="69241"/>
          </a:xfrm>
          <a:prstGeom prst="rect">
            <a:avLst/>
          </a:prstGeom>
          <a:solidFill>
            <a:srgbClr val="000000"/>
          </a:solidFill>
          <a:ln/>
        </p:spPr>
      </p:sp>
      <p:sp>
        <p:nvSpPr>
          <p:cNvPr id="21" name="Shape 18"/>
          <p:cNvSpPr/>
          <p:nvPr/>
        </p:nvSpPr>
        <p:spPr>
          <a:xfrm>
            <a:off x="2120088" y="2770690"/>
            <a:ext cx="69241" cy="69241"/>
          </a:xfrm>
          <a:prstGeom prst="rect">
            <a:avLst/>
          </a:prstGeom>
          <a:solidFill>
            <a:srgbClr val="000000"/>
          </a:solidFill>
          <a:ln/>
        </p:spPr>
      </p:sp>
      <p:sp>
        <p:nvSpPr>
          <p:cNvPr id="22" name="Shape 19"/>
          <p:cNvSpPr/>
          <p:nvPr/>
        </p:nvSpPr>
        <p:spPr>
          <a:xfrm>
            <a:off x="2258571" y="2770690"/>
            <a:ext cx="207724" cy="69241"/>
          </a:xfrm>
          <a:prstGeom prst="rect">
            <a:avLst/>
          </a:prstGeom>
          <a:solidFill>
            <a:srgbClr val="000000"/>
          </a:solidFill>
          <a:ln/>
        </p:spPr>
      </p:sp>
      <p:sp>
        <p:nvSpPr>
          <p:cNvPr id="23" name="Shape 20"/>
          <p:cNvSpPr/>
          <p:nvPr/>
        </p:nvSpPr>
        <p:spPr>
          <a:xfrm>
            <a:off x="2535537" y="2770690"/>
            <a:ext cx="69241" cy="69241"/>
          </a:xfrm>
          <a:prstGeom prst="rect">
            <a:avLst/>
          </a:prstGeom>
          <a:solidFill>
            <a:srgbClr val="000000"/>
          </a:solidFill>
          <a:ln/>
        </p:spPr>
      </p:sp>
      <p:sp>
        <p:nvSpPr>
          <p:cNvPr id="24" name="Shape 21"/>
          <p:cNvSpPr/>
          <p:nvPr/>
        </p:nvSpPr>
        <p:spPr>
          <a:xfrm>
            <a:off x="2674019" y="2770690"/>
            <a:ext cx="138483" cy="69241"/>
          </a:xfrm>
          <a:prstGeom prst="rect">
            <a:avLst/>
          </a:prstGeom>
          <a:solidFill>
            <a:srgbClr val="000000"/>
          </a:solidFill>
          <a:ln/>
        </p:spPr>
      </p:sp>
      <p:sp>
        <p:nvSpPr>
          <p:cNvPr id="25" name="Shape 22"/>
          <p:cNvSpPr/>
          <p:nvPr/>
        </p:nvSpPr>
        <p:spPr>
          <a:xfrm>
            <a:off x="3089468" y="2770690"/>
            <a:ext cx="69241" cy="69241"/>
          </a:xfrm>
          <a:prstGeom prst="rect">
            <a:avLst/>
          </a:prstGeom>
          <a:solidFill>
            <a:srgbClr val="000000"/>
          </a:solidFill>
          <a:ln/>
        </p:spPr>
      </p:sp>
      <p:sp>
        <p:nvSpPr>
          <p:cNvPr id="26" name="Shape 23"/>
          <p:cNvSpPr/>
          <p:nvPr/>
        </p:nvSpPr>
        <p:spPr>
          <a:xfrm>
            <a:off x="3227951" y="2770690"/>
            <a:ext cx="69241" cy="69241"/>
          </a:xfrm>
          <a:prstGeom prst="rect">
            <a:avLst/>
          </a:prstGeom>
          <a:solidFill>
            <a:srgbClr val="000000"/>
          </a:solidFill>
          <a:ln/>
        </p:spPr>
      </p:sp>
      <p:sp>
        <p:nvSpPr>
          <p:cNvPr id="27" name="Shape 24"/>
          <p:cNvSpPr/>
          <p:nvPr/>
        </p:nvSpPr>
        <p:spPr>
          <a:xfrm>
            <a:off x="3574159" y="2770690"/>
            <a:ext cx="138483" cy="69241"/>
          </a:xfrm>
          <a:prstGeom prst="rect">
            <a:avLst/>
          </a:prstGeom>
          <a:solidFill>
            <a:srgbClr val="000000"/>
          </a:solidFill>
          <a:ln/>
        </p:spPr>
      </p:sp>
      <p:sp>
        <p:nvSpPr>
          <p:cNvPr id="28" name="Shape 25"/>
          <p:cNvSpPr/>
          <p:nvPr/>
        </p:nvSpPr>
        <p:spPr>
          <a:xfrm>
            <a:off x="3920366" y="2770690"/>
            <a:ext cx="69241" cy="69241"/>
          </a:xfrm>
          <a:prstGeom prst="rect">
            <a:avLst/>
          </a:prstGeom>
          <a:solidFill>
            <a:srgbClr val="000000"/>
          </a:solidFill>
          <a:ln/>
        </p:spPr>
      </p:sp>
      <p:sp>
        <p:nvSpPr>
          <p:cNvPr id="29" name="Shape 26"/>
          <p:cNvSpPr/>
          <p:nvPr/>
        </p:nvSpPr>
        <p:spPr>
          <a:xfrm>
            <a:off x="4058849" y="2770690"/>
            <a:ext cx="207724" cy="69241"/>
          </a:xfrm>
          <a:prstGeom prst="rect">
            <a:avLst/>
          </a:prstGeom>
          <a:solidFill>
            <a:srgbClr val="000000"/>
          </a:solidFill>
          <a:ln/>
        </p:spPr>
      </p:sp>
      <p:sp>
        <p:nvSpPr>
          <p:cNvPr id="30" name="Shape 27"/>
          <p:cNvSpPr/>
          <p:nvPr/>
        </p:nvSpPr>
        <p:spPr>
          <a:xfrm>
            <a:off x="4335815" y="2770690"/>
            <a:ext cx="69241" cy="69241"/>
          </a:xfrm>
          <a:prstGeom prst="rect">
            <a:avLst/>
          </a:prstGeom>
          <a:solidFill>
            <a:srgbClr val="000000"/>
          </a:solidFill>
          <a:ln/>
        </p:spPr>
      </p:sp>
      <p:sp>
        <p:nvSpPr>
          <p:cNvPr id="31" name="Shape 28"/>
          <p:cNvSpPr/>
          <p:nvPr/>
        </p:nvSpPr>
        <p:spPr>
          <a:xfrm>
            <a:off x="2120088" y="2839932"/>
            <a:ext cx="69241" cy="69241"/>
          </a:xfrm>
          <a:prstGeom prst="rect">
            <a:avLst/>
          </a:prstGeom>
          <a:solidFill>
            <a:srgbClr val="000000"/>
          </a:solidFill>
          <a:ln/>
        </p:spPr>
      </p:sp>
      <p:sp>
        <p:nvSpPr>
          <p:cNvPr id="32" name="Shape 29"/>
          <p:cNvSpPr/>
          <p:nvPr/>
        </p:nvSpPr>
        <p:spPr>
          <a:xfrm>
            <a:off x="2258571" y="2839932"/>
            <a:ext cx="207724" cy="69241"/>
          </a:xfrm>
          <a:prstGeom prst="rect">
            <a:avLst/>
          </a:prstGeom>
          <a:solidFill>
            <a:srgbClr val="000000"/>
          </a:solidFill>
          <a:ln/>
        </p:spPr>
      </p:sp>
      <p:sp>
        <p:nvSpPr>
          <p:cNvPr id="33" name="Shape 30"/>
          <p:cNvSpPr/>
          <p:nvPr/>
        </p:nvSpPr>
        <p:spPr>
          <a:xfrm>
            <a:off x="2535537" y="2839932"/>
            <a:ext cx="69241" cy="69241"/>
          </a:xfrm>
          <a:prstGeom prst="rect">
            <a:avLst/>
          </a:prstGeom>
          <a:solidFill>
            <a:srgbClr val="000000"/>
          </a:solidFill>
          <a:ln/>
        </p:spPr>
      </p:sp>
      <p:sp>
        <p:nvSpPr>
          <p:cNvPr id="34" name="Shape 31"/>
          <p:cNvSpPr/>
          <p:nvPr/>
        </p:nvSpPr>
        <p:spPr>
          <a:xfrm>
            <a:off x="2674019" y="2839932"/>
            <a:ext cx="69241" cy="69241"/>
          </a:xfrm>
          <a:prstGeom prst="rect">
            <a:avLst/>
          </a:prstGeom>
          <a:solidFill>
            <a:srgbClr val="000000"/>
          </a:solidFill>
          <a:ln/>
        </p:spPr>
      </p:sp>
      <p:sp>
        <p:nvSpPr>
          <p:cNvPr id="35" name="Shape 32"/>
          <p:cNvSpPr/>
          <p:nvPr/>
        </p:nvSpPr>
        <p:spPr>
          <a:xfrm>
            <a:off x="2881744" y="2839932"/>
            <a:ext cx="69241" cy="69241"/>
          </a:xfrm>
          <a:prstGeom prst="rect">
            <a:avLst/>
          </a:prstGeom>
          <a:solidFill>
            <a:srgbClr val="000000"/>
          </a:solidFill>
          <a:ln/>
        </p:spPr>
      </p:sp>
      <p:sp>
        <p:nvSpPr>
          <p:cNvPr id="36" name="Shape 33"/>
          <p:cNvSpPr/>
          <p:nvPr/>
        </p:nvSpPr>
        <p:spPr>
          <a:xfrm>
            <a:off x="3366434" y="2839932"/>
            <a:ext cx="69241" cy="69241"/>
          </a:xfrm>
          <a:prstGeom prst="rect">
            <a:avLst/>
          </a:prstGeom>
          <a:solidFill>
            <a:srgbClr val="000000"/>
          </a:solidFill>
          <a:ln/>
        </p:spPr>
      </p:sp>
      <p:sp>
        <p:nvSpPr>
          <p:cNvPr id="37" name="Shape 34"/>
          <p:cNvSpPr/>
          <p:nvPr/>
        </p:nvSpPr>
        <p:spPr>
          <a:xfrm>
            <a:off x="3574159" y="2839932"/>
            <a:ext cx="69241" cy="69241"/>
          </a:xfrm>
          <a:prstGeom prst="rect">
            <a:avLst/>
          </a:prstGeom>
          <a:solidFill>
            <a:srgbClr val="000000"/>
          </a:solidFill>
          <a:ln/>
        </p:spPr>
      </p:sp>
      <p:sp>
        <p:nvSpPr>
          <p:cNvPr id="38" name="Shape 35"/>
          <p:cNvSpPr/>
          <p:nvPr/>
        </p:nvSpPr>
        <p:spPr>
          <a:xfrm>
            <a:off x="3781883" y="2839932"/>
            <a:ext cx="69241" cy="69241"/>
          </a:xfrm>
          <a:prstGeom prst="rect">
            <a:avLst/>
          </a:prstGeom>
          <a:solidFill>
            <a:srgbClr val="000000"/>
          </a:solidFill>
          <a:ln/>
        </p:spPr>
      </p:sp>
      <p:sp>
        <p:nvSpPr>
          <p:cNvPr id="39" name="Shape 36"/>
          <p:cNvSpPr/>
          <p:nvPr/>
        </p:nvSpPr>
        <p:spPr>
          <a:xfrm>
            <a:off x="3920366" y="2839932"/>
            <a:ext cx="69241" cy="69241"/>
          </a:xfrm>
          <a:prstGeom prst="rect">
            <a:avLst/>
          </a:prstGeom>
          <a:solidFill>
            <a:srgbClr val="000000"/>
          </a:solidFill>
          <a:ln/>
        </p:spPr>
      </p:sp>
      <p:sp>
        <p:nvSpPr>
          <p:cNvPr id="40" name="Shape 37"/>
          <p:cNvSpPr/>
          <p:nvPr/>
        </p:nvSpPr>
        <p:spPr>
          <a:xfrm>
            <a:off x="4058849" y="2839932"/>
            <a:ext cx="207724" cy="69241"/>
          </a:xfrm>
          <a:prstGeom prst="rect">
            <a:avLst/>
          </a:prstGeom>
          <a:solidFill>
            <a:srgbClr val="000000"/>
          </a:solidFill>
          <a:ln/>
        </p:spPr>
      </p:sp>
      <p:sp>
        <p:nvSpPr>
          <p:cNvPr id="41" name="Shape 38"/>
          <p:cNvSpPr/>
          <p:nvPr/>
        </p:nvSpPr>
        <p:spPr>
          <a:xfrm>
            <a:off x="4335815" y="2839932"/>
            <a:ext cx="69241" cy="69241"/>
          </a:xfrm>
          <a:prstGeom prst="rect">
            <a:avLst/>
          </a:prstGeom>
          <a:solidFill>
            <a:srgbClr val="000000"/>
          </a:solidFill>
          <a:ln/>
        </p:spPr>
      </p:sp>
      <p:sp>
        <p:nvSpPr>
          <p:cNvPr id="42" name="Shape 39"/>
          <p:cNvSpPr/>
          <p:nvPr/>
        </p:nvSpPr>
        <p:spPr>
          <a:xfrm>
            <a:off x="2120088" y="2909173"/>
            <a:ext cx="69241" cy="69241"/>
          </a:xfrm>
          <a:prstGeom prst="rect">
            <a:avLst/>
          </a:prstGeom>
          <a:solidFill>
            <a:srgbClr val="000000"/>
          </a:solidFill>
          <a:ln/>
        </p:spPr>
      </p:sp>
      <p:sp>
        <p:nvSpPr>
          <p:cNvPr id="43" name="Shape 40"/>
          <p:cNvSpPr/>
          <p:nvPr/>
        </p:nvSpPr>
        <p:spPr>
          <a:xfrm>
            <a:off x="2258571" y="2909173"/>
            <a:ext cx="207724" cy="69241"/>
          </a:xfrm>
          <a:prstGeom prst="rect">
            <a:avLst/>
          </a:prstGeom>
          <a:solidFill>
            <a:srgbClr val="000000"/>
          </a:solidFill>
          <a:ln/>
        </p:spPr>
      </p:sp>
      <p:sp>
        <p:nvSpPr>
          <p:cNvPr id="44" name="Shape 41"/>
          <p:cNvSpPr/>
          <p:nvPr/>
        </p:nvSpPr>
        <p:spPr>
          <a:xfrm>
            <a:off x="2535537" y="2909173"/>
            <a:ext cx="69241" cy="69241"/>
          </a:xfrm>
          <a:prstGeom prst="rect">
            <a:avLst/>
          </a:prstGeom>
          <a:solidFill>
            <a:srgbClr val="000000"/>
          </a:solidFill>
          <a:ln/>
        </p:spPr>
      </p:sp>
      <p:sp>
        <p:nvSpPr>
          <p:cNvPr id="45" name="Shape 42"/>
          <p:cNvSpPr/>
          <p:nvPr/>
        </p:nvSpPr>
        <p:spPr>
          <a:xfrm>
            <a:off x="2674019" y="2909173"/>
            <a:ext cx="69241" cy="69241"/>
          </a:xfrm>
          <a:prstGeom prst="rect">
            <a:avLst/>
          </a:prstGeom>
          <a:solidFill>
            <a:srgbClr val="000000"/>
          </a:solidFill>
          <a:ln/>
        </p:spPr>
      </p:sp>
      <p:sp>
        <p:nvSpPr>
          <p:cNvPr id="46" name="Shape 43"/>
          <p:cNvSpPr/>
          <p:nvPr/>
        </p:nvSpPr>
        <p:spPr>
          <a:xfrm>
            <a:off x="2812502" y="2909173"/>
            <a:ext cx="207724" cy="69241"/>
          </a:xfrm>
          <a:prstGeom prst="rect">
            <a:avLst/>
          </a:prstGeom>
          <a:solidFill>
            <a:srgbClr val="000000"/>
          </a:solidFill>
          <a:ln/>
        </p:spPr>
      </p:sp>
      <p:sp>
        <p:nvSpPr>
          <p:cNvPr id="47" name="Shape 44"/>
          <p:cNvSpPr/>
          <p:nvPr/>
        </p:nvSpPr>
        <p:spPr>
          <a:xfrm>
            <a:off x="3089468" y="2909173"/>
            <a:ext cx="276966" cy="69241"/>
          </a:xfrm>
          <a:prstGeom prst="rect">
            <a:avLst/>
          </a:prstGeom>
          <a:solidFill>
            <a:srgbClr val="000000"/>
          </a:solidFill>
          <a:ln/>
        </p:spPr>
      </p:sp>
      <p:sp>
        <p:nvSpPr>
          <p:cNvPr id="48" name="Shape 45"/>
          <p:cNvSpPr/>
          <p:nvPr/>
        </p:nvSpPr>
        <p:spPr>
          <a:xfrm>
            <a:off x="3504917" y="2909173"/>
            <a:ext cx="207724" cy="69241"/>
          </a:xfrm>
          <a:prstGeom prst="rect">
            <a:avLst/>
          </a:prstGeom>
          <a:solidFill>
            <a:srgbClr val="000000"/>
          </a:solidFill>
          <a:ln/>
        </p:spPr>
      </p:sp>
      <p:sp>
        <p:nvSpPr>
          <p:cNvPr id="49" name="Shape 46"/>
          <p:cNvSpPr/>
          <p:nvPr/>
        </p:nvSpPr>
        <p:spPr>
          <a:xfrm>
            <a:off x="3920366" y="2909173"/>
            <a:ext cx="69241" cy="69241"/>
          </a:xfrm>
          <a:prstGeom prst="rect">
            <a:avLst/>
          </a:prstGeom>
          <a:solidFill>
            <a:srgbClr val="000000"/>
          </a:solidFill>
          <a:ln/>
        </p:spPr>
      </p:sp>
      <p:sp>
        <p:nvSpPr>
          <p:cNvPr id="50" name="Shape 47"/>
          <p:cNvSpPr/>
          <p:nvPr/>
        </p:nvSpPr>
        <p:spPr>
          <a:xfrm>
            <a:off x="4058849" y="2909173"/>
            <a:ext cx="207724" cy="69241"/>
          </a:xfrm>
          <a:prstGeom prst="rect">
            <a:avLst/>
          </a:prstGeom>
          <a:solidFill>
            <a:srgbClr val="000000"/>
          </a:solidFill>
          <a:ln/>
        </p:spPr>
      </p:sp>
      <p:sp>
        <p:nvSpPr>
          <p:cNvPr id="51" name="Shape 48"/>
          <p:cNvSpPr/>
          <p:nvPr/>
        </p:nvSpPr>
        <p:spPr>
          <a:xfrm>
            <a:off x="4335815" y="2909173"/>
            <a:ext cx="69241" cy="69241"/>
          </a:xfrm>
          <a:prstGeom prst="rect">
            <a:avLst/>
          </a:prstGeom>
          <a:solidFill>
            <a:srgbClr val="000000"/>
          </a:solidFill>
          <a:ln/>
        </p:spPr>
      </p:sp>
      <p:sp>
        <p:nvSpPr>
          <p:cNvPr id="52" name="Shape 49"/>
          <p:cNvSpPr/>
          <p:nvPr/>
        </p:nvSpPr>
        <p:spPr>
          <a:xfrm>
            <a:off x="2120088" y="2978415"/>
            <a:ext cx="69241" cy="69241"/>
          </a:xfrm>
          <a:prstGeom prst="rect">
            <a:avLst/>
          </a:prstGeom>
          <a:solidFill>
            <a:srgbClr val="000000"/>
          </a:solidFill>
          <a:ln/>
        </p:spPr>
      </p:sp>
      <p:sp>
        <p:nvSpPr>
          <p:cNvPr id="53" name="Shape 50"/>
          <p:cNvSpPr/>
          <p:nvPr/>
        </p:nvSpPr>
        <p:spPr>
          <a:xfrm>
            <a:off x="2535537" y="2978415"/>
            <a:ext cx="69241" cy="69241"/>
          </a:xfrm>
          <a:prstGeom prst="rect">
            <a:avLst/>
          </a:prstGeom>
          <a:solidFill>
            <a:srgbClr val="000000"/>
          </a:solidFill>
          <a:ln/>
        </p:spPr>
      </p:sp>
      <p:sp>
        <p:nvSpPr>
          <p:cNvPr id="54" name="Shape 51"/>
          <p:cNvSpPr/>
          <p:nvPr/>
        </p:nvSpPr>
        <p:spPr>
          <a:xfrm>
            <a:off x="2674019" y="2978415"/>
            <a:ext cx="69241" cy="69241"/>
          </a:xfrm>
          <a:prstGeom prst="rect">
            <a:avLst/>
          </a:prstGeom>
          <a:solidFill>
            <a:srgbClr val="000000"/>
          </a:solidFill>
          <a:ln/>
        </p:spPr>
      </p:sp>
      <p:sp>
        <p:nvSpPr>
          <p:cNvPr id="55" name="Shape 52"/>
          <p:cNvSpPr/>
          <p:nvPr/>
        </p:nvSpPr>
        <p:spPr>
          <a:xfrm>
            <a:off x="3089468" y="2978415"/>
            <a:ext cx="69241" cy="69241"/>
          </a:xfrm>
          <a:prstGeom prst="rect">
            <a:avLst/>
          </a:prstGeom>
          <a:solidFill>
            <a:srgbClr val="000000"/>
          </a:solidFill>
          <a:ln/>
        </p:spPr>
      </p:sp>
      <p:sp>
        <p:nvSpPr>
          <p:cNvPr id="56" name="Shape 53"/>
          <p:cNvSpPr/>
          <p:nvPr/>
        </p:nvSpPr>
        <p:spPr>
          <a:xfrm>
            <a:off x="3366434" y="2978415"/>
            <a:ext cx="138483" cy="69241"/>
          </a:xfrm>
          <a:prstGeom prst="rect">
            <a:avLst/>
          </a:prstGeom>
          <a:solidFill>
            <a:srgbClr val="000000"/>
          </a:solidFill>
          <a:ln/>
        </p:spPr>
      </p:sp>
      <p:sp>
        <p:nvSpPr>
          <p:cNvPr id="57" name="Shape 54"/>
          <p:cNvSpPr/>
          <p:nvPr/>
        </p:nvSpPr>
        <p:spPr>
          <a:xfrm>
            <a:off x="3712642" y="2978415"/>
            <a:ext cx="138483" cy="69241"/>
          </a:xfrm>
          <a:prstGeom prst="rect">
            <a:avLst/>
          </a:prstGeom>
          <a:solidFill>
            <a:srgbClr val="000000"/>
          </a:solidFill>
          <a:ln/>
        </p:spPr>
      </p:sp>
      <p:sp>
        <p:nvSpPr>
          <p:cNvPr id="58" name="Shape 55"/>
          <p:cNvSpPr/>
          <p:nvPr/>
        </p:nvSpPr>
        <p:spPr>
          <a:xfrm>
            <a:off x="3920366" y="2978415"/>
            <a:ext cx="69241" cy="69241"/>
          </a:xfrm>
          <a:prstGeom prst="rect">
            <a:avLst/>
          </a:prstGeom>
          <a:solidFill>
            <a:srgbClr val="000000"/>
          </a:solidFill>
          <a:ln/>
        </p:spPr>
      </p:sp>
      <p:sp>
        <p:nvSpPr>
          <p:cNvPr id="59" name="Shape 56"/>
          <p:cNvSpPr/>
          <p:nvPr/>
        </p:nvSpPr>
        <p:spPr>
          <a:xfrm>
            <a:off x="4335815" y="2978415"/>
            <a:ext cx="69241" cy="69241"/>
          </a:xfrm>
          <a:prstGeom prst="rect">
            <a:avLst/>
          </a:prstGeom>
          <a:solidFill>
            <a:srgbClr val="000000"/>
          </a:solidFill>
          <a:ln/>
        </p:spPr>
      </p:sp>
      <p:sp>
        <p:nvSpPr>
          <p:cNvPr id="60" name="Shape 57"/>
          <p:cNvSpPr/>
          <p:nvPr/>
        </p:nvSpPr>
        <p:spPr>
          <a:xfrm>
            <a:off x="2120088" y="3047656"/>
            <a:ext cx="484690" cy="69241"/>
          </a:xfrm>
          <a:prstGeom prst="rect">
            <a:avLst/>
          </a:prstGeom>
          <a:solidFill>
            <a:srgbClr val="000000"/>
          </a:solidFill>
          <a:ln/>
        </p:spPr>
      </p:sp>
      <p:sp>
        <p:nvSpPr>
          <p:cNvPr id="61" name="Shape 58"/>
          <p:cNvSpPr/>
          <p:nvPr/>
        </p:nvSpPr>
        <p:spPr>
          <a:xfrm>
            <a:off x="2674019" y="3047656"/>
            <a:ext cx="69241" cy="69241"/>
          </a:xfrm>
          <a:prstGeom prst="rect">
            <a:avLst/>
          </a:prstGeom>
          <a:solidFill>
            <a:srgbClr val="000000"/>
          </a:solidFill>
          <a:ln/>
        </p:spPr>
      </p:sp>
      <p:sp>
        <p:nvSpPr>
          <p:cNvPr id="62" name="Shape 59"/>
          <p:cNvSpPr/>
          <p:nvPr/>
        </p:nvSpPr>
        <p:spPr>
          <a:xfrm>
            <a:off x="2812502" y="3047656"/>
            <a:ext cx="69241" cy="69241"/>
          </a:xfrm>
          <a:prstGeom prst="rect">
            <a:avLst/>
          </a:prstGeom>
          <a:solidFill>
            <a:srgbClr val="000000"/>
          </a:solidFill>
          <a:ln/>
        </p:spPr>
      </p:sp>
      <p:sp>
        <p:nvSpPr>
          <p:cNvPr id="63" name="Shape 60"/>
          <p:cNvSpPr/>
          <p:nvPr/>
        </p:nvSpPr>
        <p:spPr>
          <a:xfrm>
            <a:off x="2950985" y="3047656"/>
            <a:ext cx="69241" cy="69241"/>
          </a:xfrm>
          <a:prstGeom prst="rect">
            <a:avLst/>
          </a:prstGeom>
          <a:solidFill>
            <a:srgbClr val="000000"/>
          </a:solidFill>
          <a:ln/>
        </p:spPr>
      </p:sp>
      <p:sp>
        <p:nvSpPr>
          <p:cNvPr id="64" name="Shape 61"/>
          <p:cNvSpPr/>
          <p:nvPr/>
        </p:nvSpPr>
        <p:spPr>
          <a:xfrm>
            <a:off x="3089468" y="3047656"/>
            <a:ext cx="69241" cy="69241"/>
          </a:xfrm>
          <a:prstGeom prst="rect">
            <a:avLst/>
          </a:prstGeom>
          <a:solidFill>
            <a:srgbClr val="000000"/>
          </a:solidFill>
          <a:ln/>
        </p:spPr>
      </p:sp>
      <p:sp>
        <p:nvSpPr>
          <p:cNvPr id="65" name="Shape 62"/>
          <p:cNvSpPr/>
          <p:nvPr/>
        </p:nvSpPr>
        <p:spPr>
          <a:xfrm>
            <a:off x="3227951" y="3047656"/>
            <a:ext cx="69241" cy="69241"/>
          </a:xfrm>
          <a:prstGeom prst="rect">
            <a:avLst/>
          </a:prstGeom>
          <a:solidFill>
            <a:srgbClr val="000000"/>
          </a:solidFill>
          <a:ln/>
        </p:spPr>
      </p:sp>
      <p:sp>
        <p:nvSpPr>
          <p:cNvPr id="66" name="Shape 63"/>
          <p:cNvSpPr/>
          <p:nvPr/>
        </p:nvSpPr>
        <p:spPr>
          <a:xfrm>
            <a:off x="3366434" y="3047656"/>
            <a:ext cx="69241" cy="69241"/>
          </a:xfrm>
          <a:prstGeom prst="rect">
            <a:avLst/>
          </a:prstGeom>
          <a:solidFill>
            <a:srgbClr val="000000"/>
          </a:solidFill>
          <a:ln/>
        </p:spPr>
      </p:sp>
      <p:sp>
        <p:nvSpPr>
          <p:cNvPr id="67" name="Shape 64"/>
          <p:cNvSpPr/>
          <p:nvPr/>
        </p:nvSpPr>
        <p:spPr>
          <a:xfrm>
            <a:off x="3504917" y="3047656"/>
            <a:ext cx="69241" cy="69241"/>
          </a:xfrm>
          <a:prstGeom prst="rect">
            <a:avLst/>
          </a:prstGeom>
          <a:solidFill>
            <a:srgbClr val="000000"/>
          </a:solidFill>
          <a:ln/>
        </p:spPr>
      </p:sp>
      <p:sp>
        <p:nvSpPr>
          <p:cNvPr id="68" name="Shape 65"/>
          <p:cNvSpPr/>
          <p:nvPr/>
        </p:nvSpPr>
        <p:spPr>
          <a:xfrm>
            <a:off x="3643400" y="3047656"/>
            <a:ext cx="69241" cy="69241"/>
          </a:xfrm>
          <a:prstGeom prst="rect">
            <a:avLst/>
          </a:prstGeom>
          <a:solidFill>
            <a:srgbClr val="000000"/>
          </a:solidFill>
          <a:ln/>
        </p:spPr>
      </p:sp>
      <p:sp>
        <p:nvSpPr>
          <p:cNvPr id="69" name="Shape 66"/>
          <p:cNvSpPr/>
          <p:nvPr/>
        </p:nvSpPr>
        <p:spPr>
          <a:xfrm>
            <a:off x="3781883" y="3047656"/>
            <a:ext cx="69241" cy="69241"/>
          </a:xfrm>
          <a:prstGeom prst="rect">
            <a:avLst/>
          </a:prstGeom>
          <a:solidFill>
            <a:srgbClr val="000000"/>
          </a:solidFill>
          <a:ln/>
        </p:spPr>
      </p:sp>
      <p:sp>
        <p:nvSpPr>
          <p:cNvPr id="70" name="Shape 67"/>
          <p:cNvSpPr/>
          <p:nvPr/>
        </p:nvSpPr>
        <p:spPr>
          <a:xfrm>
            <a:off x="3920366" y="3047656"/>
            <a:ext cx="484690" cy="69241"/>
          </a:xfrm>
          <a:prstGeom prst="rect">
            <a:avLst/>
          </a:prstGeom>
          <a:solidFill>
            <a:srgbClr val="000000"/>
          </a:solidFill>
          <a:ln/>
        </p:spPr>
      </p:sp>
      <p:sp>
        <p:nvSpPr>
          <p:cNvPr id="71" name="Shape 68"/>
          <p:cNvSpPr/>
          <p:nvPr/>
        </p:nvSpPr>
        <p:spPr>
          <a:xfrm>
            <a:off x="2674019" y="3116898"/>
            <a:ext cx="69241" cy="69241"/>
          </a:xfrm>
          <a:prstGeom prst="rect">
            <a:avLst/>
          </a:prstGeom>
          <a:solidFill>
            <a:srgbClr val="000000"/>
          </a:solidFill>
          <a:ln/>
        </p:spPr>
      </p:sp>
      <p:sp>
        <p:nvSpPr>
          <p:cNvPr id="72" name="Shape 69"/>
          <p:cNvSpPr/>
          <p:nvPr/>
        </p:nvSpPr>
        <p:spPr>
          <a:xfrm>
            <a:off x="2812502" y="3116898"/>
            <a:ext cx="138483" cy="69241"/>
          </a:xfrm>
          <a:prstGeom prst="rect">
            <a:avLst/>
          </a:prstGeom>
          <a:solidFill>
            <a:srgbClr val="000000"/>
          </a:solidFill>
          <a:ln/>
        </p:spPr>
      </p:sp>
      <p:sp>
        <p:nvSpPr>
          <p:cNvPr id="73" name="Shape 70"/>
          <p:cNvSpPr/>
          <p:nvPr/>
        </p:nvSpPr>
        <p:spPr>
          <a:xfrm>
            <a:off x="3227951" y="3116898"/>
            <a:ext cx="69241" cy="69241"/>
          </a:xfrm>
          <a:prstGeom prst="rect">
            <a:avLst/>
          </a:prstGeom>
          <a:solidFill>
            <a:srgbClr val="000000"/>
          </a:solidFill>
          <a:ln/>
        </p:spPr>
      </p:sp>
      <p:sp>
        <p:nvSpPr>
          <p:cNvPr id="74" name="Shape 71"/>
          <p:cNvSpPr/>
          <p:nvPr/>
        </p:nvSpPr>
        <p:spPr>
          <a:xfrm>
            <a:off x="3435676" y="3116898"/>
            <a:ext cx="207724" cy="69241"/>
          </a:xfrm>
          <a:prstGeom prst="rect">
            <a:avLst/>
          </a:prstGeom>
          <a:solidFill>
            <a:srgbClr val="000000"/>
          </a:solidFill>
          <a:ln/>
        </p:spPr>
      </p:sp>
      <p:sp>
        <p:nvSpPr>
          <p:cNvPr id="75" name="Shape 72"/>
          <p:cNvSpPr/>
          <p:nvPr/>
        </p:nvSpPr>
        <p:spPr>
          <a:xfrm>
            <a:off x="3712642" y="3116898"/>
            <a:ext cx="69241" cy="69241"/>
          </a:xfrm>
          <a:prstGeom prst="rect">
            <a:avLst/>
          </a:prstGeom>
          <a:solidFill>
            <a:srgbClr val="000000"/>
          </a:solidFill>
          <a:ln/>
        </p:spPr>
      </p:sp>
      <p:sp>
        <p:nvSpPr>
          <p:cNvPr id="76" name="Shape 73"/>
          <p:cNvSpPr/>
          <p:nvPr/>
        </p:nvSpPr>
        <p:spPr>
          <a:xfrm>
            <a:off x="2120088" y="3186139"/>
            <a:ext cx="69241" cy="69241"/>
          </a:xfrm>
          <a:prstGeom prst="rect">
            <a:avLst/>
          </a:prstGeom>
          <a:solidFill>
            <a:srgbClr val="000000"/>
          </a:solidFill>
          <a:ln/>
        </p:spPr>
      </p:sp>
      <p:sp>
        <p:nvSpPr>
          <p:cNvPr id="77" name="Shape 74"/>
          <p:cNvSpPr/>
          <p:nvPr/>
        </p:nvSpPr>
        <p:spPr>
          <a:xfrm>
            <a:off x="2258571" y="3186139"/>
            <a:ext cx="346207" cy="69241"/>
          </a:xfrm>
          <a:prstGeom prst="rect">
            <a:avLst/>
          </a:prstGeom>
          <a:solidFill>
            <a:srgbClr val="000000"/>
          </a:solidFill>
          <a:ln/>
        </p:spPr>
      </p:sp>
      <p:sp>
        <p:nvSpPr>
          <p:cNvPr id="78" name="Shape 75"/>
          <p:cNvSpPr/>
          <p:nvPr/>
        </p:nvSpPr>
        <p:spPr>
          <a:xfrm>
            <a:off x="3020227" y="3186139"/>
            <a:ext cx="138483" cy="69241"/>
          </a:xfrm>
          <a:prstGeom prst="rect">
            <a:avLst/>
          </a:prstGeom>
          <a:solidFill>
            <a:srgbClr val="000000"/>
          </a:solidFill>
          <a:ln/>
        </p:spPr>
      </p:sp>
      <p:sp>
        <p:nvSpPr>
          <p:cNvPr id="79" name="Shape 76"/>
          <p:cNvSpPr/>
          <p:nvPr/>
        </p:nvSpPr>
        <p:spPr>
          <a:xfrm>
            <a:off x="3297193" y="3186139"/>
            <a:ext cx="69241" cy="69241"/>
          </a:xfrm>
          <a:prstGeom prst="rect">
            <a:avLst/>
          </a:prstGeom>
          <a:solidFill>
            <a:srgbClr val="000000"/>
          </a:solidFill>
          <a:ln/>
        </p:spPr>
      </p:sp>
      <p:sp>
        <p:nvSpPr>
          <p:cNvPr id="80" name="Shape 77"/>
          <p:cNvSpPr/>
          <p:nvPr/>
        </p:nvSpPr>
        <p:spPr>
          <a:xfrm>
            <a:off x="3435676" y="3186139"/>
            <a:ext cx="69241" cy="69241"/>
          </a:xfrm>
          <a:prstGeom prst="rect">
            <a:avLst/>
          </a:prstGeom>
          <a:solidFill>
            <a:srgbClr val="000000"/>
          </a:solidFill>
          <a:ln/>
        </p:spPr>
      </p:sp>
      <p:sp>
        <p:nvSpPr>
          <p:cNvPr id="81" name="Shape 78"/>
          <p:cNvSpPr/>
          <p:nvPr/>
        </p:nvSpPr>
        <p:spPr>
          <a:xfrm>
            <a:off x="3712642" y="3186139"/>
            <a:ext cx="69241" cy="69241"/>
          </a:xfrm>
          <a:prstGeom prst="rect">
            <a:avLst/>
          </a:prstGeom>
          <a:solidFill>
            <a:srgbClr val="000000"/>
          </a:solidFill>
          <a:ln/>
        </p:spPr>
      </p:sp>
      <p:sp>
        <p:nvSpPr>
          <p:cNvPr id="82" name="Shape 79"/>
          <p:cNvSpPr/>
          <p:nvPr/>
        </p:nvSpPr>
        <p:spPr>
          <a:xfrm>
            <a:off x="3920366" y="3186139"/>
            <a:ext cx="346207" cy="69241"/>
          </a:xfrm>
          <a:prstGeom prst="rect">
            <a:avLst/>
          </a:prstGeom>
          <a:solidFill>
            <a:srgbClr val="000000"/>
          </a:solidFill>
          <a:ln/>
        </p:spPr>
      </p:sp>
      <p:sp>
        <p:nvSpPr>
          <p:cNvPr id="83" name="Shape 80"/>
          <p:cNvSpPr/>
          <p:nvPr/>
        </p:nvSpPr>
        <p:spPr>
          <a:xfrm>
            <a:off x="2258571" y="3255381"/>
            <a:ext cx="138483" cy="69241"/>
          </a:xfrm>
          <a:prstGeom prst="rect">
            <a:avLst/>
          </a:prstGeom>
          <a:solidFill>
            <a:srgbClr val="000000"/>
          </a:solidFill>
          <a:ln/>
        </p:spPr>
      </p:sp>
      <p:sp>
        <p:nvSpPr>
          <p:cNvPr id="84" name="Shape 81"/>
          <p:cNvSpPr/>
          <p:nvPr/>
        </p:nvSpPr>
        <p:spPr>
          <a:xfrm>
            <a:off x="2466295" y="3255381"/>
            <a:ext cx="69241" cy="69241"/>
          </a:xfrm>
          <a:prstGeom prst="rect">
            <a:avLst/>
          </a:prstGeom>
          <a:solidFill>
            <a:srgbClr val="000000"/>
          </a:solidFill>
          <a:ln/>
        </p:spPr>
      </p:sp>
      <p:sp>
        <p:nvSpPr>
          <p:cNvPr id="85" name="Shape 82"/>
          <p:cNvSpPr/>
          <p:nvPr/>
        </p:nvSpPr>
        <p:spPr>
          <a:xfrm>
            <a:off x="2743261" y="3255381"/>
            <a:ext cx="69241" cy="69241"/>
          </a:xfrm>
          <a:prstGeom prst="rect">
            <a:avLst/>
          </a:prstGeom>
          <a:solidFill>
            <a:srgbClr val="000000"/>
          </a:solidFill>
          <a:ln/>
        </p:spPr>
      </p:sp>
      <p:sp>
        <p:nvSpPr>
          <p:cNvPr id="86" name="Shape 83"/>
          <p:cNvSpPr/>
          <p:nvPr/>
        </p:nvSpPr>
        <p:spPr>
          <a:xfrm>
            <a:off x="3020227" y="3255381"/>
            <a:ext cx="69241" cy="69241"/>
          </a:xfrm>
          <a:prstGeom prst="rect">
            <a:avLst/>
          </a:prstGeom>
          <a:solidFill>
            <a:srgbClr val="000000"/>
          </a:solidFill>
          <a:ln/>
        </p:spPr>
      </p:sp>
      <p:sp>
        <p:nvSpPr>
          <p:cNvPr id="87" name="Shape 84"/>
          <p:cNvSpPr/>
          <p:nvPr/>
        </p:nvSpPr>
        <p:spPr>
          <a:xfrm>
            <a:off x="3297193" y="3255381"/>
            <a:ext cx="69241" cy="69241"/>
          </a:xfrm>
          <a:prstGeom prst="rect">
            <a:avLst/>
          </a:prstGeom>
          <a:solidFill>
            <a:srgbClr val="000000"/>
          </a:solidFill>
          <a:ln/>
        </p:spPr>
      </p:sp>
      <p:sp>
        <p:nvSpPr>
          <p:cNvPr id="88" name="Shape 85"/>
          <p:cNvSpPr/>
          <p:nvPr/>
        </p:nvSpPr>
        <p:spPr>
          <a:xfrm>
            <a:off x="3435676" y="3255381"/>
            <a:ext cx="138483" cy="69241"/>
          </a:xfrm>
          <a:prstGeom prst="rect">
            <a:avLst/>
          </a:prstGeom>
          <a:solidFill>
            <a:srgbClr val="000000"/>
          </a:solidFill>
          <a:ln/>
        </p:spPr>
      </p:sp>
      <p:sp>
        <p:nvSpPr>
          <p:cNvPr id="89" name="Shape 86"/>
          <p:cNvSpPr/>
          <p:nvPr/>
        </p:nvSpPr>
        <p:spPr>
          <a:xfrm>
            <a:off x="3712642" y="3255381"/>
            <a:ext cx="69241" cy="69241"/>
          </a:xfrm>
          <a:prstGeom prst="rect">
            <a:avLst/>
          </a:prstGeom>
          <a:solidFill>
            <a:srgbClr val="000000"/>
          </a:solidFill>
          <a:ln/>
        </p:spPr>
      </p:sp>
      <p:sp>
        <p:nvSpPr>
          <p:cNvPr id="90" name="Shape 87"/>
          <p:cNvSpPr/>
          <p:nvPr/>
        </p:nvSpPr>
        <p:spPr>
          <a:xfrm>
            <a:off x="3920366" y="3255381"/>
            <a:ext cx="138483" cy="69241"/>
          </a:xfrm>
          <a:prstGeom prst="rect">
            <a:avLst/>
          </a:prstGeom>
          <a:solidFill>
            <a:srgbClr val="000000"/>
          </a:solidFill>
          <a:ln/>
        </p:spPr>
      </p:sp>
      <p:sp>
        <p:nvSpPr>
          <p:cNvPr id="91" name="Shape 88"/>
          <p:cNvSpPr/>
          <p:nvPr/>
        </p:nvSpPr>
        <p:spPr>
          <a:xfrm>
            <a:off x="4128090" y="3255381"/>
            <a:ext cx="138483" cy="69241"/>
          </a:xfrm>
          <a:prstGeom prst="rect">
            <a:avLst/>
          </a:prstGeom>
          <a:solidFill>
            <a:srgbClr val="000000"/>
          </a:solidFill>
          <a:ln/>
        </p:spPr>
      </p:sp>
      <p:sp>
        <p:nvSpPr>
          <p:cNvPr id="92" name="Shape 89"/>
          <p:cNvSpPr/>
          <p:nvPr/>
        </p:nvSpPr>
        <p:spPr>
          <a:xfrm>
            <a:off x="4335815" y="3255381"/>
            <a:ext cx="69241" cy="69241"/>
          </a:xfrm>
          <a:prstGeom prst="rect">
            <a:avLst/>
          </a:prstGeom>
          <a:solidFill>
            <a:srgbClr val="000000"/>
          </a:solidFill>
          <a:ln/>
        </p:spPr>
      </p:sp>
      <p:sp>
        <p:nvSpPr>
          <p:cNvPr id="93" name="Shape 90"/>
          <p:cNvSpPr/>
          <p:nvPr/>
        </p:nvSpPr>
        <p:spPr>
          <a:xfrm>
            <a:off x="2466295" y="3324622"/>
            <a:ext cx="900139" cy="69241"/>
          </a:xfrm>
          <a:prstGeom prst="rect">
            <a:avLst/>
          </a:prstGeom>
          <a:solidFill>
            <a:srgbClr val="000000"/>
          </a:solidFill>
          <a:ln/>
        </p:spPr>
      </p:sp>
      <p:sp>
        <p:nvSpPr>
          <p:cNvPr id="94" name="Shape 91"/>
          <p:cNvSpPr/>
          <p:nvPr/>
        </p:nvSpPr>
        <p:spPr>
          <a:xfrm>
            <a:off x="3643400" y="3324622"/>
            <a:ext cx="69241" cy="69241"/>
          </a:xfrm>
          <a:prstGeom prst="rect">
            <a:avLst/>
          </a:prstGeom>
          <a:solidFill>
            <a:srgbClr val="000000"/>
          </a:solidFill>
          <a:ln/>
        </p:spPr>
      </p:sp>
      <p:sp>
        <p:nvSpPr>
          <p:cNvPr id="95" name="Shape 92"/>
          <p:cNvSpPr/>
          <p:nvPr/>
        </p:nvSpPr>
        <p:spPr>
          <a:xfrm>
            <a:off x="3781883" y="3324622"/>
            <a:ext cx="207724" cy="69241"/>
          </a:xfrm>
          <a:prstGeom prst="rect">
            <a:avLst/>
          </a:prstGeom>
          <a:solidFill>
            <a:srgbClr val="000000"/>
          </a:solidFill>
          <a:ln/>
        </p:spPr>
      </p:sp>
      <p:sp>
        <p:nvSpPr>
          <p:cNvPr id="96" name="Shape 93"/>
          <p:cNvSpPr/>
          <p:nvPr/>
        </p:nvSpPr>
        <p:spPr>
          <a:xfrm>
            <a:off x="4058849" y="3324622"/>
            <a:ext cx="69241" cy="69241"/>
          </a:xfrm>
          <a:prstGeom prst="rect">
            <a:avLst/>
          </a:prstGeom>
          <a:solidFill>
            <a:srgbClr val="000000"/>
          </a:solidFill>
          <a:ln/>
        </p:spPr>
      </p:sp>
      <p:sp>
        <p:nvSpPr>
          <p:cNvPr id="97" name="Shape 94"/>
          <p:cNvSpPr/>
          <p:nvPr/>
        </p:nvSpPr>
        <p:spPr>
          <a:xfrm>
            <a:off x="4197332" y="3324622"/>
            <a:ext cx="138483" cy="69241"/>
          </a:xfrm>
          <a:prstGeom prst="rect">
            <a:avLst/>
          </a:prstGeom>
          <a:solidFill>
            <a:srgbClr val="000000"/>
          </a:solidFill>
          <a:ln/>
        </p:spPr>
      </p:sp>
      <p:sp>
        <p:nvSpPr>
          <p:cNvPr id="98" name="Shape 95"/>
          <p:cNvSpPr/>
          <p:nvPr/>
        </p:nvSpPr>
        <p:spPr>
          <a:xfrm>
            <a:off x="2189329" y="3393864"/>
            <a:ext cx="138483" cy="69241"/>
          </a:xfrm>
          <a:prstGeom prst="rect">
            <a:avLst/>
          </a:prstGeom>
          <a:solidFill>
            <a:srgbClr val="000000"/>
          </a:solidFill>
          <a:ln/>
        </p:spPr>
      </p:sp>
      <p:sp>
        <p:nvSpPr>
          <p:cNvPr id="99" name="Shape 96"/>
          <p:cNvSpPr/>
          <p:nvPr/>
        </p:nvSpPr>
        <p:spPr>
          <a:xfrm>
            <a:off x="2397054" y="3393864"/>
            <a:ext cx="69241" cy="69241"/>
          </a:xfrm>
          <a:prstGeom prst="rect">
            <a:avLst/>
          </a:prstGeom>
          <a:solidFill>
            <a:srgbClr val="000000"/>
          </a:solidFill>
          <a:ln/>
        </p:spPr>
      </p:sp>
      <p:sp>
        <p:nvSpPr>
          <p:cNvPr id="100" name="Shape 97"/>
          <p:cNvSpPr/>
          <p:nvPr/>
        </p:nvSpPr>
        <p:spPr>
          <a:xfrm>
            <a:off x="2604778" y="3393864"/>
            <a:ext cx="138483" cy="69241"/>
          </a:xfrm>
          <a:prstGeom prst="rect">
            <a:avLst/>
          </a:prstGeom>
          <a:solidFill>
            <a:srgbClr val="000000"/>
          </a:solidFill>
          <a:ln/>
        </p:spPr>
      </p:sp>
      <p:sp>
        <p:nvSpPr>
          <p:cNvPr id="101" name="Shape 98"/>
          <p:cNvSpPr/>
          <p:nvPr/>
        </p:nvSpPr>
        <p:spPr>
          <a:xfrm>
            <a:off x="2812502" y="3393864"/>
            <a:ext cx="69241" cy="69241"/>
          </a:xfrm>
          <a:prstGeom prst="rect">
            <a:avLst/>
          </a:prstGeom>
          <a:solidFill>
            <a:srgbClr val="000000"/>
          </a:solidFill>
          <a:ln/>
        </p:spPr>
      </p:sp>
      <p:sp>
        <p:nvSpPr>
          <p:cNvPr id="102" name="Shape 99"/>
          <p:cNvSpPr/>
          <p:nvPr/>
        </p:nvSpPr>
        <p:spPr>
          <a:xfrm>
            <a:off x="2950985" y="3393864"/>
            <a:ext cx="138483" cy="69241"/>
          </a:xfrm>
          <a:prstGeom prst="rect">
            <a:avLst/>
          </a:prstGeom>
          <a:solidFill>
            <a:srgbClr val="000000"/>
          </a:solidFill>
          <a:ln/>
        </p:spPr>
      </p:sp>
      <p:sp>
        <p:nvSpPr>
          <p:cNvPr id="103" name="Shape 100"/>
          <p:cNvSpPr/>
          <p:nvPr/>
        </p:nvSpPr>
        <p:spPr>
          <a:xfrm>
            <a:off x="3158710" y="3393864"/>
            <a:ext cx="69241" cy="69241"/>
          </a:xfrm>
          <a:prstGeom prst="rect">
            <a:avLst/>
          </a:prstGeom>
          <a:solidFill>
            <a:srgbClr val="000000"/>
          </a:solidFill>
          <a:ln/>
        </p:spPr>
      </p:sp>
      <p:sp>
        <p:nvSpPr>
          <p:cNvPr id="104" name="Shape 101"/>
          <p:cNvSpPr/>
          <p:nvPr/>
        </p:nvSpPr>
        <p:spPr>
          <a:xfrm>
            <a:off x="3297193" y="3393864"/>
            <a:ext cx="207724" cy="69241"/>
          </a:xfrm>
          <a:prstGeom prst="rect">
            <a:avLst/>
          </a:prstGeom>
          <a:solidFill>
            <a:srgbClr val="000000"/>
          </a:solidFill>
          <a:ln/>
        </p:spPr>
      </p:sp>
      <p:sp>
        <p:nvSpPr>
          <p:cNvPr id="105" name="Shape 102"/>
          <p:cNvSpPr/>
          <p:nvPr/>
        </p:nvSpPr>
        <p:spPr>
          <a:xfrm>
            <a:off x="3781883" y="3393864"/>
            <a:ext cx="207724" cy="69241"/>
          </a:xfrm>
          <a:prstGeom prst="rect">
            <a:avLst/>
          </a:prstGeom>
          <a:solidFill>
            <a:srgbClr val="000000"/>
          </a:solidFill>
          <a:ln/>
        </p:spPr>
      </p:sp>
      <p:sp>
        <p:nvSpPr>
          <p:cNvPr id="106" name="Shape 103"/>
          <p:cNvSpPr/>
          <p:nvPr/>
        </p:nvSpPr>
        <p:spPr>
          <a:xfrm>
            <a:off x="4058849" y="3393864"/>
            <a:ext cx="207724" cy="69241"/>
          </a:xfrm>
          <a:prstGeom prst="rect">
            <a:avLst/>
          </a:prstGeom>
          <a:solidFill>
            <a:srgbClr val="000000"/>
          </a:solidFill>
          <a:ln/>
        </p:spPr>
      </p:sp>
      <p:sp>
        <p:nvSpPr>
          <p:cNvPr id="107" name="Shape 104"/>
          <p:cNvSpPr/>
          <p:nvPr/>
        </p:nvSpPr>
        <p:spPr>
          <a:xfrm>
            <a:off x="4335815" y="3393864"/>
            <a:ext cx="69241" cy="69241"/>
          </a:xfrm>
          <a:prstGeom prst="rect">
            <a:avLst/>
          </a:prstGeom>
          <a:solidFill>
            <a:srgbClr val="000000"/>
          </a:solidFill>
          <a:ln/>
        </p:spPr>
      </p:sp>
      <p:sp>
        <p:nvSpPr>
          <p:cNvPr id="108" name="Shape 105"/>
          <p:cNvSpPr/>
          <p:nvPr/>
        </p:nvSpPr>
        <p:spPr>
          <a:xfrm>
            <a:off x="2120088" y="3463105"/>
            <a:ext cx="69241" cy="69241"/>
          </a:xfrm>
          <a:prstGeom prst="rect">
            <a:avLst/>
          </a:prstGeom>
          <a:solidFill>
            <a:srgbClr val="000000"/>
          </a:solidFill>
          <a:ln/>
        </p:spPr>
      </p:sp>
      <p:sp>
        <p:nvSpPr>
          <p:cNvPr id="109" name="Shape 106"/>
          <p:cNvSpPr/>
          <p:nvPr/>
        </p:nvSpPr>
        <p:spPr>
          <a:xfrm>
            <a:off x="2535537" y="3463105"/>
            <a:ext cx="207724" cy="69241"/>
          </a:xfrm>
          <a:prstGeom prst="rect">
            <a:avLst/>
          </a:prstGeom>
          <a:solidFill>
            <a:srgbClr val="000000"/>
          </a:solidFill>
          <a:ln/>
        </p:spPr>
      </p:sp>
      <p:sp>
        <p:nvSpPr>
          <p:cNvPr id="110" name="Shape 107"/>
          <p:cNvSpPr/>
          <p:nvPr/>
        </p:nvSpPr>
        <p:spPr>
          <a:xfrm>
            <a:off x="2881744" y="3463105"/>
            <a:ext cx="69241" cy="69241"/>
          </a:xfrm>
          <a:prstGeom prst="rect">
            <a:avLst/>
          </a:prstGeom>
          <a:solidFill>
            <a:srgbClr val="000000"/>
          </a:solidFill>
          <a:ln/>
        </p:spPr>
      </p:sp>
      <p:sp>
        <p:nvSpPr>
          <p:cNvPr id="111" name="Shape 108"/>
          <p:cNvSpPr/>
          <p:nvPr/>
        </p:nvSpPr>
        <p:spPr>
          <a:xfrm>
            <a:off x="3089468" y="3463105"/>
            <a:ext cx="207724" cy="69241"/>
          </a:xfrm>
          <a:prstGeom prst="rect">
            <a:avLst/>
          </a:prstGeom>
          <a:solidFill>
            <a:srgbClr val="000000"/>
          </a:solidFill>
          <a:ln/>
        </p:spPr>
      </p:sp>
      <p:sp>
        <p:nvSpPr>
          <p:cNvPr id="112" name="Shape 109"/>
          <p:cNvSpPr/>
          <p:nvPr/>
        </p:nvSpPr>
        <p:spPr>
          <a:xfrm>
            <a:off x="3504917" y="3463105"/>
            <a:ext cx="415449" cy="69241"/>
          </a:xfrm>
          <a:prstGeom prst="rect">
            <a:avLst/>
          </a:prstGeom>
          <a:solidFill>
            <a:srgbClr val="000000"/>
          </a:solidFill>
          <a:ln/>
        </p:spPr>
      </p:sp>
      <p:sp>
        <p:nvSpPr>
          <p:cNvPr id="113" name="Shape 110"/>
          <p:cNvSpPr/>
          <p:nvPr/>
        </p:nvSpPr>
        <p:spPr>
          <a:xfrm>
            <a:off x="4128090" y="3463105"/>
            <a:ext cx="69241" cy="69241"/>
          </a:xfrm>
          <a:prstGeom prst="rect">
            <a:avLst/>
          </a:prstGeom>
          <a:solidFill>
            <a:srgbClr val="000000"/>
          </a:solidFill>
          <a:ln/>
        </p:spPr>
      </p:sp>
      <p:sp>
        <p:nvSpPr>
          <p:cNvPr id="114" name="Shape 111"/>
          <p:cNvSpPr/>
          <p:nvPr/>
        </p:nvSpPr>
        <p:spPr>
          <a:xfrm>
            <a:off x="2120088" y="3532347"/>
            <a:ext cx="69241" cy="69241"/>
          </a:xfrm>
          <a:prstGeom prst="rect">
            <a:avLst/>
          </a:prstGeom>
          <a:solidFill>
            <a:srgbClr val="000000"/>
          </a:solidFill>
          <a:ln/>
        </p:spPr>
      </p:sp>
      <p:sp>
        <p:nvSpPr>
          <p:cNvPr id="115" name="Shape 112"/>
          <p:cNvSpPr/>
          <p:nvPr/>
        </p:nvSpPr>
        <p:spPr>
          <a:xfrm>
            <a:off x="2674019" y="3532347"/>
            <a:ext cx="138483" cy="69241"/>
          </a:xfrm>
          <a:prstGeom prst="rect">
            <a:avLst/>
          </a:prstGeom>
          <a:solidFill>
            <a:srgbClr val="000000"/>
          </a:solidFill>
          <a:ln/>
        </p:spPr>
      </p:sp>
      <p:sp>
        <p:nvSpPr>
          <p:cNvPr id="116" name="Shape 113"/>
          <p:cNvSpPr/>
          <p:nvPr/>
        </p:nvSpPr>
        <p:spPr>
          <a:xfrm>
            <a:off x="2881744" y="3532347"/>
            <a:ext cx="69241" cy="69241"/>
          </a:xfrm>
          <a:prstGeom prst="rect">
            <a:avLst/>
          </a:prstGeom>
          <a:solidFill>
            <a:srgbClr val="000000"/>
          </a:solidFill>
          <a:ln/>
        </p:spPr>
      </p:sp>
      <p:sp>
        <p:nvSpPr>
          <p:cNvPr id="117" name="Shape 114"/>
          <p:cNvSpPr/>
          <p:nvPr/>
        </p:nvSpPr>
        <p:spPr>
          <a:xfrm>
            <a:off x="3020227" y="3532347"/>
            <a:ext cx="69241" cy="69241"/>
          </a:xfrm>
          <a:prstGeom prst="rect">
            <a:avLst/>
          </a:prstGeom>
          <a:solidFill>
            <a:srgbClr val="000000"/>
          </a:solidFill>
          <a:ln/>
        </p:spPr>
      </p:sp>
      <p:sp>
        <p:nvSpPr>
          <p:cNvPr id="118" name="Shape 115"/>
          <p:cNvSpPr/>
          <p:nvPr/>
        </p:nvSpPr>
        <p:spPr>
          <a:xfrm>
            <a:off x="3158710" y="3532347"/>
            <a:ext cx="69241" cy="69241"/>
          </a:xfrm>
          <a:prstGeom prst="rect">
            <a:avLst/>
          </a:prstGeom>
          <a:solidFill>
            <a:srgbClr val="000000"/>
          </a:solidFill>
          <a:ln/>
        </p:spPr>
      </p:sp>
      <p:sp>
        <p:nvSpPr>
          <p:cNvPr id="119" name="Shape 116"/>
          <p:cNvSpPr/>
          <p:nvPr/>
        </p:nvSpPr>
        <p:spPr>
          <a:xfrm>
            <a:off x="3366434" y="3532347"/>
            <a:ext cx="69241" cy="69241"/>
          </a:xfrm>
          <a:prstGeom prst="rect">
            <a:avLst/>
          </a:prstGeom>
          <a:solidFill>
            <a:srgbClr val="000000"/>
          </a:solidFill>
          <a:ln/>
        </p:spPr>
      </p:sp>
      <p:sp>
        <p:nvSpPr>
          <p:cNvPr id="120" name="Shape 117"/>
          <p:cNvSpPr/>
          <p:nvPr/>
        </p:nvSpPr>
        <p:spPr>
          <a:xfrm>
            <a:off x="3781883" y="3532347"/>
            <a:ext cx="69241" cy="69241"/>
          </a:xfrm>
          <a:prstGeom prst="rect">
            <a:avLst/>
          </a:prstGeom>
          <a:solidFill>
            <a:srgbClr val="000000"/>
          </a:solidFill>
          <a:ln/>
        </p:spPr>
      </p:sp>
      <p:sp>
        <p:nvSpPr>
          <p:cNvPr id="121" name="Shape 118"/>
          <p:cNvSpPr/>
          <p:nvPr/>
        </p:nvSpPr>
        <p:spPr>
          <a:xfrm>
            <a:off x="3920366" y="3532347"/>
            <a:ext cx="69241" cy="69241"/>
          </a:xfrm>
          <a:prstGeom prst="rect">
            <a:avLst/>
          </a:prstGeom>
          <a:solidFill>
            <a:srgbClr val="000000"/>
          </a:solidFill>
          <a:ln/>
        </p:spPr>
      </p:sp>
      <p:sp>
        <p:nvSpPr>
          <p:cNvPr id="122" name="Shape 119"/>
          <p:cNvSpPr/>
          <p:nvPr/>
        </p:nvSpPr>
        <p:spPr>
          <a:xfrm>
            <a:off x="4197332" y="3532347"/>
            <a:ext cx="207724" cy="69241"/>
          </a:xfrm>
          <a:prstGeom prst="rect">
            <a:avLst/>
          </a:prstGeom>
          <a:solidFill>
            <a:srgbClr val="000000"/>
          </a:solidFill>
          <a:ln/>
        </p:spPr>
      </p:sp>
      <p:sp>
        <p:nvSpPr>
          <p:cNvPr id="123" name="Shape 120"/>
          <p:cNvSpPr/>
          <p:nvPr/>
        </p:nvSpPr>
        <p:spPr>
          <a:xfrm>
            <a:off x="2189329" y="3601588"/>
            <a:ext cx="69241" cy="69241"/>
          </a:xfrm>
          <a:prstGeom prst="rect">
            <a:avLst/>
          </a:prstGeom>
          <a:solidFill>
            <a:srgbClr val="000000"/>
          </a:solidFill>
          <a:ln/>
        </p:spPr>
      </p:sp>
      <p:sp>
        <p:nvSpPr>
          <p:cNvPr id="124" name="Shape 121"/>
          <p:cNvSpPr/>
          <p:nvPr/>
        </p:nvSpPr>
        <p:spPr>
          <a:xfrm>
            <a:off x="2327812" y="3601588"/>
            <a:ext cx="346207" cy="69241"/>
          </a:xfrm>
          <a:prstGeom prst="rect">
            <a:avLst/>
          </a:prstGeom>
          <a:solidFill>
            <a:srgbClr val="000000"/>
          </a:solidFill>
          <a:ln/>
        </p:spPr>
      </p:sp>
      <p:sp>
        <p:nvSpPr>
          <p:cNvPr id="125" name="Shape 122"/>
          <p:cNvSpPr/>
          <p:nvPr/>
        </p:nvSpPr>
        <p:spPr>
          <a:xfrm>
            <a:off x="2812502" y="3601588"/>
            <a:ext cx="138483" cy="69241"/>
          </a:xfrm>
          <a:prstGeom prst="rect">
            <a:avLst/>
          </a:prstGeom>
          <a:solidFill>
            <a:srgbClr val="000000"/>
          </a:solidFill>
          <a:ln/>
        </p:spPr>
      </p:sp>
      <p:sp>
        <p:nvSpPr>
          <p:cNvPr id="126" name="Shape 123"/>
          <p:cNvSpPr/>
          <p:nvPr/>
        </p:nvSpPr>
        <p:spPr>
          <a:xfrm>
            <a:off x="3020227" y="3601588"/>
            <a:ext cx="415449" cy="69241"/>
          </a:xfrm>
          <a:prstGeom prst="rect">
            <a:avLst/>
          </a:prstGeom>
          <a:solidFill>
            <a:srgbClr val="000000"/>
          </a:solidFill>
          <a:ln/>
        </p:spPr>
      </p:sp>
      <p:sp>
        <p:nvSpPr>
          <p:cNvPr id="127" name="Shape 124"/>
          <p:cNvSpPr/>
          <p:nvPr/>
        </p:nvSpPr>
        <p:spPr>
          <a:xfrm>
            <a:off x="3504917" y="3601588"/>
            <a:ext cx="69241" cy="69241"/>
          </a:xfrm>
          <a:prstGeom prst="rect">
            <a:avLst/>
          </a:prstGeom>
          <a:solidFill>
            <a:srgbClr val="000000"/>
          </a:solidFill>
          <a:ln/>
        </p:spPr>
      </p:sp>
      <p:sp>
        <p:nvSpPr>
          <p:cNvPr id="128" name="Shape 125"/>
          <p:cNvSpPr/>
          <p:nvPr/>
        </p:nvSpPr>
        <p:spPr>
          <a:xfrm>
            <a:off x="3643400" y="3601588"/>
            <a:ext cx="69241" cy="69241"/>
          </a:xfrm>
          <a:prstGeom prst="rect">
            <a:avLst/>
          </a:prstGeom>
          <a:solidFill>
            <a:srgbClr val="000000"/>
          </a:solidFill>
          <a:ln/>
        </p:spPr>
      </p:sp>
      <p:sp>
        <p:nvSpPr>
          <p:cNvPr id="129" name="Shape 126"/>
          <p:cNvSpPr/>
          <p:nvPr/>
        </p:nvSpPr>
        <p:spPr>
          <a:xfrm>
            <a:off x="3851125" y="3601588"/>
            <a:ext cx="138483" cy="69241"/>
          </a:xfrm>
          <a:prstGeom prst="rect">
            <a:avLst/>
          </a:prstGeom>
          <a:solidFill>
            <a:srgbClr val="000000"/>
          </a:solidFill>
          <a:ln/>
        </p:spPr>
      </p:sp>
      <p:sp>
        <p:nvSpPr>
          <p:cNvPr id="130" name="Shape 127"/>
          <p:cNvSpPr/>
          <p:nvPr/>
        </p:nvSpPr>
        <p:spPr>
          <a:xfrm>
            <a:off x="4128090" y="3601588"/>
            <a:ext cx="207724" cy="69241"/>
          </a:xfrm>
          <a:prstGeom prst="rect">
            <a:avLst/>
          </a:prstGeom>
          <a:solidFill>
            <a:srgbClr val="000000"/>
          </a:solidFill>
          <a:ln/>
        </p:spPr>
      </p:sp>
      <p:sp>
        <p:nvSpPr>
          <p:cNvPr id="131" name="Shape 128"/>
          <p:cNvSpPr/>
          <p:nvPr/>
        </p:nvSpPr>
        <p:spPr>
          <a:xfrm>
            <a:off x="2120088" y="3670829"/>
            <a:ext cx="207724" cy="69241"/>
          </a:xfrm>
          <a:prstGeom prst="rect">
            <a:avLst/>
          </a:prstGeom>
          <a:solidFill>
            <a:srgbClr val="000000"/>
          </a:solidFill>
          <a:ln/>
        </p:spPr>
      </p:sp>
      <p:sp>
        <p:nvSpPr>
          <p:cNvPr id="132" name="Shape 129"/>
          <p:cNvSpPr/>
          <p:nvPr/>
        </p:nvSpPr>
        <p:spPr>
          <a:xfrm>
            <a:off x="2397054" y="3670829"/>
            <a:ext cx="69241" cy="69241"/>
          </a:xfrm>
          <a:prstGeom prst="rect">
            <a:avLst/>
          </a:prstGeom>
          <a:solidFill>
            <a:srgbClr val="000000"/>
          </a:solidFill>
          <a:ln/>
        </p:spPr>
      </p:sp>
      <p:sp>
        <p:nvSpPr>
          <p:cNvPr id="133" name="Shape 130"/>
          <p:cNvSpPr/>
          <p:nvPr/>
        </p:nvSpPr>
        <p:spPr>
          <a:xfrm>
            <a:off x="2674019" y="3670829"/>
            <a:ext cx="138483" cy="69241"/>
          </a:xfrm>
          <a:prstGeom prst="rect">
            <a:avLst/>
          </a:prstGeom>
          <a:solidFill>
            <a:srgbClr val="000000"/>
          </a:solidFill>
          <a:ln/>
        </p:spPr>
      </p:sp>
      <p:sp>
        <p:nvSpPr>
          <p:cNvPr id="134" name="Shape 131"/>
          <p:cNvSpPr/>
          <p:nvPr/>
        </p:nvSpPr>
        <p:spPr>
          <a:xfrm>
            <a:off x="3158710" y="3670829"/>
            <a:ext cx="69241" cy="69241"/>
          </a:xfrm>
          <a:prstGeom prst="rect">
            <a:avLst/>
          </a:prstGeom>
          <a:solidFill>
            <a:srgbClr val="000000"/>
          </a:solidFill>
          <a:ln/>
        </p:spPr>
      </p:sp>
      <p:sp>
        <p:nvSpPr>
          <p:cNvPr id="135" name="Shape 132"/>
          <p:cNvSpPr/>
          <p:nvPr/>
        </p:nvSpPr>
        <p:spPr>
          <a:xfrm>
            <a:off x="3574159" y="3670829"/>
            <a:ext cx="69241" cy="69241"/>
          </a:xfrm>
          <a:prstGeom prst="rect">
            <a:avLst/>
          </a:prstGeom>
          <a:solidFill>
            <a:srgbClr val="000000"/>
          </a:solidFill>
          <a:ln/>
        </p:spPr>
      </p:sp>
      <p:sp>
        <p:nvSpPr>
          <p:cNvPr id="136" name="Shape 133"/>
          <p:cNvSpPr/>
          <p:nvPr/>
        </p:nvSpPr>
        <p:spPr>
          <a:xfrm>
            <a:off x="3712642" y="3670829"/>
            <a:ext cx="69241" cy="69241"/>
          </a:xfrm>
          <a:prstGeom prst="rect">
            <a:avLst/>
          </a:prstGeom>
          <a:solidFill>
            <a:srgbClr val="000000"/>
          </a:solidFill>
          <a:ln/>
        </p:spPr>
      </p:sp>
      <p:sp>
        <p:nvSpPr>
          <p:cNvPr id="137" name="Shape 134"/>
          <p:cNvSpPr/>
          <p:nvPr/>
        </p:nvSpPr>
        <p:spPr>
          <a:xfrm>
            <a:off x="3851125" y="3670829"/>
            <a:ext cx="138483" cy="69241"/>
          </a:xfrm>
          <a:prstGeom prst="rect">
            <a:avLst/>
          </a:prstGeom>
          <a:solidFill>
            <a:srgbClr val="000000"/>
          </a:solidFill>
          <a:ln/>
        </p:spPr>
      </p:sp>
      <p:sp>
        <p:nvSpPr>
          <p:cNvPr id="138" name="Shape 135"/>
          <p:cNvSpPr/>
          <p:nvPr/>
        </p:nvSpPr>
        <p:spPr>
          <a:xfrm>
            <a:off x="4058849" y="3670829"/>
            <a:ext cx="207724" cy="69241"/>
          </a:xfrm>
          <a:prstGeom prst="rect">
            <a:avLst/>
          </a:prstGeom>
          <a:solidFill>
            <a:srgbClr val="000000"/>
          </a:solidFill>
          <a:ln/>
        </p:spPr>
      </p:sp>
      <p:sp>
        <p:nvSpPr>
          <p:cNvPr id="139" name="Shape 136"/>
          <p:cNvSpPr/>
          <p:nvPr/>
        </p:nvSpPr>
        <p:spPr>
          <a:xfrm>
            <a:off x="2120088" y="3740071"/>
            <a:ext cx="207724" cy="69241"/>
          </a:xfrm>
          <a:prstGeom prst="rect">
            <a:avLst/>
          </a:prstGeom>
          <a:solidFill>
            <a:srgbClr val="000000"/>
          </a:solidFill>
          <a:ln/>
        </p:spPr>
      </p:sp>
      <p:sp>
        <p:nvSpPr>
          <p:cNvPr id="140" name="Shape 137"/>
          <p:cNvSpPr/>
          <p:nvPr/>
        </p:nvSpPr>
        <p:spPr>
          <a:xfrm>
            <a:off x="2397054" y="3740071"/>
            <a:ext cx="69241" cy="69241"/>
          </a:xfrm>
          <a:prstGeom prst="rect">
            <a:avLst/>
          </a:prstGeom>
          <a:solidFill>
            <a:srgbClr val="000000"/>
          </a:solidFill>
          <a:ln/>
        </p:spPr>
      </p:sp>
      <p:sp>
        <p:nvSpPr>
          <p:cNvPr id="141" name="Shape 138"/>
          <p:cNvSpPr/>
          <p:nvPr/>
        </p:nvSpPr>
        <p:spPr>
          <a:xfrm>
            <a:off x="2535537" y="3740071"/>
            <a:ext cx="69241" cy="69241"/>
          </a:xfrm>
          <a:prstGeom prst="rect">
            <a:avLst/>
          </a:prstGeom>
          <a:solidFill>
            <a:srgbClr val="000000"/>
          </a:solidFill>
          <a:ln/>
        </p:spPr>
      </p:sp>
      <p:sp>
        <p:nvSpPr>
          <p:cNvPr id="142" name="Shape 139"/>
          <p:cNvSpPr/>
          <p:nvPr/>
        </p:nvSpPr>
        <p:spPr>
          <a:xfrm>
            <a:off x="2674019" y="3740071"/>
            <a:ext cx="69241" cy="69241"/>
          </a:xfrm>
          <a:prstGeom prst="rect">
            <a:avLst/>
          </a:prstGeom>
          <a:solidFill>
            <a:srgbClr val="000000"/>
          </a:solidFill>
          <a:ln/>
        </p:spPr>
      </p:sp>
      <p:sp>
        <p:nvSpPr>
          <p:cNvPr id="143" name="Shape 140"/>
          <p:cNvSpPr/>
          <p:nvPr/>
        </p:nvSpPr>
        <p:spPr>
          <a:xfrm>
            <a:off x="2881744" y="3740071"/>
            <a:ext cx="207724" cy="69241"/>
          </a:xfrm>
          <a:prstGeom prst="rect">
            <a:avLst/>
          </a:prstGeom>
          <a:solidFill>
            <a:srgbClr val="000000"/>
          </a:solidFill>
          <a:ln/>
        </p:spPr>
      </p:sp>
      <p:sp>
        <p:nvSpPr>
          <p:cNvPr id="144" name="Shape 141"/>
          <p:cNvSpPr/>
          <p:nvPr/>
        </p:nvSpPr>
        <p:spPr>
          <a:xfrm>
            <a:off x="3158710" y="3740071"/>
            <a:ext cx="69241" cy="69241"/>
          </a:xfrm>
          <a:prstGeom prst="rect">
            <a:avLst/>
          </a:prstGeom>
          <a:solidFill>
            <a:srgbClr val="000000"/>
          </a:solidFill>
          <a:ln/>
        </p:spPr>
      </p:sp>
      <p:sp>
        <p:nvSpPr>
          <p:cNvPr id="145" name="Shape 142"/>
          <p:cNvSpPr/>
          <p:nvPr/>
        </p:nvSpPr>
        <p:spPr>
          <a:xfrm>
            <a:off x="3297193" y="3740071"/>
            <a:ext cx="69241" cy="69241"/>
          </a:xfrm>
          <a:prstGeom prst="rect">
            <a:avLst/>
          </a:prstGeom>
          <a:solidFill>
            <a:srgbClr val="000000"/>
          </a:solidFill>
          <a:ln/>
        </p:spPr>
      </p:sp>
      <p:sp>
        <p:nvSpPr>
          <p:cNvPr id="146" name="Shape 143"/>
          <p:cNvSpPr/>
          <p:nvPr/>
        </p:nvSpPr>
        <p:spPr>
          <a:xfrm>
            <a:off x="3504917" y="3740071"/>
            <a:ext cx="69241" cy="69241"/>
          </a:xfrm>
          <a:prstGeom prst="rect">
            <a:avLst/>
          </a:prstGeom>
          <a:solidFill>
            <a:srgbClr val="000000"/>
          </a:solidFill>
          <a:ln/>
        </p:spPr>
      </p:sp>
      <p:sp>
        <p:nvSpPr>
          <p:cNvPr id="147" name="Shape 144"/>
          <p:cNvSpPr/>
          <p:nvPr/>
        </p:nvSpPr>
        <p:spPr>
          <a:xfrm>
            <a:off x="3643400" y="3740071"/>
            <a:ext cx="276966" cy="69241"/>
          </a:xfrm>
          <a:prstGeom prst="rect">
            <a:avLst/>
          </a:prstGeom>
          <a:solidFill>
            <a:srgbClr val="000000"/>
          </a:solidFill>
          <a:ln/>
        </p:spPr>
      </p:sp>
      <p:sp>
        <p:nvSpPr>
          <p:cNvPr id="148" name="Shape 145"/>
          <p:cNvSpPr/>
          <p:nvPr/>
        </p:nvSpPr>
        <p:spPr>
          <a:xfrm>
            <a:off x="3989608" y="3740071"/>
            <a:ext cx="138483" cy="69241"/>
          </a:xfrm>
          <a:prstGeom prst="rect">
            <a:avLst/>
          </a:prstGeom>
          <a:solidFill>
            <a:srgbClr val="000000"/>
          </a:solidFill>
          <a:ln/>
        </p:spPr>
      </p:sp>
      <p:sp>
        <p:nvSpPr>
          <p:cNvPr id="149" name="Shape 146"/>
          <p:cNvSpPr/>
          <p:nvPr/>
        </p:nvSpPr>
        <p:spPr>
          <a:xfrm>
            <a:off x="4335815" y="3740071"/>
            <a:ext cx="69241" cy="69241"/>
          </a:xfrm>
          <a:prstGeom prst="rect">
            <a:avLst/>
          </a:prstGeom>
          <a:solidFill>
            <a:srgbClr val="000000"/>
          </a:solidFill>
          <a:ln/>
        </p:spPr>
      </p:sp>
      <p:sp>
        <p:nvSpPr>
          <p:cNvPr id="150" name="Shape 147"/>
          <p:cNvSpPr/>
          <p:nvPr/>
        </p:nvSpPr>
        <p:spPr>
          <a:xfrm>
            <a:off x="2120088" y="3809312"/>
            <a:ext cx="276966" cy="69241"/>
          </a:xfrm>
          <a:prstGeom prst="rect">
            <a:avLst/>
          </a:prstGeom>
          <a:solidFill>
            <a:srgbClr val="000000"/>
          </a:solidFill>
          <a:ln/>
        </p:spPr>
      </p:sp>
      <p:sp>
        <p:nvSpPr>
          <p:cNvPr id="151" name="Shape 148"/>
          <p:cNvSpPr/>
          <p:nvPr/>
        </p:nvSpPr>
        <p:spPr>
          <a:xfrm>
            <a:off x="2466295" y="3809312"/>
            <a:ext cx="69241" cy="69241"/>
          </a:xfrm>
          <a:prstGeom prst="rect">
            <a:avLst/>
          </a:prstGeom>
          <a:solidFill>
            <a:srgbClr val="000000"/>
          </a:solidFill>
          <a:ln/>
        </p:spPr>
      </p:sp>
      <p:sp>
        <p:nvSpPr>
          <p:cNvPr id="152" name="Shape 149"/>
          <p:cNvSpPr/>
          <p:nvPr/>
        </p:nvSpPr>
        <p:spPr>
          <a:xfrm>
            <a:off x="2674019" y="3809312"/>
            <a:ext cx="138483" cy="69241"/>
          </a:xfrm>
          <a:prstGeom prst="rect">
            <a:avLst/>
          </a:prstGeom>
          <a:solidFill>
            <a:srgbClr val="000000"/>
          </a:solidFill>
          <a:ln/>
        </p:spPr>
      </p:sp>
      <p:sp>
        <p:nvSpPr>
          <p:cNvPr id="153" name="Shape 150"/>
          <p:cNvSpPr/>
          <p:nvPr/>
        </p:nvSpPr>
        <p:spPr>
          <a:xfrm>
            <a:off x="2950985" y="3809312"/>
            <a:ext cx="69241" cy="69241"/>
          </a:xfrm>
          <a:prstGeom prst="rect">
            <a:avLst/>
          </a:prstGeom>
          <a:solidFill>
            <a:srgbClr val="000000"/>
          </a:solidFill>
          <a:ln/>
        </p:spPr>
      </p:sp>
      <p:sp>
        <p:nvSpPr>
          <p:cNvPr id="154" name="Shape 151"/>
          <p:cNvSpPr/>
          <p:nvPr/>
        </p:nvSpPr>
        <p:spPr>
          <a:xfrm>
            <a:off x="3227951" y="3809312"/>
            <a:ext cx="69241" cy="69241"/>
          </a:xfrm>
          <a:prstGeom prst="rect">
            <a:avLst/>
          </a:prstGeom>
          <a:solidFill>
            <a:srgbClr val="000000"/>
          </a:solidFill>
          <a:ln/>
        </p:spPr>
      </p:sp>
      <p:sp>
        <p:nvSpPr>
          <p:cNvPr id="155" name="Shape 152"/>
          <p:cNvSpPr/>
          <p:nvPr/>
        </p:nvSpPr>
        <p:spPr>
          <a:xfrm>
            <a:off x="3366434" y="3809312"/>
            <a:ext cx="276966" cy="69241"/>
          </a:xfrm>
          <a:prstGeom prst="rect">
            <a:avLst/>
          </a:prstGeom>
          <a:solidFill>
            <a:srgbClr val="000000"/>
          </a:solidFill>
          <a:ln/>
        </p:spPr>
      </p:sp>
      <p:sp>
        <p:nvSpPr>
          <p:cNvPr id="156" name="Shape 153"/>
          <p:cNvSpPr/>
          <p:nvPr/>
        </p:nvSpPr>
        <p:spPr>
          <a:xfrm>
            <a:off x="3712642" y="3809312"/>
            <a:ext cx="69241" cy="69241"/>
          </a:xfrm>
          <a:prstGeom prst="rect">
            <a:avLst/>
          </a:prstGeom>
          <a:solidFill>
            <a:srgbClr val="000000"/>
          </a:solidFill>
          <a:ln/>
        </p:spPr>
      </p:sp>
      <p:sp>
        <p:nvSpPr>
          <p:cNvPr id="157" name="Shape 154"/>
          <p:cNvSpPr/>
          <p:nvPr/>
        </p:nvSpPr>
        <p:spPr>
          <a:xfrm>
            <a:off x="3920366" y="3809312"/>
            <a:ext cx="138483" cy="69241"/>
          </a:xfrm>
          <a:prstGeom prst="rect">
            <a:avLst/>
          </a:prstGeom>
          <a:solidFill>
            <a:srgbClr val="000000"/>
          </a:solidFill>
          <a:ln/>
        </p:spPr>
      </p:sp>
      <p:sp>
        <p:nvSpPr>
          <p:cNvPr id="158" name="Shape 155"/>
          <p:cNvSpPr/>
          <p:nvPr/>
        </p:nvSpPr>
        <p:spPr>
          <a:xfrm>
            <a:off x="4128090" y="3809312"/>
            <a:ext cx="276966" cy="69241"/>
          </a:xfrm>
          <a:prstGeom prst="rect">
            <a:avLst/>
          </a:prstGeom>
          <a:solidFill>
            <a:srgbClr val="000000"/>
          </a:solidFill>
          <a:ln/>
        </p:spPr>
      </p:sp>
      <p:sp>
        <p:nvSpPr>
          <p:cNvPr id="159" name="Shape 156"/>
          <p:cNvSpPr/>
          <p:nvPr/>
        </p:nvSpPr>
        <p:spPr>
          <a:xfrm>
            <a:off x="2189329" y="3878554"/>
            <a:ext cx="415449" cy="69241"/>
          </a:xfrm>
          <a:prstGeom prst="rect">
            <a:avLst/>
          </a:prstGeom>
          <a:solidFill>
            <a:srgbClr val="000000"/>
          </a:solidFill>
          <a:ln/>
        </p:spPr>
      </p:sp>
      <p:sp>
        <p:nvSpPr>
          <p:cNvPr id="160" name="Shape 157"/>
          <p:cNvSpPr/>
          <p:nvPr/>
        </p:nvSpPr>
        <p:spPr>
          <a:xfrm>
            <a:off x="2674019" y="3878554"/>
            <a:ext cx="138483" cy="69241"/>
          </a:xfrm>
          <a:prstGeom prst="rect">
            <a:avLst/>
          </a:prstGeom>
          <a:solidFill>
            <a:srgbClr val="000000"/>
          </a:solidFill>
          <a:ln/>
        </p:spPr>
      </p:sp>
      <p:sp>
        <p:nvSpPr>
          <p:cNvPr id="161" name="Shape 158"/>
          <p:cNvSpPr/>
          <p:nvPr/>
        </p:nvSpPr>
        <p:spPr>
          <a:xfrm>
            <a:off x="2881744" y="3878554"/>
            <a:ext cx="69241" cy="69241"/>
          </a:xfrm>
          <a:prstGeom prst="rect">
            <a:avLst/>
          </a:prstGeom>
          <a:solidFill>
            <a:srgbClr val="000000"/>
          </a:solidFill>
          <a:ln/>
        </p:spPr>
      </p:sp>
      <p:sp>
        <p:nvSpPr>
          <p:cNvPr id="162" name="Shape 159"/>
          <p:cNvSpPr/>
          <p:nvPr/>
        </p:nvSpPr>
        <p:spPr>
          <a:xfrm>
            <a:off x="3020227" y="3878554"/>
            <a:ext cx="69241" cy="69241"/>
          </a:xfrm>
          <a:prstGeom prst="rect">
            <a:avLst/>
          </a:prstGeom>
          <a:solidFill>
            <a:srgbClr val="000000"/>
          </a:solidFill>
          <a:ln/>
        </p:spPr>
      </p:sp>
      <p:sp>
        <p:nvSpPr>
          <p:cNvPr id="163" name="Shape 160"/>
          <p:cNvSpPr/>
          <p:nvPr/>
        </p:nvSpPr>
        <p:spPr>
          <a:xfrm>
            <a:off x="3158710" y="3878554"/>
            <a:ext cx="69241" cy="69241"/>
          </a:xfrm>
          <a:prstGeom prst="rect">
            <a:avLst/>
          </a:prstGeom>
          <a:solidFill>
            <a:srgbClr val="000000"/>
          </a:solidFill>
          <a:ln/>
        </p:spPr>
      </p:sp>
      <p:sp>
        <p:nvSpPr>
          <p:cNvPr id="164" name="Shape 161"/>
          <p:cNvSpPr/>
          <p:nvPr/>
        </p:nvSpPr>
        <p:spPr>
          <a:xfrm>
            <a:off x="3366434" y="3878554"/>
            <a:ext cx="69241" cy="69241"/>
          </a:xfrm>
          <a:prstGeom prst="rect">
            <a:avLst/>
          </a:prstGeom>
          <a:solidFill>
            <a:srgbClr val="000000"/>
          </a:solidFill>
          <a:ln/>
        </p:spPr>
      </p:sp>
      <p:sp>
        <p:nvSpPr>
          <p:cNvPr id="165" name="Shape 162"/>
          <p:cNvSpPr/>
          <p:nvPr/>
        </p:nvSpPr>
        <p:spPr>
          <a:xfrm>
            <a:off x="3504917" y="3878554"/>
            <a:ext cx="138483" cy="69241"/>
          </a:xfrm>
          <a:prstGeom prst="rect">
            <a:avLst/>
          </a:prstGeom>
          <a:solidFill>
            <a:srgbClr val="000000"/>
          </a:solidFill>
          <a:ln/>
        </p:spPr>
      </p:sp>
      <p:sp>
        <p:nvSpPr>
          <p:cNvPr id="166" name="Shape 163"/>
          <p:cNvSpPr/>
          <p:nvPr/>
        </p:nvSpPr>
        <p:spPr>
          <a:xfrm>
            <a:off x="3781883" y="3878554"/>
            <a:ext cx="138483" cy="69241"/>
          </a:xfrm>
          <a:prstGeom prst="rect">
            <a:avLst/>
          </a:prstGeom>
          <a:solidFill>
            <a:srgbClr val="000000"/>
          </a:solidFill>
          <a:ln/>
        </p:spPr>
      </p:sp>
      <p:sp>
        <p:nvSpPr>
          <p:cNvPr id="167" name="Shape 164"/>
          <p:cNvSpPr/>
          <p:nvPr/>
        </p:nvSpPr>
        <p:spPr>
          <a:xfrm>
            <a:off x="3989608" y="3878554"/>
            <a:ext cx="138483" cy="69241"/>
          </a:xfrm>
          <a:prstGeom prst="rect">
            <a:avLst/>
          </a:prstGeom>
          <a:solidFill>
            <a:srgbClr val="000000"/>
          </a:solidFill>
          <a:ln/>
        </p:spPr>
      </p:sp>
      <p:sp>
        <p:nvSpPr>
          <p:cNvPr id="168" name="Shape 165"/>
          <p:cNvSpPr/>
          <p:nvPr/>
        </p:nvSpPr>
        <p:spPr>
          <a:xfrm>
            <a:off x="4197332" y="3878554"/>
            <a:ext cx="138483" cy="69241"/>
          </a:xfrm>
          <a:prstGeom prst="rect">
            <a:avLst/>
          </a:prstGeom>
          <a:solidFill>
            <a:srgbClr val="000000"/>
          </a:solidFill>
          <a:ln/>
        </p:spPr>
      </p:sp>
      <p:sp>
        <p:nvSpPr>
          <p:cNvPr id="169" name="Shape 166"/>
          <p:cNvSpPr/>
          <p:nvPr/>
        </p:nvSpPr>
        <p:spPr>
          <a:xfrm>
            <a:off x="2120088" y="3947795"/>
            <a:ext cx="69241" cy="69241"/>
          </a:xfrm>
          <a:prstGeom prst="rect">
            <a:avLst/>
          </a:prstGeom>
          <a:solidFill>
            <a:srgbClr val="000000"/>
          </a:solidFill>
          <a:ln/>
        </p:spPr>
      </p:sp>
      <p:sp>
        <p:nvSpPr>
          <p:cNvPr id="170" name="Shape 167"/>
          <p:cNvSpPr/>
          <p:nvPr/>
        </p:nvSpPr>
        <p:spPr>
          <a:xfrm>
            <a:off x="2258571" y="3947795"/>
            <a:ext cx="207724" cy="69241"/>
          </a:xfrm>
          <a:prstGeom prst="rect">
            <a:avLst/>
          </a:prstGeom>
          <a:solidFill>
            <a:srgbClr val="000000"/>
          </a:solidFill>
          <a:ln/>
        </p:spPr>
      </p:sp>
      <p:sp>
        <p:nvSpPr>
          <p:cNvPr id="171" name="Shape 168"/>
          <p:cNvSpPr/>
          <p:nvPr/>
        </p:nvSpPr>
        <p:spPr>
          <a:xfrm>
            <a:off x="2604778" y="3947795"/>
            <a:ext cx="276966" cy="69241"/>
          </a:xfrm>
          <a:prstGeom prst="rect">
            <a:avLst/>
          </a:prstGeom>
          <a:solidFill>
            <a:srgbClr val="000000"/>
          </a:solidFill>
          <a:ln/>
        </p:spPr>
      </p:sp>
      <p:sp>
        <p:nvSpPr>
          <p:cNvPr id="172" name="Shape 169"/>
          <p:cNvSpPr/>
          <p:nvPr/>
        </p:nvSpPr>
        <p:spPr>
          <a:xfrm>
            <a:off x="3158710" y="3947795"/>
            <a:ext cx="138483" cy="69241"/>
          </a:xfrm>
          <a:prstGeom prst="rect">
            <a:avLst/>
          </a:prstGeom>
          <a:solidFill>
            <a:srgbClr val="000000"/>
          </a:solidFill>
          <a:ln/>
        </p:spPr>
      </p:sp>
      <p:sp>
        <p:nvSpPr>
          <p:cNvPr id="173" name="Shape 170"/>
          <p:cNvSpPr/>
          <p:nvPr/>
        </p:nvSpPr>
        <p:spPr>
          <a:xfrm>
            <a:off x="3435676" y="3947795"/>
            <a:ext cx="276966" cy="69241"/>
          </a:xfrm>
          <a:prstGeom prst="rect">
            <a:avLst/>
          </a:prstGeom>
          <a:solidFill>
            <a:srgbClr val="000000"/>
          </a:solidFill>
          <a:ln/>
        </p:spPr>
      </p:sp>
      <p:sp>
        <p:nvSpPr>
          <p:cNvPr id="174" name="Shape 171"/>
          <p:cNvSpPr/>
          <p:nvPr/>
        </p:nvSpPr>
        <p:spPr>
          <a:xfrm>
            <a:off x="3989608" y="3947795"/>
            <a:ext cx="276966" cy="69241"/>
          </a:xfrm>
          <a:prstGeom prst="rect">
            <a:avLst/>
          </a:prstGeom>
          <a:solidFill>
            <a:srgbClr val="000000"/>
          </a:solidFill>
          <a:ln/>
        </p:spPr>
      </p:sp>
      <p:sp>
        <p:nvSpPr>
          <p:cNvPr id="175" name="Shape 172"/>
          <p:cNvSpPr/>
          <p:nvPr/>
        </p:nvSpPr>
        <p:spPr>
          <a:xfrm>
            <a:off x="4335815" y="3947795"/>
            <a:ext cx="69241" cy="69241"/>
          </a:xfrm>
          <a:prstGeom prst="rect">
            <a:avLst/>
          </a:prstGeom>
          <a:solidFill>
            <a:srgbClr val="000000"/>
          </a:solidFill>
          <a:ln/>
        </p:spPr>
      </p:sp>
      <p:sp>
        <p:nvSpPr>
          <p:cNvPr id="176" name="Shape 173"/>
          <p:cNvSpPr/>
          <p:nvPr/>
        </p:nvSpPr>
        <p:spPr>
          <a:xfrm>
            <a:off x="2120088" y="4017037"/>
            <a:ext cx="138483" cy="69241"/>
          </a:xfrm>
          <a:prstGeom prst="rect">
            <a:avLst/>
          </a:prstGeom>
          <a:solidFill>
            <a:srgbClr val="000000"/>
          </a:solidFill>
          <a:ln/>
        </p:spPr>
      </p:sp>
      <p:sp>
        <p:nvSpPr>
          <p:cNvPr id="177" name="Shape 174"/>
          <p:cNvSpPr/>
          <p:nvPr/>
        </p:nvSpPr>
        <p:spPr>
          <a:xfrm>
            <a:off x="2535537" y="4017037"/>
            <a:ext cx="69241" cy="69241"/>
          </a:xfrm>
          <a:prstGeom prst="rect">
            <a:avLst/>
          </a:prstGeom>
          <a:solidFill>
            <a:srgbClr val="000000"/>
          </a:solidFill>
          <a:ln/>
        </p:spPr>
      </p:sp>
      <p:sp>
        <p:nvSpPr>
          <p:cNvPr id="178" name="Shape 175"/>
          <p:cNvSpPr/>
          <p:nvPr/>
        </p:nvSpPr>
        <p:spPr>
          <a:xfrm>
            <a:off x="2674019" y="4017037"/>
            <a:ext cx="138483" cy="69241"/>
          </a:xfrm>
          <a:prstGeom prst="rect">
            <a:avLst/>
          </a:prstGeom>
          <a:solidFill>
            <a:srgbClr val="000000"/>
          </a:solidFill>
          <a:ln/>
        </p:spPr>
      </p:sp>
      <p:sp>
        <p:nvSpPr>
          <p:cNvPr id="179" name="Shape 176"/>
          <p:cNvSpPr/>
          <p:nvPr/>
        </p:nvSpPr>
        <p:spPr>
          <a:xfrm>
            <a:off x="2881744" y="4017037"/>
            <a:ext cx="69241" cy="69241"/>
          </a:xfrm>
          <a:prstGeom prst="rect">
            <a:avLst/>
          </a:prstGeom>
          <a:solidFill>
            <a:srgbClr val="000000"/>
          </a:solidFill>
          <a:ln/>
        </p:spPr>
      </p:sp>
      <p:sp>
        <p:nvSpPr>
          <p:cNvPr id="180" name="Shape 177"/>
          <p:cNvSpPr/>
          <p:nvPr/>
        </p:nvSpPr>
        <p:spPr>
          <a:xfrm>
            <a:off x="3020227" y="4017037"/>
            <a:ext cx="207724" cy="69241"/>
          </a:xfrm>
          <a:prstGeom prst="rect">
            <a:avLst/>
          </a:prstGeom>
          <a:solidFill>
            <a:srgbClr val="000000"/>
          </a:solidFill>
          <a:ln/>
        </p:spPr>
      </p:sp>
      <p:sp>
        <p:nvSpPr>
          <p:cNvPr id="181" name="Shape 178"/>
          <p:cNvSpPr/>
          <p:nvPr/>
        </p:nvSpPr>
        <p:spPr>
          <a:xfrm>
            <a:off x="3366434" y="4017037"/>
            <a:ext cx="138483" cy="69241"/>
          </a:xfrm>
          <a:prstGeom prst="rect">
            <a:avLst/>
          </a:prstGeom>
          <a:solidFill>
            <a:srgbClr val="000000"/>
          </a:solidFill>
          <a:ln/>
        </p:spPr>
      </p:sp>
      <p:sp>
        <p:nvSpPr>
          <p:cNvPr id="182" name="Shape 179"/>
          <p:cNvSpPr/>
          <p:nvPr/>
        </p:nvSpPr>
        <p:spPr>
          <a:xfrm>
            <a:off x="3574159" y="4017037"/>
            <a:ext cx="69241" cy="69241"/>
          </a:xfrm>
          <a:prstGeom prst="rect">
            <a:avLst/>
          </a:prstGeom>
          <a:solidFill>
            <a:srgbClr val="000000"/>
          </a:solidFill>
          <a:ln/>
        </p:spPr>
      </p:sp>
      <p:sp>
        <p:nvSpPr>
          <p:cNvPr id="183" name="Shape 180"/>
          <p:cNvSpPr/>
          <p:nvPr/>
        </p:nvSpPr>
        <p:spPr>
          <a:xfrm>
            <a:off x="3781883" y="4017037"/>
            <a:ext cx="138483" cy="69241"/>
          </a:xfrm>
          <a:prstGeom prst="rect">
            <a:avLst/>
          </a:prstGeom>
          <a:solidFill>
            <a:srgbClr val="000000"/>
          </a:solidFill>
          <a:ln/>
        </p:spPr>
      </p:sp>
      <p:sp>
        <p:nvSpPr>
          <p:cNvPr id="184" name="Shape 181"/>
          <p:cNvSpPr/>
          <p:nvPr/>
        </p:nvSpPr>
        <p:spPr>
          <a:xfrm>
            <a:off x="3989608" y="4017037"/>
            <a:ext cx="207724" cy="69241"/>
          </a:xfrm>
          <a:prstGeom prst="rect">
            <a:avLst/>
          </a:prstGeom>
          <a:solidFill>
            <a:srgbClr val="000000"/>
          </a:solidFill>
          <a:ln/>
        </p:spPr>
      </p:sp>
      <p:sp>
        <p:nvSpPr>
          <p:cNvPr id="185" name="Shape 182"/>
          <p:cNvSpPr/>
          <p:nvPr/>
        </p:nvSpPr>
        <p:spPr>
          <a:xfrm>
            <a:off x="2120088" y="4086278"/>
            <a:ext cx="138483" cy="69241"/>
          </a:xfrm>
          <a:prstGeom prst="rect">
            <a:avLst/>
          </a:prstGeom>
          <a:solidFill>
            <a:srgbClr val="000000"/>
          </a:solidFill>
          <a:ln/>
        </p:spPr>
      </p:sp>
      <p:sp>
        <p:nvSpPr>
          <p:cNvPr id="186" name="Shape 183"/>
          <p:cNvSpPr/>
          <p:nvPr/>
        </p:nvSpPr>
        <p:spPr>
          <a:xfrm>
            <a:off x="2397054" y="4086278"/>
            <a:ext cx="69241" cy="69241"/>
          </a:xfrm>
          <a:prstGeom prst="rect">
            <a:avLst/>
          </a:prstGeom>
          <a:solidFill>
            <a:srgbClr val="000000"/>
          </a:solidFill>
          <a:ln/>
        </p:spPr>
      </p:sp>
      <p:sp>
        <p:nvSpPr>
          <p:cNvPr id="187" name="Shape 184"/>
          <p:cNvSpPr/>
          <p:nvPr/>
        </p:nvSpPr>
        <p:spPr>
          <a:xfrm>
            <a:off x="2881744" y="4086278"/>
            <a:ext cx="69241" cy="69241"/>
          </a:xfrm>
          <a:prstGeom prst="rect">
            <a:avLst/>
          </a:prstGeom>
          <a:solidFill>
            <a:srgbClr val="000000"/>
          </a:solidFill>
          <a:ln/>
        </p:spPr>
      </p:sp>
      <p:sp>
        <p:nvSpPr>
          <p:cNvPr id="188" name="Shape 185"/>
          <p:cNvSpPr/>
          <p:nvPr/>
        </p:nvSpPr>
        <p:spPr>
          <a:xfrm>
            <a:off x="3158710" y="4086278"/>
            <a:ext cx="138483" cy="69241"/>
          </a:xfrm>
          <a:prstGeom prst="rect">
            <a:avLst/>
          </a:prstGeom>
          <a:solidFill>
            <a:srgbClr val="000000"/>
          </a:solidFill>
          <a:ln/>
        </p:spPr>
      </p:sp>
      <p:sp>
        <p:nvSpPr>
          <p:cNvPr id="189" name="Shape 186"/>
          <p:cNvSpPr/>
          <p:nvPr/>
        </p:nvSpPr>
        <p:spPr>
          <a:xfrm>
            <a:off x="3504917" y="4086278"/>
            <a:ext cx="276966" cy="69241"/>
          </a:xfrm>
          <a:prstGeom prst="rect">
            <a:avLst/>
          </a:prstGeom>
          <a:solidFill>
            <a:srgbClr val="000000"/>
          </a:solidFill>
          <a:ln/>
        </p:spPr>
      </p:sp>
      <p:sp>
        <p:nvSpPr>
          <p:cNvPr id="190" name="Shape 187"/>
          <p:cNvSpPr/>
          <p:nvPr/>
        </p:nvSpPr>
        <p:spPr>
          <a:xfrm>
            <a:off x="3920366" y="4086278"/>
            <a:ext cx="69241" cy="69241"/>
          </a:xfrm>
          <a:prstGeom prst="rect">
            <a:avLst/>
          </a:prstGeom>
          <a:solidFill>
            <a:srgbClr val="000000"/>
          </a:solidFill>
          <a:ln/>
        </p:spPr>
      </p:sp>
      <p:sp>
        <p:nvSpPr>
          <p:cNvPr id="191" name="Shape 188"/>
          <p:cNvSpPr/>
          <p:nvPr/>
        </p:nvSpPr>
        <p:spPr>
          <a:xfrm>
            <a:off x="4128090" y="4086278"/>
            <a:ext cx="138483" cy="69241"/>
          </a:xfrm>
          <a:prstGeom prst="rect">
            <a:avLst/>
          </a:prstGeom>
          <a:solidFill>
            <a:srgbClr val="000000"/>
          </a:solidFill>
          <a:ln/>
        </p:spPr>
      </p:sp>
      <p:sp>
        <p:nvSpPr>
          <p:cNvPr id="192" name="Shape 189"/>
          <p:cNvSpPr/>
          <p:nvPr/>
        </p:nvSpPr>
        <p:spPr>
          <a:xfrm>
            <a:off x="4335815" y="4086278"/>
            <a:ext cx="69241" cy="69241"/>
          </a:xfrm>
          <a:prstGeom prst="rect">
            <a:avLst/>
          </a:prstGeom>
          <a:solidFill>
            <a:srgbClr val="000000"/>
          </a:solidFill>
          <a:ln/>
        </p:spPr>
      </p:sp>
      <p:sp>
        <p:nvSpPr>
          <p:cNvPr id="193" name="Shape 190"/>
          <p:cNvSpPr/>
          <p:nvPr/>
        </p:nvSpPr>
        <p:spPr>
          <a:xfrm>
            <a:off x="2120088" y="4155520"/>
            <a:ext cx="69241" cy="69241"/>
          </a:xfrm>
          <a:prstGeom prst="rect">
            <a:avLst/>
          </a:prstGeom>
          <a:solidFill>
            <a:srgbClr val="000000"/>
          </a:solidFill>
          <a:ln/>
        </p:spPr>
      </p:sp>
      <p:sp>
        <p:nvSpPr>
          <p:cNvPr id="194" name="Shape 191"/>
          <p:cNvSpPr/>
          <p:nvPr/>
        </p:nvSpPr>
        <p:spPr>
          <a:xfrm>
            <a:off x="2258571" y="4155520"/>
            <a:ext cx="207724" cy="69241"/>
          </a:xfrm>
          <a:prstGeom prst="rect">
            <a:avLst/>
          </a:prstGeom>
          <a:solidFill>
            <a:srgbClr val="000000"/>
          </a:solidFill>
          <a:ln/>
        </p:spPr>
      </p:sp>
      <p:sp>
        <p:nvSpPr>
          <p:cNvPr id="195" name="Shape 192"/>
          <p:cNvSpPr/>
          <p:nvPr/>
        </p:nvSpPr>
        <p:spPr>
          <a:xfrm>
            <a:off x="2535537" y="4155520"/>
            <a:ext cx="138483" cy="69241"/>
          </a:xfrm>
          <a:prstGeom prst="rect">
            <a:avLst/>
          </a:prstGeom>
          <a:solidFill>
            <a:srgbClr val="000000"/>
          </a:solidFill>
          <a:ln/>
        </p:spPr>
      </p:sp>
      <p:sp>
        <p:nvSpPr>
          <p:cNvPr id="196" name="Shape 193"/>
          <p:cNvSpPr/>
          <p:nvPr/>
        </p:nvSpPr>
        <p:spPr>
          <a:xfrm>
            <a:off x="2743261" y="4155520"/>
            <a:ext cx="276966" cy="69241"/>
          </a:xfrm>
          <a:prstGeom prst="rect">
            <a:avLst/>
          </a:prstGeom>
          <a:solidFill>
            <a:srgbClr val="000000"/>
          </a:solidFill>
          <a:ln/>
        </p:spPr>
      </p:sp>
      <p:sp>
        <p:nvSpPr>
          <p:cNvPr id="197" name="Shape 194"/>
          <p:cNvSpPr/>
          <p:nvPr/>
        </p:nvSpPr>
        <p:spPr>
          <a:xfrm>
            <a:off x="3089468" y="4155520"/>
            <a:ext cx="69241" cy="69241"/>
          </a:xfrm>
          <a:prstGeom prst="rect">
            <a:avLst/>
          </a:prstGeom>
          <a:solidFill>
            <a:srgbClr val="000000"/>
          </a:solidFill>
          <a:ln/>
        </p:spPr>
      </p:sp>
      <p:sp>
        <p:nvSpPr>
          <p:cNvPr id="198" name="Shape 195"/>
          <p:cNvSpPr/>
          <p:nvPr/>
        </p:nvSpPr>
        <p:spPr>
          <a:xfrm>
            <a:off x="3366434" y="4155520"/>
            <a:ext cx="138483" cy="69241"/>
          </a:xfrm>
          <a:prstGeom prst="rect">
            <a:avLst/>
          </a:prstGeom>
          <a:solidFill>
            <a:srgbClr val="000000"/>
          </a:solidFill>
          <a:ln/>
        </p:spPr>
      </p:sp>
      <p:sp>
        <p:nvSpPr>
          <p:cNvPr id="199" name="Shape 196"/>
          <p:cNvSpPr/>
          <p:nvPr/>
        </p:nvSpPr>
        <p:spPr>
          <a:xfrm>
            <a:off x="3851125" y="4155520"/>
            <a:ext cx="69241" cy="69241"/>
          </a:xfrm>
          <a:prstGeom prst="rect">
            <a:avLst/>
          </a:prstGeom>
          <a:solidFill>
            <a:srgbClr val="000000"/>
          </a:solidFill>
          <a:ln/>
        </p:spPr>
      </p:sp>
      <p:sp>
        <p:nvSpPr>
          <p:cNvPr id="200" name="Shape 197"/>
          <p:cNvSpPr/>
          <p:nvPr/>
        </p:nvSpPr>
        <p:spPr>
          <a:xfrm>
            <a:off x="3989608" y="4155520"/>
            <a:ext cx="138483" cy="69241"/>
          </a:xfrm>
          <a:prstGeom prst="rect">
            <a:avLst/>
          </a:prstGeom>
          <a:solidFill>
            <a:srgbClr val="000000"/>
          </a:solidFill>
          <a:ln/>
        </p:spPr>
      </p:sp>
      <p:sp>
        <p:nvSpPr>
          <p:cNvPr id="201" name="Shape 198"/>
          <p:cNvSpPr/>
          <p:nvPr/>
        </p:nvSpPr>
        <p:spPr>
          <a:xfrm>
            <a:off x="4266573" y="4155520"/>
            <a:ext cx="69241" cy="69241"/>
          </a:xfrm>
          <a:prstGeom prst="rect">
            <a:avLst/>
          </a:prstGeom>
          <a:solidFill>
            <a:srgbClr val="000000"/>
          </a:solidFill>
          <a:ln/>
        </p:spPr>
      </p:sp>
      <p:sp>
        <p:nvSpPr>
          <p:cNvPr id="202" name="Shape 199"/>
          <p:cNvSpPr/>
          <p:nvPr/>
        </p:nvSpPr>
        <p:spPr>
          <a:xfrm>
            <a:off x="2120088" y="4224761"/>
            <a:ext cx="69241" cy="69241"/>
          </a:xfrm>
          <a:prstGeom prst="rect">
            <a:avLst/>
          </a:prstGeom>
          <a:solidFill>
            <a:srgbClr val="000000"/>
          </a:solidFill>
          <a:ln/>
        </p:spPr>
      </p:sp>
      <p:sp>
        <p:nvSpPr>
          <p:cNvPr id="203" name="Shape 200"/>
          <p:cNvSpPr/>
          <p:nvPr/>
        </p:nvSpPr>
        <p:spPr>
          <a:xfrm>
            <a:off x="2466295" y="4224761"/>
            <a:ext cx="69241" cy="69241"/>
          </a:xfrm>
          <a:prstGeom prst="rect">
            <a:avLst/>
          </a:prstGeom>
          <a:solidFill>
            <a:srgbClr val="000000"/>
          </a:solidFill>
          <a:ln/>
        </p:spPr>
      </p:sp>
      <p:sp>
        <p:nvSpPr>
          <p:cNvPr id="204" name="Shape 201"/>
          <p:cNvSpPr/>
          <p:nvPr/>
        </p:nvSpPr>
        <p:spPr>
          <a:xfrm>
            <a:off x="2812502" y="4224761"/>
            <a:ext cx="138483" cy="69241"/>
          </a:xfrm>
          <a:prstGeom prst="rect">
            <a:avLst/>
          </a:prstGeom>
          <a:solidFill>
            <a:srgbClr val="000000"/>
          </a:solidFill>
          <a:ln/>
        </p:spPr>
      </p:sp>
      <p:sp>
        <p:nvSpPr>
          <p:cNvPr id="205" name="Shape 202"/>
          <p:cNvSpPr/>
          <p:nvPr/>
        </p:nvSpPr>
        <p:spPr>
          <a:xfrm>
            <a:off x="3020227" y="4224761"/>
            <a:ext cx="138483" cy="69241"/>
          </a:xfrm>
          <a:prstGeom prst="rect">
            <a:avLst/>
          </a:prstGeom>
          <a:solidFill>
            <a:srgbClr val="000000"/>
          </a:solidFill>
          <a:ln/>
        </p:spPr>
      </p:sp>
      <p:sp>
        <p:nvSpPr>
          <p:cNvPr id="206" name="Shape 203"/>
          <p:cNvSpPr/>
          <p:nvPr/>
        </p:nvSpPr>
        <p:spPr>
          <a:xfrm>
            <a:off x="3227951" y="4224761"/>
            <a:ext cx="69241" cy="69241"/>
          </a:xfrm>
          <a:prstGeom prst="rect">
            <a:avLst/>
          </a:prstGeom>
          <a:solidFill>
            <a:srgbClr val="000000"/>
          </a:solidFill>
          <a:ln/>
        </p:spPr>
      </p:sp>
      <p:sp>
        <p:nvSpPr>
          <p:cNvPr id="207" name="Shape 204"/>
          <p:cNvSpPr/>
          <p:nvPr/>
        </p:nvSpPr>
        <p:spPr>
          <a:xfrm>
            <a:off x="3435676" y="4224761"/>
            <a:ext cx="276966" cy="69241"/>
          </a:xfrm>
          <a:prstGeom prst="rect">
            <a:avLst/>
          </a:prstGeom>
          <a:solidFill>
            <a:srgbClr val="000000"/>
          </a:solidFill>
          <a:ln/>
        </p:spPr>
      </p:sp>
      <p:sp>
        <p:nvSpPr>
          <p:cNvPr id="208" name="Shape 205"/>
          <p:cNvSpPr/>
          <p:nvPr/>
        </p:nvSpPr>
        <p:spPr>
          <a:xfrm>
            <a:off x="3851125" y="4224761"/>
            <a:ext cx="207724" cy="69241"/>
          </a:xfrm>
          <a:prstGeom prst="rect">
            <a:avLst/>
          </a:prstGeom>
          <a:solidFill>
            <a:srgbClr val="000000"/>
          </a:solidFill>
          <a:ln/>
        </p:spPr>
      </p:sp>
      <p:sp>
        <p:nvSpPr>
          <p:cNvPr id="209" name="Shape 206"/>
          <p:cNvSpPr/>
          <p:nvPr/>
        </p:nvSpPr>
        <p:spPr>
          <a:xfrm>
            <a:off x="4128090" y="4224761"/>
            <a:ext cx="276966" cy="69241"/>
          </a:xfrm>
          <a:prstGeom prst="rect">
            <a:avLst/>
          </a:prstGeom>
          <a:solidFill>
            <a:srgbClr val="000000"/>
          </a:solidFill>
          <a:ln/>
        </p:spPr>
      </p:sp>
      <p:sp>
        <p:nvSpPr>
          <p:cNvPr id="210" name="Shape 207"/>
          <p:cNvSpPr/>
          <p:nvPr/>
        </p:nvSpPr>
        <p:spPr>
          <a:xfrm>
            <a:off x="2120088" y="4294003"/>
            <a:ext cx="69241" cy="69241"/>
          </a:xfrm>
          <a:prstGeom prst="rect">
            <a:avLst/>
          </a:prstGeom>
          <a:solidFill>
            <a:srgbClr val="000000"/>
          </a:solidFill>
          <a:ln/>
        </p:spPr>
      </p:sp>
      <p:sp>
        <p:nvSpPr>
          <p:cNvPr id="211" name="Shape 208"/>
          <p:cNvSpPr/>
          <p:nvPr/>
        </p:nvSpPr>
        <p:spPr>
          <a:xfrm>
            <a:off x="2258571" y="4294003"/>
            <a:ext cx="69241" cy="69241"/>
          </a:xfrm>
          <a:prstGeom prst="rect">
            <a:avLst/>
          </a:prstGeom>
          <a:solidFill>
            <a:srgbClr val="000000"/>
          </a:solidFill>
          <a:ln/>
        </p:spPr>
      </p:sp>
      <p:sp>
        <p:nvSpPr>
          <p:cNvPr id="212" name="Shape 209"/>
          <p:cNvSpPr/>
          <p:nvPr/>
        </p:nvSpPr>
        <p:spPr>
          <a:xfrm>
            <a:off x="2397054" y="4294003"/>
            <a:ext cx="207724" cy="69241"/>
          </a:xfrm>
          <a:prstGeom prst="rect">
            <a:avLst/>
          </a:prstGeom>
          <a:solidFill>
            <a:srgbClr val="000000"/>
          </a:solidFill>
          <a:ln/>
        </p:spPr>
      </p:sp>
      <p:sp>
        <p:nvSpPr>
          <p:cNvPr id="213" name="Shape 210"/>
          <p:cNvSpPr/>
          <p:nvPr/>
        </p:nvSpPr>
        <p:spPr>
          <a:xfrm>
            <a:off x="2743261" y="4294003"/>
            <a:ext cx="276966" cy="69241"/>
          </a:xfrm>
          <a:prstGeom prst="rect">
            <a:avLst/>
          </a:prstGeom>
          <a:solidFill>
            <a:srgbClr val="000000"/>
          </a:solidFill>
          <a:ln/>
        </p:spPr>
      </p:sp>
      <p:sp>
        <p:nvSpPr>
          <p:cNvPr id="214" name="Shape 211"/>
          <p:cNvSpPr/>
          <p:nvPr/>
        </p:nvSpPr>
        <p:spPr>
          <a:xfrm>
            <a:off x="3089468" y="4294003"/>
            <a:ext cx="69241" cy="69241"/>
          </a:xfrm>
          <a:prstGeom prst="rect">
            <a:avLst/>
          </a:prstGeom>
          <a:solidFill>
            <a:srgbClr val="000000"/>
          </a:solidFill>
          <a:ln/>
        </p:spPr>
      </p:sp>
      <p:sp>
        <p:nvSpPr>
          <p:cNvPr id="215" name="Shape 212"/>
          <p:cNvSpPr/>
          <p:nvPr/>
        </p:nvSpPr>
        <p:spPr>
          <a:xfrm>
            <a:off x="3297193" y="4294003"/>
            <a:ext cx="69241" cy="69241"/>
          </a:xfrm>
          <a:prstGeom prst="rect">
            <a:avLst/>
          </a:prstGeom>
          <a:solidFill>
            <a:srgbClr val="000000"/>
          </a:solidFill>
          <a:ln/>
        </p:spPr>
      </p:sp>
      <p:sp>
        <p:nvSpPr>
          <p:cNvPr id="216" name="Shape 213"/>
          <p:cNvSpPr/>
          <p:nvPr/>
        </p:nvSpPr>
        <p:spPr>
          <a:xfrm>
            <a:off x="3435676" y="4294003"/>
            <a:ext cx="69241" cy="69241"/>
          </a:xfrm>
          <a:prstGeom prst="rect">
            <a:avLst/>
          </a:prstGeom>
          <a:solidFill>
            <a:srgbClr val="000000"/>
          </a:solidFill>
          <a:ln/>
        </p:spPr>
      </p:sp>
      <p:sp>
        <p:nvSpPr>
          <p:cNvPr id="217" name="Shape 214"/>
          <p:cNvSpPr/>
          <p:nvPr/>
        </p:nvSpPr>
        <p:spPr>
          <a:xfrm>
            <a:off x="3643400" y="4294003"/>
            <a:ext cx="484690" cy="69241"/>
          </a:xfrm>
          <a:prstGeom prst="rect">
            <a:avLst/>
          </a:prstGeom>
          <a:solidFill>
            <a:srgbClr val="000000"/>
          </a:solidFill>
          <a:ln/>
        </p:spPr>
      </p:sp>
      <p:sp>
        <p:nvSpPr>
          <p:cNvPr id="218" name="Shape 215"/>
          <p:cNvSpPr/>
          <p:nvPr/>
        </p:nvSpPr>
        <p:spPr>
          <a:xfrm>
            <a:off x="4335815" y="4294003"/>
            <a:ext cx="69241" cy="69241"/>
          </a:xfrm>
          <a:prstGeom prst="rect">
            <a:avLst/>
          </a:prstGeom>
          <a:solidFill>
            <a:srgbClr val="000000"/>
          </a:solidFill>
          <a:ln/>
        </p:spPr>
      </p:sp>
      <p:sp>
        <p:nvSpPr>
          <p:cNvPr id="219" name="Shape 216"/>
          <p:cNvSpPr/>
          <p:nvPr/>
        </p:nvSpPr>
        <p:spPr>
          <a:xfrm>
            <a:off x="2674019" y="4363244"/>
            <a:ext cx="415449" cy="69241"/>
          </a:xfrm>
          <a:prstGeom prst="rect">
            <a:avLst/>
          </a:prstGeom>
          <a:solidFill>
            <a:srgbClr val="000000"/>
          </a:solidFill>
          <a:ln/>
        </p:spPr>
      </p:sp>
      <p:sp>
        <p:nvSpPr>
          <p:cNvPr id="220" name="Shape 217"/>
          <p:cNvSpPr/>
          <p:nvPr/>
        </p:nvSpPr>
        <p:spPr>
          <a:xfrm>
            <a:off x="3227951" y="4363244"/>
            <a:ext cx="138483" cy="69241"/>
          </a:xfrm>
          <a:prstGeom prst="rect">
            <a:avLst/>
          </a:prstGeom>
          <a:solidFill>
            <a:srgbClr val="000000"/>
          </a:solidFill>
          <a:ln/>
        </p:spPr>
      </p:sp>
      <p:sp>
        <p:nvSpPr>
          <p:cNvPr id="221" name="Shape 218"/>
          <p:cNvSpPr/>
          <p:nvPr/>
        </p:nvSpPr>
        <p:spPr>
          <a:xfrm>
            <a:off x="3435676" y="4363244"/>
            <a:ext cx="69241" cy="69241"/>
          </a:xfrm>
          <a:prstGeom prst="rect">
            <a:avLst/>
          </a:prstGeom>
          <a:solidFill>
            <a:srgbClr val="000000"/>
          </a:solidFill>
          <a:ln/>
        </p:spPr>
      </p:sp>
      <p:sp>
        <p:nvSpPr>
          <p:cNvPr id="222" name="Shape 219"/>
          <p:cNvSpPr/>
          <p:nvPr/>
        </p:nvSpPr>
        <p:spPr>
          <a:xfrm>
            <a:off x="3712642" y="4363244"/>
            <a:ext cx="138483" cy="69241"/>
          </a:xfrm>
          <a:prstGeom prst="rect">
            <a:avLst/>
          </a:prstGeom>
          <a:solidFill>
            <a:srgbClr val="000000"/>
          </a:solidFill>
          <a:ln/>
        </p:spPr>
      </p:sp>
      <p:sp>
        <p:nvSpPr>
          <p:cNvPr id="223" name="Shape 220"/>
          <p:cNvSpPr/>
          <p:nvPr/>
        </p:nvSpPr>
        <p:spPr>
          <a:xfrm>
            <a:off x="4058849" y="4363244"/>
            <a:ext cx="69241" cy="69241"/>
          </a:xfrm>
          <a:prstGeom prst="rect">
            <a:avLst/>
          </a:prstGeom>
          <a:solidFill>
            <a:srgbClr val="000000"/>
          </a:solidFill>
          <a:ln/>
        </p:spPr>
      </p:sp>
      <p:sp>
        <p:nvSpPr>
          <p:cNvPr id="224" name="Shape 221"/>
          <p:cNvSpPr/>
          <p:nvPr/>
        </p:nvSpPr>
        <p:spPr>
          <a:xfrm>
            <a:off x="4197332" y="4363244"/>
            <a:ext cx="207724" cy="69241"/>
          </a:xfrm>
          <a:prstGeom prst="rect">
            <a:avLst/>
          </a:prstGeom>
          <a:solidFill>
            <a:srgbClr val="000000"/>
          </a:solidFill>
          <a:ln/>
        </p:spPr>
      </p:sp>
      <p:sp>
        <p:nvSpPr>
          <p:cNvPr id="225" name="Shape 222"/>
          <p:cNvSpPr/>
          <p:nvPr/>
        </p:nvSpPr>
        <p:spPr>
          <a:xfrm>
            <a:off x="2120088" y="4432486"/>
            <a:ext cx="484690" cy="69241"/>
          </a:xfrm>
          <a:prstGeom prst="rect">
            <a:avLst/>
          </a:prstGeom>
          <a:solidFill>
            <a:srgbClr val="000000"/>
          </a:solidFill>
          <a:ln/>
        </p:spPr>
      </p:sp>
      <p:sp>
        <p:nvSpPr>
          <p:cNvPr id="226" name="Shape 223"/>
          <p:cNvSpPr/>
          <p:nvPr/>
        </p:nvSpPr>
        <p:spPr>
          <a:xfrm>
            <a:off x="3020227" y="4432486"/>
            <a:ext cx="346207" cy="69241"/>
          </a:xfrm>
          <a:prstGeom prst="rect">
            <a:avLst/>
          </a:prstGeom>
          <a:solidFill>
            <a:srgbClr val="000000"/>
          </a:solidFill>
          <a:ln/>
        </p:spPr>
      </p:sp>
      <p:sp>
        <p:nvSpPr>
          <p:cNvPr id="227" name="Shape 224"/>
          <p:cNvSpPr/>
          <p:nvPr/>
        </p:nvSpPr>
        <p:spPr>
          <a:xfrm>
            <a:off x="3504917" y="4432486"/>
            <a:ext cx="69241" cy="69241"/>
          </a:xfrm>
          <a:prstGeom prst="rect">
            <a:avLst/>
          </a:prstGeom>
          <a:solidFill>
            <a:srgbClr val="000000"/>
          </a:solidFill>
          <a:ln/>
        </p:spPr>
      </p:sp>
      <p:sp>
        <p:nvSpPr>
          <p:cNvPr id="228" name="Shape 225"/>
          <p:cNvSpPr/>
          <p:nvPr/>
        </p:nvSpPr>
        <p:spPr>
          <a:xfrm>
            <a:off x="3643400" y="4432486"/>
            <a:ext cx="207724" cy="69241"/>
          </a:xfrm>
          <a:prstGeom prst="rect">
            <a:avLst/>
          </a:prstGeom>
          <a:solidFill>
            <a:srgbClr val="000000"/>
          </a:solidFill>
          <a:ln/>
        </p:spPr>
      </p:sp>
      <p:sp>
        <p:nvSpPr>
          <p:cNvPr id="229" name="Shape 226"/>
          <p:cNvSpPr/>
          <p:nvPr/>
        </p:nvSpPr>
        <p:spPr>
          <a:xfrm>
            <a:off x="3920366" y="4432486"/>
            <a:ext cx="69241" cy="69241"/>
          </a:xfrm>
          <a:prstGeom prst="rect">
            <a:avLst/>
          </a:prstGeom>
          <a:solidFill>
            <a:srgbClr val="000000"/>
          </a:solidFill>
          <a:ln/>
        </p:spPr>
      </p:sp>
      <p:sp>
        <p:nvSpPr>
          <p:cNvPr id="230" name="Shape 227"/>
          <p:cNvSpPr/>
          <p:nvPr/>
        </p:nvSpPr>
        <p:spPr>
          <a:xfrm>
            <a:off x="4058849" y="4432486"/>
            <a:ext cx="69241" cy="69241"/>
          </a:xfrm>
          <a:prstGeom prst="rect">
            <a:avLst/>
          </a:prstGeom>
          <a:solidFill>
            <a:srgbClr val="000000"/>
          </a:solidFill>
          <a:ln/>
        </p:spPr>
      </p:sp>
      <p:sp>
        <p:nvSpPr>
          <p:cNvPr id="231" name="Shape 228"/>
          <p:cNvSpPr/>
          <p:nvPr/>
        </p:nvSpPr>
        <p:spPr>
          <a:xfrm>
            <a:off x="4197332" y="4432486"/>
            <a:ext cx="138483" cy="69241"/>
          </a:xfrm>
          <a:prstGeom prst="rect">
            <a:avLst/>
          </a:prstGeom>
          <a:solidFill>
            <a:srgbClr val="000000"/>
          </a:solidFill>
          <a:ln/>
        </p:spPr>
      </p:sp>
      <p:sp>
        <p:nvSpPr>
          <p:cNvPr id="232" name="Shape 229"/>
          <p:cNvSpPr/>
          <p:nvPr/>
        </p:nvSpPr>
        <p:spPr>
          <a:xfrm>
            <a:off x="2120088" y="4501727"/>
            <a:ext cx="69241" cy="69241"/>
          </a:xfrm>
          <a:prstGeom prst="rect">
            <a:avLst/>
          </a:prstGeom>
          <a:solidFill>
            <a:srgbClr val="000000"/>
          </a:solidFill>
          <a:ln/>
        </p:spPr>
      </p:sp>
      <p:sp>
        <p:nvSpPr>
          <p:cNvPr id="233" name="Shape 230"/>
          <p:cNvSpPr/>
          <p:nvPr/>
        </p:nvSpPr>
        <p:spPr>
          <a:xfrm>
            <a:off x="2535537" y="4501727"/>
            <a:ext cx="69241" cy="69241"/>
          </a:xfrm>
          <a:prstGeom prst="rect">
            <a:avLst/>
          </a:prstGeom>
          <a:solidFill>
            <a:srgbClr val="000000"/>
          </a:solidFill>
          <a:ln/>
        </p:spPr>
      </p:sp>
      <p:sp>
        <p:nvSpPr>
          <p:cNvPr id="234" name="Shape 231"/>
          <p:cNvSpPr/>
          <p:nvPr/>
        </p:nvSpPr>
        <p:spPr>
          <a:xfrm>
            <a:off x="2674019" y="4501727"/>
            <a:ext cx="69241" cy="69241"/>
          </a:xfrm>
          <a:prstGeom prst="rect">
            <a:avLst/>
          </a:prstGeom>
          <a:solidFill>
            <a:srgbClr val="000000"/>
          </a:solidFill>
          <a:ln/>
        </p:spPr>
      </p:sp>
      <p:sp>
        <p:nvSpPr>
          <p:cNvPr id="235" name="Shape 232"/>
          <p:cNvSpPr/>
          <p:nvPr/>
        </p:nvSpPr>
        <p:spPr>
          <a:xfrm>
            <a:off x="3089468" y="4501727"/>
            <a:ext cx="138483" cy="69241"/>
          </a:xfrm>
          <a:prstGeom prst="rect">
            <a:avLst/>
          </a:prstGeom>
          <a:solidFill>
            <a:srgbClr val="000000"/>
          </a:solidFill>
          <a:ln/>
        </p:spPr>
      </p:sp>
      <p:sp>
        <p:nvSpPr>
          <p:cNvPr id="236" name="Shape 233"/>
          <p:cNvSpPr/>
          <p:nvPr/>
        </p:nvSpPr>
        <p:spPr>
          <a:xfrm>
            <a:off x="3297193" y="4501727"/>
            <a:ext cx="138483" cy="69241"/>
          </a:xfrm>
          <a:prstGeom prst="rect">
            <a:avLst/>
          </a:prstGeom>
          <a:solidFill>
            <a:srgbClr val="000000"/>
          </a:solidFill>
          <a:ln/>
        </p:spPr>
      </p:sp>
      <p:sp>
        <p:nvSpPr>
          <p:cNvPr id="237" name="Shape 234"/>
          <p:cNvSpPr/>
          <p:nvPr/>
        </p:nvSpPr>
        <p:spPr>
          <a:xfrm>
            <a:off x="3504917" y="4501727"/>
            <a:ext cx="69241" cy="69241"/>
          </a:xfrm>
          <a:prstGeom prst="rect">
            <a:avLst/>
          </a:prstGeom>
          <a:solidFill>
            <a:srgbClr val="000000"/>
          </a:solidFill>
          <a:ln/>
        </p:spPr>
      </p:sp>
      <p:sp>
        <p:nvSpPr>
          <p:cNvPr id="238" name="Shape 235"/>
          <p:cNvSpPr/>
          <p:nvPr/>
        </p:nvSpPr>
        <p:spPr>
          <a:xfrm>
            <a:off x="3712642" y="4501727"/>
            <a:ext cx="138483" cy="69241"/>
          </a:xfrm>
          <a:prstGeom prst="rect">
            <a:avLst/>
          </a:prstGeom>
          <a:solidFill>
            <a:srgbClr val="000000"/>
          </a:solidFill>
          <a:ln/>
        </p:spPr>
      </p:sp>
      <p:sp>
        <p:nvSpPr>
          <p:cNvPr id="239" name="Shape 236"/>
          <p:cNvSpPr/>
          <p:nvPr/>
        </p:nvSpPr>
        <p:spPr>
          <a:xfrm>
            <a:off x="4058849" y="4501727"/>
            <a:ext cx="276966" cy="69241"/>
          </a:xfrm>
          <a:prstGeom prst="rect">
            <a:avLst/>
          </a:prstGeom>
          <a:solidFill>
            <a:srgbClr val="000000"/>
          </a:solidFill>
          <a:ln/>
        </p:spPr>
      </p:sp>
      <p:sp>
        <p:nvSpPr>
          <p:cNvPr id="240" name="Shape 237"/>
          <p:cNvSpPr/>
          <p:nvPr/>
        </p:nvSpPr>
        <p:spPr>
          <a:xfrm>
            <a:off x="2120088" y="4570969"/>
            <a:ext cx="69241" cy="69241"/>
          </a:xfrm>
          <a:prstGeom prst="rect">
            <a:avLst/>
          </a:prstGeom>
          <a:solidFill>
            <a:srgbClr val="000000"/>
          </a:solidFill>
          <a:ln/>
        </p:spPr>
      </p:sp>
      <p:sp>
        <p:nvSpPr>
          <p:cNvPr id="241" name="Shape 238"/>
          <p:cNvSpPr/>
          <p:nvPr/>
        </p:nvSpPr>
        <p:spPr>
          <a:xfrm>
            <a:off x="2258571" y="4570969"/>
            <a:ext cx="207724" cy="69241"/>
          </a:xfrm>
          <a:prstGeom prst="rect">
            <a:avLst/>
          </a:prstGeom>
          <a:solidFill>
            <a:srgbClr val="000000"/>
          </a:solidFill>
          <a:ln/>
        </p:spPr>
      </p:sp>
      <p:sp>
        <p:nvSpPr>
          <p:cNvPr id="242" name="Shape 239"/>
          <p:cNvSpPr/>
          <p:nvPr/>
        </p:nvSpPr>
        <p:spPr>
          <a:xfrm>
            <a:off x="2535537" y="4570969"/>
            <a:ext cx="69241" cy="69241"/>
          </a:xfrm>
          <a:prstGeom prst="rect">
            <a:avLst/>
          </a:prstGeom>
          <a:solidFill>
            <a:srgbClr val="000000"/>
          </a:solidFill>
          <a:ln/>
        </p:spPr>
      </p:sp>
      <p:sp>
        <p:nvSpPr>
          <p:cNvPr id="243" name="Shape 240"/>
          <p:cNvSpPr/>
          <p:nvPr/>
        </p:nvSpPr>
        <p:spPr>
          <a:xfrm>
            <a:off x="2674019" y="4570969"/>
            <a:ext cx="138483" cy="69241"/>
          </a:xfrm>
          <a:prstGeom prst="rect">
            <a:avLst/>
          </a:prstGeom>
          <a:solidFill>
            <a:srgbClr val="000000"/>
          </a:solidFill>
          <a:ln/>
        </p:spPr>
      </p:sp>
      <p:sp>
        <p:nvSpPr>
          <p:cNvPr id="244" name="Shape 241"/>
          <p:cNvSpPr/>
          <p:nvPr/>
        </p:nvSpPr>
        <p:spPr>
          <a:xfrm>
            <a:off x="2881744" y="4570969"/>
            <a:ext cx="69241" cy="69241"/>
          </a:xfrm>
          <a:prstGeom prst="rect">
            <a:avLst/>
          </a:prstGeom>
          <a:solidFill>
            <a:srgbClr val="000000"/>
          </a:solidFill>
          <a:ln/>
        </p:spPr>
      </p:sp>
      <p:sp>
        <p:nvSpPr>
          <p:cNvPr id="245" name="Shape 242"/>
          <p:cNvSpPr/>
          <p:nvPr/>
        </p:nvSpPr>
        <p:spPr>
          <a:xfrm>
            <a:off x="3089468" y="4570969"/>
            <a:ext cx="69241" cy="69241"/>
          </a:xfrm>
          <a:prstGeom prst="rect">
            <a:avLst/>
          </a:prstGeom>
          <a:solidFill>
            <a:srgbClr val="000000"/>
          </a:solidFill>
          <a:ln/>
        </p:spPr>
      </p:sp>
      <p:sp>
        <p:nvSpPr>
          <p:cNvPr id="246" name="Shape 243"/>
          <p:cNvSpPr/>
          <p:nvPr/>
        </p:nvSpPr>
        <p:spPr>
          <a:xfrm>
            <a:off x="3227951" y="4570969"/>
            <a:ext cx="69241" cy="69241"/>
          </a:xfrm>
          <a:prstGeom prst="rect">
            <a:avLst/>
          </a:prstGeom>
          <a:solidFill>
            <a:srgbClr val="000000"/>
          </a:solidFill>
          <a:ln/>
        </p:spPr>
      </p:sp>
      <p:sp>
        <p:nvSpPr>
          <p:cNvPr id="247" name="Shape 244"/>
          <p:cNvSpPr/>
          <p:nvPr/>
        </p:nvSpPr>
        <p:spPr>
          <a:xfrm>
            <a:off x="3435676" y="4570969"/>
            <a:ext cx="276966" cy="69241"/>
          </a:xfrm>
          <a:prstGeom prst="rect">
            <a:avLst/>
          </a:prstGeom>
          <a:solidFill>
            <a:srgbClr val="000000"/>
          </a:solidFill>
          <a:ln/>
        </p:spPr>
      </p:sp>
      <p:sp>
        <p:nvSpPr>
          <p:cNvPr id="248" name="Shape 245"/>
          <p:cNvSpPr/>
          <p:nvPr/>
        </p:nvSpPr>
        <p:spPr>
          <a:xfrm>
            <a:off x="3781883" y="4570969"/>
            <a:ext cx="415449" cy="69241"/>
          </a:xfrm>
          <a:prstGeom prst="rect">
            <a:avLst/>
          </a:prstGeom>
          <a:solidFill>
            <a:srgbClr val="000000"/>
          </a:solidFill>
          <a:ln/>
        </p:spPr>
      </p:sp>
      <p:sp>
        <p:nvSpPr>
          <p:cNvPr id="249" name="Shape 246"/>
          <p:cNvSpPr/>
          <p:nvPr/>
        </p:nvSpPr>
        <p:spPr>
          <a:xfrm>
            <a:off x="4266573" y="4570969"/>
            <a:ext cx="69241" cy="69241"/>
          </a:xfrm>
          <a:prstGeom prst="rect">
            <a:avLst/>
          </a:prstGeom>
          <a:solidFill>
            <a:srgbClr val="000000"/>
          </a:solidFill>
          <a:ln/>
        </p:spPr>
      </p:sp>
      <p:sp>
        <p:nvSpPr>
          <p:cNvPr id="250" name="Shape 247"/>
          <p:cNvSpPr/>
          <p:nvPr/>
        </p:nvSpPr>
        <p:spPr>
          <a:xfrm>
            <a:off x="2120088" y="4640210"/>
            <a:ext cx="69241" cy="69241"/>
          </a:xfrm>
          <a:prstGeom prst="rect">
            <a:avLst/>
          </a:prstGeom>
          <a:solidFill>
            <a:srgbClr val="000000"/>
          </a:solidFill>
          <a:ln/>
        </p:spPr>
      </p:sp>
      <p:sp>
        <p:nvSpPr>
          <p:cNvPr id="251" name="Shape 248"/>
          <p:cNvSpPr/>
          <p:nvPr/>
        </p:nvSpPr>
        <p:spPr>
          <a:xfrm>
            <a:off x="2258571" y="4640210"/>
            <a:ext cx="207724" cy="69241"/>
          </a:xfrm>
          <a:prstGeom prst="rect">
            <a:avLst/>
          </a:prstGeom>
          <a:solidFill>
            <a:srgbClr val="000000"/>
          </a:solidFill>
          <a:ln/>
        </p:spPr>
      </p:sp>
      <p:sp>
        <p:nvSpPr>
          <p:cNvPr id="252" name="Shape 249"/>
          <p:cNvSpPr/>
          <p:nvPr/>
        </p:nvSpPr>
        <p:spPr>
          <a:xfrm>
            <a:off x="2535537" y="4640210"/>
            <a:ext cx="69241" cy="69241"/>
          </a:xfrm>
          <a:prstGeom prst="rect">
            <a:avLst/>
          </a:prstGeom>
          <a:solidFill>
            <a:srgbClr val="000000"/>
          </a:solidFill>
          <a:ln/>
        </p:spPr>
      </p:sp>
      <p:sp>
        <p:nvSpPr>
          <p:cNvPr id="253" name="Shape 250"/>
          <p:cNvSpPr/>
          <p:nvPr/>
        </p:nvSpPr>
        <p:spPr>
          <a:xfrm>
            <a:off x="2674019" y="4640210"/>
            <a:ext cx="415449" cy="69241"/>
          </a:xfrm>
          <a:prstGeom prst="rect">
            <a:avLst/>
          </a:prstGeom>
          <a:solidFill>
            <a:srgbClr val="000000"/>
          </a:solidFill>
          <a:ln/>
        </p:spPr>
      </p:sp>
      <p:sp>
        <p:nvSpPr>
          <p:cNvPr id="254" name="Shape 251"/>
          <p:cNvSpPr/>
          <p:nvPr/>
        </p:nvSpPr>
        <p:spPr>
          <a:xfrm>
            <a:off x="3158710" y="4640210"/>
            <a:ext cx="69241" cy="69241"/>
          </a:xfrm>
          <a:prstGeom prst="rect">
            <a:avLst/>
          </a:prstGeom>
          <a:solidFill>
            <a:srgbClr val="000000"/>
          </a:solidFill>
          <a:ln/>
        </p:spPr>
      </p:sp>
      <p:sp>
        <p:nvSpPr>
          <p:cNvPr id="255" name="Shape 252"/>
          <p:cNvSpPr/>
          <p:nvPr/>
        </p:nvSpPr>
        <p:spPr>
          <a:xfrm>
            <a:off x="3366434" y="4640210"/>
            <a:ext cx="69241" cy="69241"/>
          </a:xfrm>
          <a:prstGeom prst="rect">
            <a:avLst/>
          </a:prstGeom>
          <a:solidFill>
            <a:srgbClr val="000000"/>
          </a:solidFill>
          <a:ln/>
        </p:spPr>
      </p:sp>
      <p:sp>
        <p:nvSpPr>
          <p:cNvPr id="256" name="Shape 253"/>
          <p:cNvSpPr/>
          <p:nvPr/>
        </p:nvSpPr>
        <p:spPr>
          <a:xfrm>
            <a:off x="3712642" y="4640210"/>
            <a:ext cx="207724" cy="69241"/>
          </a:xfrm>
          <a:prstGeom prst="rect">
            <a:avLst/>
          </a:prstGeom>
          <a:solidFill>
            <a:srgbClr val="000000"/>
          </a:solidFill>
          <a:ln/>
        </p:spPr>
      </p:sp>
      <p:sp>
        <p:nvSpPr>
          <p:cNvPr id="257" name="Shape 254"/>
          <p:cNvSpPr/>
          <p:nvPr/>
        </p:nvSpPr>
        <p:spPr>
          <a:xfrm>
            <a:off x="4058849" y="4640210"/>
            <a:ext cx="138483" cy="69241"/>
          </a:xfrm>
          <a:prstGeom prst="rect">
            <a:avLst/>
          </a:prstGeom>
          <a:solidFill>
            <a:srgbClr val="000000"/>
          </a:solidFill>
          <a:ln/>
        </p:spPr>
      </p:sp>
      <p:sp>
        <p:nvSpPr>
          <p:cNvPr id="258" name="Shape 255"/>
          <p:cNvSpPr/>
          <p:nvPr/>
        </p:nvSpPr>
        <p:spPr>
          <a:xfrm>
            <a:off x="4335815" y="4640210"/>
            <a:ext cx="69241" cy="69241"/>
          </a:xfrm>
          <a:prstGeom prst="rect">
            <a:avLst/>
          </a:prstGeom>
          <a:solidFill>
            <a:srgbClr val="000000"/>
          </a:solidFill>
          <a:ln/>
        </p:spPr>
      </p:sp>
      <p:sp>
        <p:nvSpPr>
          <p:cNvPr id="259" name="Shape 256"/>
          <p:cNvSpPr/>
          <p:nvPr/>
        </p:nvSpPr>
        <p:spPr>
          <a:xfrm>
            <a:off x="2120088" y="4709452"/>
            <a:ext cx="69241" cy="69241"/>
          </a:xfrm>
          <a:prstGeom prst="rect">
            <a:avLst/>
          </a:prstGeom>
          <a:solidFill>
            <a:srgbClr val="000000"/>
          </a:solidFill>
          <a:ln/>
        </p:spPr>
      </p:sp>
      <p:sp>
        <p:nvSpPr>
          <p:cNvPr id="260" name="Shape 257"/>
          <p:cNvSpPr/>
          <p:nvPr/>
        </p:nvSpPr>
        <p:spPr>
          <a:xfrm>
            <a:off x="2258571" y="4709452"/>
            <a:ext cx="207724" cy="69241"/>
          </a:xfrm>
          <a:prstGeom prst="rect">
            <a:avLst/>
          </a:prstGeom>
          <a:solidFill>
            <a:srgbClr val="000000"/>
          </a:solidFill>
          <a:ln/>
        </p:spPr>
      </p:sp>
      <p:sp>
        <p:nvSpPr>
          <p:cNvPr id="261" name="Shape 258"/>
          <p:cNvSpPr/>
          <p:nvPr/>
        </p:nvSpPr>
        <p:spPr>
          <a:xfrm>
            <a:off x="2535537" y="4709452"/>
            <a:ext cx="69241" cy="69241"/>
          </a:xfrm>
          <a:prstGeom prst="rect">
            <a:avLst/>
          </a:prstGeom>
          <a:solidFill>
            <a:srgbClr val="000000"/>
          </a:solidFill>
          <a:ln/>
        </p:spPr>
      </p:sp>
      <p:sp>
        <p:nvSpPr>
          <p:cNvPr id="262" name="Shape 259"/>
          <p:cNvSpPr/>
          <p:nvPr/>
        </p:nvSpPr>
        <p:spPr>
          <a:xfrm>
            <a:off x="2674019" y="4709452"/>
            <a:ext cx="69241" cy="69241"/>
          </a:xfrm>
          <a:prstGeom prst="rect">
            <a:avLst/>
          </a:prstGeom>
          <a:solidFill>
            <a:srgbClr val="000000"/>
          </a:solidFill>
          <a:ln/>
        </p:spPr>
      </p:sp>
      <p:sp>
        <p:nvSpPr>
          <p:cNvPr id="263" name="Shape 260"/>
          <p:cNvSpPr/>
          <p:nvPr/>
        </p:nvSpPr>
        <p:spPr>
          <a:xfrm>
            <a:off x="2812502" y="4709452"/>
            <a:ext cx="69241" cy="69241"/>
          </a:xfrm>
          <a:prstGeom prst="rect">
            <a:avLst/>
          </a:prstGeom>
          <a:solidFill>
            <a:srgbClr val="000000"/>
          </a:solidFill>
          <a:ln/>
        </p:spPr>
      </p:sp>
      <p:sp>
        <p:nvSpPr>
          <p:cNvPr id="264" name="Shape 261"/>
          <p:cNvSpPr/>
          <p:nvPr/>
        </p:nvSpPr>
        <p:spPr>
          <a:xfrm>
            <a:off x="3020227" y="4709452"/>
            <a:ext cx="69241" cy="69241"/>
          </a:xfrm>
          <a:prstGeom prst="rect">
            <a:avLst/>
          </a:prstGeom>
          <a:solidFill>
            <a:srgbClr val="000000"/>
          </a:solidFill>
          <a:ln/>
        </p:spPr>
      </p:sp>
      <p:sp>
        <p:nvSpPr>
          <p:cNvPr id="265" name="Shape 262"/>
          <p:cNvSpPr/>
          <p:nvPr/>
        </p:nvSpPr>
        <p:spPr>
          <a:xfrm>
            <a:off x="3158710" y="4709452"/>
            <a:ext cx="138483" cy="69241"/>
          </a:xfrm>
          <a:prstGeom prst="rect">
            <a:avLst/>
          </a:prstGeom>
          <a:solidFill>
            <a:srgbClr val="000000"/>
          </a:solidFill>
          <a:ln/>
        </p:spPr>
      </p:sp>
      <p:sp>
        <p:nvSpPr>
          <p:cNvPr id="266" name="Shape 263"/>
          <p:cNvSpPr/>
          <p:nvPr/>
        </p:nvSpPr>
        <p:spPr>
          <a:xfrm>
            <a:off x="3366434" y="4709452"/>
            <a:ext cx="69241" cy="69241"/>
          </a:xfrm>
          <a:prstGeom prst="rect">
            <a:avLst/>
          </a:prstGeom>
          <a:solidFill>
            <a:srgbClr val="000000"/>
          </a:solidFill>
          <a:ln/>
        </p:spPr>
      </p:sp>
      <p:sp>
        <p:nvSpPr>
          <p:cNvPr id="267" name="Shape 264"/>
          <p:cNvSpPr/>
          <p:nvPr/>
        </p:nvSpPr>
        <p:spPr>
          <a:xfrm>
            <a:off x="3504917" y="4709452"/>
            <a:ext cx="69241" cy="69241"/>
          </a:xfrm>
          <a:prstGeom prst="rect">
            <a:avLst/>
          </a:prstGeom>
          <a:solidFill>
            <a:srgbClr val="000000"/>
          </a:solidFill>
          <a:ln/>
        </p:spPr>
      </p:sp>
      <p:sp>
        <p:nvSpPr>
          <p:cNvPr id="268" name="Shape 265"/>
          <p:cNvSpPr/>
          <p:nvPr/>
        </p:nvSpPr>
        <p:spPr>
          <a:xfrm>
            <a:off x="3643400" y="4709452"/>
            <a:ext cx="69241" cy="69241"/>
          </a:xfrm>
          <a:prstGeom prst="rect">
            <a:avLst/>
          </a:prstGeom>
          <a:solidFill>
            <a:srgbClr val="000000"/>
          </a:solidFill>
          <a:ln/>
        </p:spPr>
      </p:sp>
      <p:sp>
        <p:nvSpPr>
          <p:cNvPr id="269" name="Shape 266"/>
          <p:cNvSpPr/>
          <p:nvPr/>
        </p:nvSpPr>
        <p:spPr>
          <a:xfrm>
            <a:off x="3920366" y="4709452"/>
            <a:ext cx="138483" cy="69241"/>
          </a:xfrm>
          <a:prstGeom prst="rect">
            <a:avLst/>
          </a:prstGeom>
          <a:solidFill>
            <a:srgbClr val="000000"/>
          </a:solidFill>
          <a:ln/>
        </p:spPr>
      </p:sp>
      <p:sp>
        <p:nvSpPr>
          <p:cNvPr id="270" name="Shape 267"/>
          <p:cNvSpPr/>
          <p:nvPr/>
        </p:nvSpPr>
        <p:spPr>
          <a:xfrm>
            <a:off x="4128090" y="4709452"/>
            <a:ext cx="69241" cy="69241"/>
          </a:xfrm>
          <a:prstGeom prst="rect">
            <a:avLst/>
          </a:prstGeom>
          <a:solidFill>
            <a:srgbClr val="000000"/>
          </a:solidFill>
          <a:ln/>
        </p:spPr>
      </p:sp>
      <p:sp>
        <p:nvSpPr>
          <p:cNvPr id="271" name="Shape 268"/>
          <p:cNvSpPr/>
          <p:nvPr/>
        </p:nvSpPr>
        <p:spPr>
          <a:xfrm>
            <a:off x="2120088" y="4778693"/>
            <a:ext cx="69241" cy="69241"/>
          </a:xfrm>
          <a:prstGeom prst="rect">
            <a:avLst/>
          </a:prstGeom>
          <a:solidFill>
            <a:srgbClr val="000000"/>
          </a:solidFill>
          <a:ln/>
        </p:spPr>
      </p:sp>
      <p:sp>
        <p:nvSpPr>
          <p:cNvPr id="272" name="Shape 269"/>
          <p:cNvSpPr/>
          <p:nvPr/>
        </p:nvSpPr>
        <p:spPr>
          <a:xfrm>
            <a:off x="2535537" y="4778693"/>
            <a:ext cx="69241" cy="69241"/>
          </a:xfrm>
          <a:prstGeom prst="rect">
            <a:avLst/>
          </a:prstGeom>
          <a:solidFill>
            <a:srgbClr val="000000"/>
          </a:solidFill>
          <a:ln/>
        </p:spPr>
      </p:sp>
      <p:sp>
        <p:nvSpPr>
          <p:cNvPr id="273" name="Shape 270"/>
          <p:cNvSpPr/>
          <p:nvPr/>
        </p:nvSpPr>
        <p:spPr>
          <a:xfrm>
            <a:off x="2743261" y="4778693"/>
            <a:ext cx="276966" cy="69241"/>
          </a:xfrm>
          <a:prstGeom prst="rect">
            <a:avLst/>
          </a:prstGeom>
          <a:solidFill>
            <a:srgbClr val="000000"/>
          </a:solidFill>
          <a:ln/>
        </p:spPr>
      </p:sp>
      <p:sp>
        <p:nvSpPr>
          <p:cNvPr id="274" name="Shape 271"/>
          <p:cNvSpPr/>
          <p:nvPr/>
        </p:nvSpPr>
        <p:spPr>
          <a:xfrm>
            <a:off x="3158710" y="4778693"/>
            <a:ext cx="69241" cy="69241"/>
          </a:xfrm>
          <a:prstGeom prst="rect">
            <a:avLst/>
          </a:prstGeom>
          <a:solidFill>
            <a:srgbClr val="000000"/>
          </a:solidFill>
          <a:ln/>
        </p:spPr>
      </p:sp>
      <p:sp>
        <p:nvSpPr>
          <p:cNvPr id="275" name="Shape 272"/>
          <p:cNvSpPr/>
          <p:nvPr/>
        </p:nvSpPr>
        <p:spPr>
          <a:xfrm>
            <a:off x="3366434" y="4778693"/>
            <a:ext cx="69241" cy="69241"/>
          </a:xfrm>
          <a:prstGeom prst="rect">
            <a:avLst/>
          </a:prstGeom>
          <a:solidFill>
            <a:srgbClr val="000000"/>
          </a:solidFill>
          <a:ln/>
        </p:spPr>
      </p:sp>
      <p:sp>
        <p:nvSpPr>
          <p:cNvPr id="276" name="Shape 273"/>
          <p:cNvSpPr/>
          <p:nvPr/>
        </p:nvSpPr>
        <p:spPr>
          <a:xfrm>
            <a:off x="3574159" y="4778693"/>
            <a:ext cx="138483" cy="69241"/>
          </a:xfrm>
          <a:prstGeom prst="rect">
            <a:avLst/>
          </a:prstGeom>
          <a:solidFill>
            <a:srgbClr val="000000"/>
          </a:solidFill>
          <a:ln/>
        </p:spPr>
      </p:sp>
      <p:sp>
        <p:nvSpPr>
          <p:cNvPr id="277" name="Shape 274"/>
          <p:cNvSpPr/>
          <p:nvPr/>
        </p:nvSpPr>
        <p:spPr>
          <a:xfrm>
            <a:off x="3851125" y="4778693"/>
            <a:ext cx="69241" cy="69241"/>
          </a:xfrm>
          <a:prstGeom prst="rect">
            <a:avLst/>
          </a:prstGeom>
          <a:solidFill>
            <a:srgbClr val="000000"/>
          </a:solidFill>
          <a:ln/>
        </p:spPr>
      </p:sp>
      <p:sp>
        <p:nvSpPr>
          <p:cNvPr id="278" name="Shape 275"/>
          <p:cNvSpPr/>
          <p:nvPr/>
        </p:nvSpPr>
        <p:spPr>
          <a:xfrm>
            <a:off x="4058849" y="4778693"/>
            <a:ext cx="207724" cy="69241"/>
          </a:xfrm>
          <a:prstGeom prst="rect">
            <a:avLst/>
          </a:prstGeom>
          <a:solidFill>
            <a:srgbClr val="000000"/>
          </a:solidFill>
          <a:ln/>
        </p:spPr>
      </p:sp>
      <p:sp>
        <p:nvSpPr>
          <p:cNvPr id="279" name="Shape 276"/>
          <p:cNvSpPr/>
          <p:nvPr/>
        </p:nvSpPr>
        <p:spPr>
          <a:xfrm>
            <a:off x="2120088" y="4847935"/>
            <a:ext cx="484690" cy="69241"/>
          </a:xfrm>
          <a:prstGeom prst="rect">
            <a:avLst/>
          </a:prstGeom>
          <a:solidFill>
            <a:srgbClr val="000000"/>
          </a:solidFill>
          <a:ln/>
        </p:spPr>
      </p:sp>
      <p:sp>
        <p:nvSpPr>
          <p:cNvPr id="280" name="Shape 277"/>
          <p:cNvSpPr/>
          <p:nvPr/>
        </p:nvSpPr>
        <p:spPr>
          <a:xfrm>
            <a:off x="2674019" y="4847935"/>
            <a:ext cx="69241" cy="69241"/>
          </a:xfrm>
          <a:prstGeom prst="rect">
            <a:avLst/>
          </a:prstGeom>
          <a:solidFill>
            <a:srgbClr val="000000"/>
          </a:solidFill>
          <a:ln/>
        </p:spPr>
      </p:sp>
      <p:sp>
        <p:nvSpPr>
          <p:cNvPr id="281" name="Shape 278"/>
          <p:cNvSpPr/>
          <p:nvPr/>
        </p:nvSpPr>
        <p:spPr>
          <a:xfrm>
            <a:off x="2881744" y="4847935"/>
            <a:ext cx="69241" cy="69241"/>
          </a:xfrm>
          <a:prstGeom prst="rect">
            <a:avLst/>
          </a:prstGeom>
          <a:solidFill>
            <a:srgbClr val="000000"/>
          </a:solidFill>
          <a:ln/>
        </p:spPr>
      </p:sp>
      <p:sp>
        <p:nvSpPr>
          <p:cNvPr id="282" name="Shape 279"/>
          <p:cNvSpPr/>
          <p:nvPr/>
        </p:nvSpPr>
        <p:spPr>
          <a:xfrm>
            <a:off x="3089468" y="4847935"/>
            <a:ext cx="138483" cy="69241"/>
          </a:xfrm>
          <a:prstGeom prst="rect">
            <a:avLst/>
          </a:prstGeom>
          <a:solidFill>
            <a:srgbClr val="000000"/>
          </a:solidFill>
          <a:ln/>
        </p:spPr>
      </p:sp>
      <p:sp>
        <p:nvSpPr>
          <p:cNvPr id="283" name="Shape 280"/>
          <p:cNvSpPr/>
          <p:nvPr/>
        </p:nvSpPr>
        <p:spPr>
          <a:xfrm>
            <a:off x="3297193" y="4847935"/>
            <a:ext cx="69241" cy="69241"/>
          </a:xfrm>
          <a:prstGeom prst="rect">
            <a:avLst/>
          </a:prstGeom>
          <a:solidFill>
            <a:srgbClr val="000000"/>
          </a:solidFill>
          <a:ln/>
        </p:spPr>
      </p:sp>
      <p:sp>
        <p:nvSpPr>
          <p:cNvPr id="284" name="Shape 281"/>
          <p:cNvSpPr/>
          <p:nvPr/>
        </p:nvSpPr>
        <p:spPr>
          <a:xfrm>
            <a:off x="3643400" y="4847935"/>
            <a:ext cx="276966" cy="69241"/>
          </a:xfrm>
          <a:prstGeom prst="rect">
            <a:avLst/>
          </a:prstGeom>
          <a:solidFill>
            <a:srgbClr val="000000"/>
          </a:solidFill>
          <a:ln/>
        </p:spPr>
      </p:sp>
      <p:sp>
        <p:nvSpPr>
          <p:cNvPr id="285" name="Shape 282"/>
          <p:cNvSpPr/>
          <p:nvPr/>
        </p:nvSpPr>
        <p:spPr>
          <a:xfrm>
            <a:off x="3989608" y="4847935"/>
            <a:ext cx="69241" cy="69241"/>
          </a:xfrm>
          <a:prstGeom prst="rect">
            <a:avLst/>
          </a:prstGeom>
          <a:solidFill>
            <a:srgbClr val="000000"/>
          </a:solidFill>
          <a:ln/>
        </p:spPr>
      </p:sp>
      <p:sp>
        <p:nvSpPr>
          <p:cNvPr id="286" name="Shape 283"/>
          <p:cNvSpPr/>
          <p:nvPr/>
        </p:nvSpPr>
        <p:spPr>
          <a:xfrm>
            <a:off x="4128090" y="4847935"/>
            <a:ext cx="69241" cy="69241"/>
          </a:xfrm>
          <a:prstGeom prst="rect">
            <a:avLst/>
          </a:prstGeom>
          <a:solidFill>
            <a:srgbClr val="000000"/>
          </a:solidFill>
          <a:ln/>
        </p:spPr>
      </p:sp>
      <p:sp>
        <p:nvSpPr>
          <p:cNvPr id="287" name="Shape 284"/>
          <p:cNvSpPr/>
          <p:nvPr/>
        </p:nvSpPr>
        <p:spPr>
          <a:xfrm>
            <a:off x="4266573" y="4847935"/>
            <a:ext cx="69241" cy="69241"/>
          </a:xfrm>
          <a:prstGeom prst="rect">
            <a:avLst/>
          </a:prstGeom>
          <a:solidFill>
            <a:srgbClr val="000000"/>
          </a:solidFill>
          <a:ln/>
        </p:spPr>
      </p:sp>
      <p:sp>
        <p:nvSpPr>
          <p:cNvPr id="288" name="Caption"/>
          <p:cNvSpPr txBox="1"/>
          <p:nvPr/>
        </p:nvSpPr>
        <p:spPr>
          <a:xfrm>
            <a:off x="685800" y="5489568"/>
            <a:ext cx="5143652" cy="21717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Scan for the slides and demo code</a:t>
            </a:r>
            <a:endParaRPr lang="en-US" sz="1425" dirty="0"/>
          </a:p>
        </p:txBody>
      </p:sp>
      <p:sp>
        <p:nvSpPr>
          <p:cNvPr id="289" name="Shape 286"/>
          <p:cNvSpPr/>
          <p:nvPr/>
        </p:nvSpPr>
        <p:spPr>
          <a:xfrm>
            <a:off x="6362548" y="2286000"/>
            <a:ext cx="5143652" cy="0"/>
          </a:xfrm>
          <a:prstGeom prst="line">
            <a:avLst/>
          </a:prstGeom>
          <a:noFill/>
          <a:ln w="9525">
            <a:solidFill>
              <a:srgbClr val="D3D9D2"/>
            </a:solidFill>
            <a:prstDash val="solid"/>
          </a:ln>
        </p:spPr>
      </p:sp>
      <p:sp>
        <p:nvSpPr>
          <p:cNvPr id="290" name="Fact label"/>
          <p:cNvSpPr txBox="1"/>
          <p:nvPr/>
        </p:nvSpPr>
        <p:spPr>
          <a:xfrm>
            <a:off x="6362548" y="244144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INSTALL</a:t>
            </a:r>
            <a:endParaRPr lang="en-US" sz="1050" dirty="0"/>
          </a:p>
        </p:txBody>
      </p:sp>
      <p:sp>
        <p:nvSpPr>
          <p:cNvPr id="291" name="Fact"/>
          <p:cNvSpPr txBox="1"/>
          <p:nvPr/>
        </p:nvSpPr>
        <p:spPr>
          <a:xfrm>
            <a:off x="7962748" y="2414016"/>
            <a:ext cx="3543452"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Docker (running, Compose v2) · Terraform ≥ 1.5 · AWS CLI</a:t>
            </a:r>
            <a:endParaRPr lang="en-US" sz="1650" dirty="0"/>
          </a:p>
        </p:txBody>
      </p:sp>
      <p:sp>
        <p:nvSpPr>
          <p:cNvPr id="292" name="Shape 289"/>
          <p:cNvSpPr/>
          <p:nvPr/>
        </p:nvSpPr>
        <p:spPr>
          <a:xfrm>
            <a:off x="6362548" y="3072384"/>
            <a:ext cx="5143652" cy="0"/>
          </a:xfrm>
          <a:prstGeom prst="line">
            <a:avLst/>
          </a:prstGeom>
          <a:noFill/>
          <a:ln w="9525">
            <a:solidFill>
              <a:srgbClr val="D3D9D2"/>
            </a:solidFill>
            <a:prstDash val="solid"/>
          </a:ln>
        </p:spPr>
      </p:sp>
      <p:sp>
        <p:nvSpPr>
          <p:cNvPr id="293" name="Fact label"/>
          <p:cNvSpPr txBox="1"/>
          <p:nvPr/>
        </p:nvSpPr>
        <p:spPr>
          <a:xfrm>
            <a:off x="6362548" y="322783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LATER STACKS</a:t>
            </a:r>
            <a:endParaRPr lang="en-US" sz="1050" dirty="0"/>
          </a:p>
        </p:txBody>
      </p:sp>
      <p:sp>
        <p:nvSpPr>
          <p:cNvPr id="294" name="Fact"/>
          <p:cNvSpPr txBox="1"/>
          <p:nvPr/>
        </p:nvSpPr>
        <p:spPr>
          <a:xfrm>
            <a:off x="7962748" y="3200400"/>
            <a:ext cx="3543452"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Stack 3: Ruby 4.0.5 + Bundler, or just watch.</a:t>
            </a:r>
            <a:endParaRPr lang="en-US" sz="1650" dirty="0"/>
          </a:p>
        </p:txBody>
      </p:sp>
      <p:sp>
        <p:nvSpPr>
          <p:cNvPr id="295" name="Terminal"/>
          <p:cNvSpPr txBox="1"/>
          <p:nvPr/>
        </p:nvSpPr>
        <p:spPr>
          <a:xfrm>
            <a:off x="6362548" y="3920490"/>
            <a:ext cx="5143652" cy="1226484"/>
          </a:xfrm>
          <a:prstGeom prst="roundRect">
            <a:avLst>
              <a:gd name="adj" fmla="val 4473"/>
            </a:avLst>
          </a:prstGeom>
          <a:solidFill>
            <a:schemeClr val="tx1"/>
          </a:solidFill>
          <a:ln/>
        </p:spPr>
        <p:txBody>
          <a:bodyPr wrap="square" lIns="246888" tIns="246888" rIns="246888" bIns="246888" rtlCol="0" anchor="t"/>
          <a:lstStyle/>
          <a:p>
            <a:pPr indent="0" marL="0">
              <a:lnSpc>
                <a:spcPct val="105000"/>
              </a:lnSpc>
              <a:buNone/>
            </a:pPr>
            <a:r>
              <a:rPr lang="en-US" sz="1109"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109" dirty="0">
                <a:solidFill>
                  <a:schemeClr val="bg2"/>
                </a:solidFill>
                <a:latin typeface="Courier New" pitchFamily="34" charset="0"/>
                <a:ea typeface="Courier New" pitchFamily="34" charset="-122"/>
                <a:cs typeface="Courier New" pitchFamily="34" charset="-120"/>
              </a:rPr>
              <a:t> git clone https://github.com/raysapida/terraform_demo</a:t>
            </a:r>
            <a:endParaRPr lang="en-US" sz="1109" dirty="0"/>
          </a:p>
          <a:p>
            <a:pPr indent="0" marL="0">
              <a:lnSpc>
                <a:spcPct val="105000"/>
              </a:lnSpc>
              <a:buNone/>
            </a:pPr>
            <a:r>
              <a:rPr lang="en-US" sz="1109"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109" dirty="0">
                <a:solidFill>
                  <a:schemeClr val="bg2"/>
                </a:solidFill>
                <a:latin typeface="Courier New" pitchFamily="34" charset="0"/>
                <a:ea typeface="Courier New" pitchFamily="34" charset="-122"/>
                <a:cs typeface="Courier New" pitchFamily="34" charset="-120"/>
              </a:rPr>
              <a:t> cd terraform_demo</a:t>
            </a:r>
            <a:endParaRPr lang="en-US" sz="1109" dirty="0"/>
          </a:p>
          <a:p>
            <a:pPr indent="0" marL="0">
              <a:lnSpc>
                <a:spcPct val="105000"/>
              </a:lnSpc>
              <a:buNone/>
            </a:pPr>
            <a:r>
              <a:rPr lang="en-US" sz="1109"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109" dirty="0">
                <a:solidFill>
                  <a:schemeClr val="bg2"/>
                </a:solidFill>
                <a:latin typeface="Courier New" pitchFamily="34" charset="0"/>
                <a:ea typeface="Courier New" pitchFamily="34" charset="-122"/>
                <a:cs typeface="Courier New" pitchFamily="34" charset="-120"/>
              </a:rPr>
              <a:t> make doctor</a:t>
            </a:r>
            <a:endParaRPr lang="en-US" sz="1109" dirty="0"/>
          </a:p>
          <a:p>
            <a:pPr indent="0" marL="0">
              <a:lnSpc>
                <a:spcPct val="105000"/>
              </a:lnSpc>
              <a:buNone/>
            </a:pPr>
            <a:r>
              <a:rPr lang="en-US" sz="1109"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109" dirty="0">
                <a:solidFill>
                  <a:schemeClr val="bg2"/>
                </a:solidFill>
                <a:latin typeface="Courier New" pitchFamily="34" charset="0"/>
                <a:ea typeface="Courier New" pitchFamily="34" charset="-122"/>
                <a:cs typeface="Courier New" pitchFamily="34" charset="-120"/>
              </a:rPr>
              <a:t> make prepare</a:t>
            </a:r>
            <a:endParaRPr lang="en-US" sz="1109" dirty="0"/>
          </a:p>
        </p:txBody>
      </p:sp>
      <p:sp>
        <p:nvSpPr>
          <p:cNvPr id="296" name="Text 293"/>
          <p:cNvSpPr txBox="1"/>
          <p:nvPr/>
        </p:nvSpPr>
        <p:spPr>
          <a:xfrm>
            <a:off x="6362548" y="5318424"/>
            <a:ext cx="5143652" cy="41148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Leave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make prepare</a:t>
            </a:r>
            <a:pPr indent="0" marL="0">
              <a:lnSpc>
                <a:spcPct val="100000"/>
              </a:lnSpc>
              <a:buNone/>
            </a:pPr>
            <a:r>
              <a:rPr lang="en-US" sz="1350" dirty="0">
                <a:solidFill>
                  <a:schemeClr val="tx2"/>
                </a:solidFill>
                <a:latin typeface="Arial" pitchFamily="34" charset="0"/>
                <a:ea typeface="Arial" pitchFamily="34" charset="-122"/>
                <a:cs typeface="Arial" pitchFamily="34" charset="-120"/>
              </a:rPr>
              <a:t> running while we go through deployment. It starts Floci and downloads the demo images.</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ROAD HERE</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Where I'm coming from</a:t>
            </a:r>
            <a:endParaRPr lang="en-US" sz="3600" dirty="0"/>
          </a:p>
        </p:txBody>
      </p:sp>
      <p:sp>
        <p:nvSpPr>
          <p:cNvPr id="5" name="Bullets"/>
          <p:cNvSpPr txBox="1"/>
          <p:nvPr/>
        </p:nvSpPr>
        <p:spPr>
          <a:xfrm>
            <a:off x="685800" y="1645920"/>
            <a:ext cx="10820400" cy="1801368"/>
          </a:xfrm>
          <a:prstGeom prst="rect">
            <a:avLst/>
          </a:prstGeom>
          <a:noFill/>
          <a:ln/>
        </p:spPr>
        <p:txBody>
          <a:bodyPr wrap="square" lIns="0" tIns="0" rIns="0" bIns="0" rtlCol="0" anchor="t"/>
          <a:lstStyle/>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Full-stack developer who had to learn the infrastructure underneath my apps.</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Mostly self-taught but with mentors</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Primary background working with an ecommerce SaaS in Rails</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Agency work with small environments of different ages and levels of maintenance.</a:t>
            </a:r>
            <a:endParaRPr lang="en-US" sz="19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1 / 7 · START WITH A PLATFORM</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Heroku handled the deployment for me</a:t>
            </a:r>
            <a:endParaRPr lang="en-US" sz="3600" dirty="0"/>
          </a:p>
        </p:txBody>
      </p:sp>
      <p:sp>
        <p:nvSpPr>
          <p:cNvPr id="5" name="Terminal"/>
          <p:cNvSpPr txBox="1"/>
          <p:nvPr/>
        </p:nvSpPr>
        <p:spPr>
          <a:xfrm>
            <a:off x="685800" y="1645920"/>
            <a:ext cx="10820400" cy="729044"/>
          </a:xfrm>
          <a:prstGeom prst="roundRect">
            <a:avLst>
              <a:gd name="adj" fmla="val 7525"/>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git push heroku main</a:t>
            </a:r>
            <a:endParaRPr lang="en-US" sz="1425" dirty="0"/>
          </a:p>
        </p:txBody>
      </p:sp>
      <p:sp>
        <p:nvSpPr>
          <p:cNvPr id="6" name="Lede"/>
          <p:cNvSpPr txBox="1"/>
          <p:nvPr/>
        </p:nvSpPr>
        <p:spPr>
          <a:xfrm>
            <a:off x="685800" y="2603564"/>
            <a:ext cx="8001000" cy="64008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Once the app and Git remote were configured, the platform handled:</a:t>
            </a:r>
            <a:endParaRPr lang="en-US" sz="2100" dirty="0"/>
          </a:p>
        </p:txBody>
      </p:sp>
      <p:sp>
        <p:nvSpPr>
          <p:cNvPr id="7" name="Bullets"/>
          <p:cNvSpPr txBox="1"/>
          <p:nvPr/>
        </p:nvSpPr>
        <p:spPr>
          <a:xfrm>
            <a:off x="685800" y="3426524"/>
            <a:ext cx="10820400" cy="1330452"/>
          </a:xfrm>
          <a:prstGeom prst="rect">
            <a:avLst/>
          </a:prstGeom>
          <a:noFill/>
          <a:ln/>
        </p:spPr>
        <p:txBody>
          <a:bodyPr wrap="square" lIns="0" tIns="0" rIns="0" bIns="0" rtlCol="0" anchor="t"/>
          <a:lstStyle/>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Preparing the runtime and installing dependencies</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Starting the application and routing requests</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Giving the application a URL</a:t>
            </a:r>
            <a:endParaRPr lang="en-US" sz="19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2 / 7 · LIBRARIES AND SYSTEM TOOLS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code depends on an environment</a:t>
            </a:r>
            <a:endParaRPr lang="en-US" sz="3600" dirty="0"/>
          </a:p>
        </p:txBody>
      </p:sp>
      <p:sp>
        <p:nvSpPr>
          <p:cNvPr id="5" name="Code"/>
          <p:cNvSpPr txBox="1"/>
          <p:nvPr/>
        </p:nvSpPr>
        <p:spPr>
          <a:xfrm>
            <a:off x="685800" y="1645920"/>
            <a:ext cx="5975390" cy="1125284"/>
          </a:xfrm>
          <a:prstGeom prst="roundRect">
            <a:avLst>
              <a:gd name="adj" fmla="val 4876"/>
            </a:avLst>
          </a:prstGeom>
          <a:solidFill>
            <a:srgbClr val="E6EAE4"/>
          </a:solidFill>
          <a:ln/>
        </p:spPr>
        <p:txBody>
          <a:bodyPr wrap="square" lIns="246888" tIns="246888" rIns="246888" bIns="246888" rtlCol="0" anchor="t"/>
          <a:lstStyle/>
          <a:p>
            <a:pPr indent="0" marL="0">
              <a:lnSpc>
                <a:spcPct val="105000"/>
              </a:lnSpc>
              <a:buNone/>
            </a:pPr>
            <a:r>
              <a:rPr lang="en-US" sz="1275" dirty="0">
                <a:solidFill>
                  <a:schemeClr val="tx2"/>
                </a:solidFill>
                <a:latin typeface="Courier New" pitchFamily="34" charset="0"/>
                <a:ea typeface="Courier New" pitchFamily="34" charset="-122"/>
                <a:cs typeface="Courier New" pitchFamily="34" charset="-120"/>
              </a:rPr>
              <a:t># Gemfile: a Ruby dependency</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source "https://rubygems.org"</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gem "mini_magick"</a:t>
            </a:r>
            <a:endParaRPr lang="en-US" sz="1275" dirty="0"/>
          </a:p>
        </p:txBody>
      </p:sp>
      <p:sp>
        <p:nvSpPr>
          <p:cNvPr id="6" name="Text 3"/>
          <p:cNvSpPr txBox="1"/>
          <p:nvPr/>
        </p:nvSpPr>
        <p:spPr>
          <a:xfrm>
            <a:off x="685800" y="2942654"/>
            <a:ext cx="5975390" cy="20574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Commit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Gemfile</a:t>
            </a:r>
            <a:pPr indent="0" marL="0">
              <a:lnSpc>
                <a:spcPct val="100000"/>
              </a:lnSpc>
              <a:buNone/>
            </a:pPr>
            <a:r>
              <a:rPr lang="en-US" sz="1350" dirty="0">
                <a:solidFill>
                  <a:schemeClr val="tx2"/>
                </a:solidFill>
                <a:latin typeface="Arial" pitchFamily="34" charset="0"/>
                <a:ea typeface="Arial" pitchFamily="34" charset="-122"/>
                <a:cs typeface="Arial" pitchFamily="34" charset="-120"/>
              </a:rPr>
              <a:t> and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Gemfile.lock</a:t>
            </a:r>
            <a:pPr indent="0" marL="0">
              <a:lnSpc>
                <a:spcPct val="100000"/>
              </a:lnSpc>
              <a:buNone/>
            </a:pPr>
            <a:r>
              <a:rPr lang="en-US" sz="1350" dirty="0">
                <a:solidFill>
                  <a:schemeClr val="tx2"/>
                </a:solidFill>
                <a:latin typeface="Arial" pitchFamily="34" charset="0"/>
                <a:ea typeface="Arial" pitchFamily="34" charset="-122"/>
                <a:cs typeface="Arial" pitchFamily="34" charset="-120"/>
              </a:rPr>
              <a:t>, like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package.json</a:t>
            </a:r>
            <a:pPr indent="0" marL="0">
              <a:lnSpc>
                <a:spcPct val="100000"/>
              </a:lnSpc>
              <a:buNone/>
            </a:pPr>
            <a:r>
              <a:rPr lang="en-US" sz="1350" dirty="0">
                <a:solidFill>
                  <a:schemeClr val="tx2"/>
                </a:solidFill>
                <a:latin typeface="Arial" pitchFamily="34" charset="0"/>
                <a:ea typeface="Arial" pitchFamily="34" charset="-122"/>
                <a:cs typeface="Arial" pitchFamily="34" charset="-120"/>
              </a:rPr>
              <a:t> and its lockfile.</a:t>
            </a:r>
            <a:endParaRPr lang="en-US" sz="1350" dirty="0"/>
          </a:p>
        </p:txBody>
      </p:sp>
      <p:sp>
        <p:nvSpPr>
          <p:cNvPr id="7" name="Callout"/>
          <p:cNvSpPr txBox="1"/>
          <p:nvPr/>
        </p:nvSpPr>
        <p:spPr>
          <a:xfrm>
            <a:off x="7079985" y="1645920"/>
            <a:ext cx="4426215" cy="50292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Heroku's Ruby buildpack runs </a:t>
            </a:r>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bundle install</a:t>
            </a:r>
            <a:pPr indent="0" marL="0">
              <a:lnSpc>
                <a:spcPct val="100000"/>
              </a:lnSpc>
              <a:buNone/>
            </a:pPr>
            <a:r>
              <a:rPr lang="en-US" sz="1650" dirty="0">
                <a:solidFill>
                  <a:schemeClr val="tx1"/>
                </a:solidFill>
                <a:latin typeface="Arial" pitchFamily="34" charset="0"/>
                <a:ea typeface="Arial" pitchFamily="34" charset="-122"/>
                <a:cs typeface="Arial" pitchFamily="34" charset="-120"/>
              </a:rPr>
              <a:t>.</a:t>
            </a:r>
            <a:endParaRPr lang="en-US" sz="1650" dirty="0"/>
          </a:p>
        </p:txBody>
      </p:sp>
      <p:sp>
        <p:nvSpPr>
          <p:cNvPr id="8" name="Callout"/>
          <p:cNvSpPr txBox="1"/>
          <p:nvPr/>
        </p:nvSpPr>
        <p:spPr>
          <a:xfrm>
            <a:off x="7079985" y="2340864"/>
            <a:ext cx="4426215" cy="754380"/>
          </a:xfrm>
          <a:prstGeom prst="rect">
            <a:avLst/>
          </a:prstGeom>
          <a:noFill/>
          <a:ln/>
        </p:spPr>
        <p:txBody>
          <a:bodyPr wrap="square" lIns="0" tIns="0" rIns="0" bIns="0" rtlCol="0" anchor="t"/>
          <a:lstStyle/>
          <a:p>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mini_magick</a:t>
            </a:r>
            <a:pPr indent="0" marL="0">
              <a:lnSpc>
                <a:spcPct val="100000"/>
              </a:lnSpc>
              <a:buNone/>
            </a:pPr>
            <a:r>
              <a:rPr lang="en-US" sz="1650" dirty="0">
                <a:solidFill>
                  <a:schemeClr val="tx1"/>
                </a:solidFill>
                <a:latin typeface="Arial" pitchFamily="34" charset="0"/>
                <a:ea typeface="Arial" pitchFamily="34" charset="-122"/>
                <a:cs typeface="Arial" pitchFamily="34" charset="-120"/>
              </a:rPr>
              <a:t> is a wrapper. It also needs the </a:t>
            </a:r>
            <a:pPr indent="0" marL="0">
              <a:lnSpc>
                <a:spcPct val="100000"/>
              </a:lnSpc>
              <a:buNone/>
            </a:pPr>
            <a:r>
              <a:rPr lang="en-US" sz="1650" b="1" dirty="0">
                <a:solidFill>
                  <a:schemeClr val="tx1"/>
                </a:solidFill>
                <a:latin typeface="Arial" pitchFamily="34" charset="0"/>
                <a:ea typeface="Arial" pitchFamily="34" charset="-122"/>
                <a:cs typeface="Arial" pitchFamily="34" charset="-120"/>
              </a:rPr>
              <a:t>ImageMagick</a:t>
            </a:r>
            <a:pPr indent="0" marL="0">
              <a:lnSpc>
                <a:spcPct val="100000"/>
              </a:lnSpc>
              <a:buNone/>
            </a:pPr>
            <a:r>
              <a:rPr lang="en-US" sz="1650" dirty="0">
                <a:solidFill>
                  <a:schemeClr val="tx1"/>
                </a:solidFill>
                <a:latin typeface="Arial" pitchFamily="34" charset="0"/>
                <a:ea typeface="Arial" pitchFamily="34" charset="-122"/>
                <a:cs typeface="Arial" pitchFamily="34" charset="-120"/>
              </a:rPr>
              <a:t> program in the environment.</a:t>
            </a:r>
            <a:endParaRPr lang="en-US" sz="1450" dirty="0"/>
          </a:p>
        </p:txBody>
      </p:sp>
      <p:sp>
        <p:nvSpPr>
          <p:cNvPr id="9" name="Callout"/>
          <p:cNvSpPr txBox="1"/>
          <p:nvPr/>
        </p:nvSpPr>
        <p:spPr>
          <a:xfrm>
            <a:off x="7079985" y="3287268"/>
            <a:ext cx="4426215" cy="50292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A dependency list is only part of what makes an app runnable.</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3 / 7 · MAKE THE HIDDEN WORK VISIBLE</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On a bare server, those jobs become yours</a:t>
            </a:r>
            <a:endParaRPr lang="en-US" sz="3600" dirty="0"/>
          </a:p>
        </p:txBody>
      </p:sp>
      <p:sp>
        <p:nvSpPr>
          <p:cNvPr id="5" name="Step number"/>
          <p:cNvSpPr txBox="1"/>
          <p:nvPr/>
        </p:nvSpPr>
        <p:spPr>
          <a:xfrm>
            <a:off x="685800" y="1655064"/>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1</a:t>
            </a:r>
            <a:endParaRPr lang="en-US" sz="1100" dirty="0"/>
          </a:p>
        </p:txBody>
      </p:sp>
      <p:sp>
        <p:nvSpPr>
          <p:cNvPr id="6" name="Step"/>
          <p:cNvSpPr txBox="1"/>
          <p:nvPr/>
        </p:nvSpPr>
        <p:spPr>
          <a:xfrm>
            <a:off x="1143000" y="1645920"/>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Get the code.</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Connect over SSH and clone the repo.</a:t>
            </a:r>
            <a:endParaRPr lang="en-US" sz="1800" dirty="0"/>
          </a:p>
        </p:txBody>
      </p:sp>
      <p:sp>
        <p:nvSpPr>
          <p:cNvPr id="7" name="Step number"/>
          <p:cNvSpPr txBox="1"/>
          <p:nvPr/>
        </p:nvSpPr>
        <p:spPr>
          <a:xfrm>
            <a:off x="685800" y="2103120"/>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8" name="Step"/>
          <p:cNvSpPr txBox="1"/>
          <p:nvPr/>
        </p:nvSpPr>
        <p:spPr>
          <a:xfrm>
            <a:off x="1143000" y="2093976"/>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Install the environment.</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Runtime, libraries, and database connection.</a:t>
            </a:r>
            <a:endParaRPr lang="en-US" sz="1800" dirty="0"/>
          </a:p>
        </p:txBody>
      </p:sp>
      <p:sp>
        <p:nvSpPr>
          <p:cNvPr id="9" name="Step number"/>
          <p:cNvSpPr txBox="1"/>
          <p:nvPr/>
        </p:nvSpPr>
        <p:spPr>
          <a:xfrm>
            <a:off x="685800" y="2551176"/>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10" name="Step"/>
          <p:cNvSpPr txBox="1"/>
          <p:nvPr/>
        </p:nvSpPr>
        <p:spPr>
          <a:xfrm>
            <a:off x="1143000" y="2542032"/>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Start the app.</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For example, Node or Puma on port 3000.</a:t>
            </a:r>
            <a:endParaRPr lang="en-US" sz="1800" dirty="0"/>
          </a:p>
        </p:txBody>
      </p:sp>
      <p:sp>
        <p:nvSpPr>
          <p:cNvPr id="11" name="Step number"/>
          <p:cNvSpPr txBox="1"/>
          <p:nvPr/>
        </p:nvSpPr>
        <p:spPr>
          <a:xfrm>
            <a:off x="685800" y="2999232"/>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12" name="Step"/>
          <p:cNvSpPr txBox="1"/>
          <p:nvPr/>
        </p:nvSpPr>
        <p:spPr>
          <a:xfrm>
            <a:off x="1143000" y="2990088"/>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Route web requests.</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Nginx or Apache in front, handling HTTPS.</a:t>
            </a:r>
            <a:endParaRPr lang="en-US" sz="1800" dirty="0"/>
          </a:p>
        </p:txBody>
      </p:sp>
      <p:sp>
        <p:nvSpPr>
          <p:cNvPr id="13" name="Step number"/>
          <p:cNvSpPr txBox="1"/>
          <p:nvPr/>
        </p:nvSpPr>
        <p:spPr>
          <a:xfrm>
            <a:off x="685800" y="3447288"/>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5</a:t>
            </a:r>
            <a:endParaRPr lang="en-US" sz="1100" dirty="0"/>
          </a:p>
        </p:txBody>
      </p:sp>
      <p:sp>
        <p:nvSpPr>
          <p:cNvPr id="14" name="Step"/>
          <p:cNvSpPr txBox="1"/>
          <p:nvPr/>
        </p:nvSpPr>
        <p:spPr>
          <a:xfrm>
            <a:off x="1143000" y="3438144"/>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Keep it running.</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Restart after a crash or reboot.</a:t>
            </a:r>
            <a:endParaRPr lang="en-US" sz="1800" dirty="0"/>
          </a:p>
        </p:txBody>
      </p:sp>
      <p:sp>
        <p:nvSpPr>
          <p:cNvPr id="15" name="Step number"/>
          <p:cNvSpPr txBox="1"/>
          <p:nvPr/>
        </p:nvSpPr>
        <p:spPr>
          <a:xfrm>
            <a:off x="685800" y="3895344"/>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6</a:t>
            </a:r>
            <a:endParaRPr lang="en-US" sz="1100" dirty="0"/>
          </a:p>
        </p:txBody>
      </p:sp>
      <p:sp>
        <p:nvSpPr>
          <p:cNvPr id="16" name="Step"/>
          <p:cNvSpPr txBox="1"/>
          <p:nvPr/>
        </p:nvSpPr>
        <p:spPr>
          <a:xfrm>
            <a:off x="1143000" y="3886200"/>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Give it a name.</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Point DNS at the endpoint.</a:t>
            </a:r>
            <a:endParaRPr lang="en-US" sz="18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4 / 7 · REPEATABLE COMMANDS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 script writes down the steps</a:t>
            </a:r>
            <a:endParaRPr lang="en-US" sz="3600" dirty="0"/>
          </a:p>
        </p:txBody>
      </p:sp>
      <p:sp>
        <p:nvSpPr>
          <p:cNvPr id="5" name="Code"/>
          <p:cNvSpPr txBox="1"/>
          <p:nvPr/>
        </p:nvSpPr>
        <p:spPr>
          <a:xfrm>
            <a:off x="685800" y="1645920"/>
            <a:ext cx="10820400" cy="2388299"/>
          </a:xfrm>
          <a:prstGeom prst="roundRect">
            <a:avLst>
              <a:gd name="adj" fmla="val 2297"/>
            </a:avLst>
          </a:prstGeom>
          <a:solidFill>
            <a:srgbClr val="E6EAE4"/>
          </a:solidFill>
          <a:ln/>
        </p:spPr>
        <p:txBody>
          <a:bodyPr wrap="square" lIns="246888" tIns="246888" rIns="246888" bIns="246888" rtlCol="0" anchor="t"/>
          <a:lstStyle/>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#!/usr/bin/env bash</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set -euo pipefail</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ssh deploy@myapp.com &lt;&lt;'EOF'</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cd /var/www/myapp</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git pull origin main</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BUNDLE_DEPLOYMENT=1 bundle install   # or npm ci</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bundle exec rake db:migrate        # or npm run migrate</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sudo systemctl restart myapp</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EOF</a:t>
            </a:r>
            <a:endParaRPr lang="en-US" sz="1275" dirty="0"/>
          </a:p>
        </p:txBody>
      </p:sp>
      <p:sp>
        <p:nvSpPr>
          <p:cNvPr id="6" name="Lede"/>
          <p:cNvSpPr txBox="1"/>
          <p:nvPr/>
        </p:nvSpPr>
        <p:spPr>
          <a:xfrm>
            <a:off x="685800" y="4224719"/>
            <a:ext cx="8001000" cy="64008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Now someone else can deploy. But a failed install can leave the live directory half-updated.</a:t>
            </a:r>
            <a:endParaRPr lang="en-US" sz="21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5 / 7 · CAPISTRANO</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Prepare a release before switching to it</a:t>
            </a:r>
            <a:endParaRPr lang="en-US" sz="3600" dirty="0"/>
          </a:p>
        </p:txBody>
      </p:sp>
      <p:sp>
        <p:nvSpPr>
          <p:cNvPr id="5" name="Text 2"/>
          <p:cNvSpPr txBox="1"/>
          <p:nvPr/>
        </p:nvSpPr>
        <p:spPr>
          <a:xfrm>
            <a:off x="685800" y="1684496"/>
            <a:ext cx="272034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while the new release is prepared</a:t>
            </a:r>
            <a:endParaRPr lang="en-US" sz="1125" dirty="0"/>
          </a:p>
        </p:txBody>
      </p:sp>
      <p:sp>
        <p:nvSpPr>
          <p:cNvPr id="6" name="Text 3"/>
          <p:cNvSpPr txBox="1"/>
          <p:nvPr/>
        </p:nvSpPr>
        <p:spPr>
          <a:xfrm>
            <a:off x="6362700" y="1684496"/>
            <a:ext cx="237744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after one step: flip current</a:t>
            </a:r>
            <a:endParaRPr lang="en-US" sz="1125" dirty="0"/>
          </a:p>
        </p:txBody>
      </p:sp>
      <p:sp>
        <p:nvSpPr>
          <p:cNvPr id="7" name="Shape 4"/>
          <p:cNvSpPr/>
          <p:nvPr/>
        </p:nvSpPr>
        <p:spPr>
          <a:xfrm>
            <a:off x="685800" y="2827020"/>
            <a:ext cx="1428750" cy="609600"/>
          </a:xfrm>
          <a:prstGeom prst="roundRect">
            <a:avLst>
              <a:gd name="adj" fmla="val 9375"/>
            </a:avLst>
          </a:prstGeom>
          <a:solidFill>
            <a:schemeClr val="accent2">
              <a:alpha val="10000"/>
            </a:schemeClr>
          </a:solidFill>
          <a:ln w="19050">
            <a:solidFill>
              <a:schemeClr val="accent2"/>
            </a:solidFill>
            <a:prstDash val="solid"/>
          </a:ln>
        </p:spPr>
      </p:sp>
      <p:sp>
        <p:nvSpPr>
          <p:cNvPr id="8" name="Text 5"/>
          <p:cNvSpPr txBox="1"/>
          <p:nvPr/>
        </p:nvSpPr>
        <p:spPr>
          <a:xfrm>
            <a:off x="818198" y="3021330"/>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current</a:t>
            </a:r>
            <a:endParaRPr lang="en-US" sz="1500" dirty="0"/>
          </a:p>
        </p:txBody>
      </p:sp>
      <p:sp>
        <p:nvSpPr>
          <p:cNvPr id="9" name="Shape 6"/>
          <p:cNvSpPr/>
          <p:nvPr/>
        </p:nvSpPr>
        <p:spPr>
          <a:xfrm>
            <a:off x="3181350" y="2065020"/>
            <a:ext cx="2628900" cy="666750"/>
          </a:xfrm>
          <a:prstGeom prst="roundRect">
            <a:avLst>
              <a:gd name="adj" fmla="val 8571"/>
            </a:avLst>
          </a:prstGeom>
          <a:solidFill>
            <a:schemeClr val="accent3">
              <a:alpha val="10000"/>
            </a:schemeClr>
          </a:solidFill>
          <a:ln w="19050">
            <a:solidFill>
              <a:schemeClr val="accent3"/>
            </a:solidFill>
            <a:prstDash val="solid"/>
          </a:ln>
        </p:spPr>
      </p:sp>
      <p:sp>
        <p:nvSpPr>
          <p:cNvPr id="10" name="Text 7"/>
          <p:cNvSpPr txBox="1"/>
          <p:nvPr/>
        </p:nvSpPr>
        <p:spPr>
          <a:xfrm>
            <a:off x="3347085" y="2245805"/>
            <a:ext cx="229743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releases/20261001120000</a:t>
            </a:r>
            <a:endParaRPr lang="en-US" sz="1050" dirty="0"/>
          </a:p>
        </p:txBody>
      </p:sp>
      <p:sp>
        <p:nvSpPr>
          <p:cNvPr id="11" name="Text 8"/>
          <p:cNvSpPr txBox="1"/>
          <p:nvPr/>
        </p:nvSpPr>
        <p:spPr>
          <a:xfrm>
            <a:off x="4130040" y="2465546"/>
            <a:ext cx="7315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live</a:t>
            </a:r>
            <a:endParaRPr lang="en-US" sz="1125" dirty="0"/>
          </a:p>
        </p:txBody>
      </p:sp>
      <p:sp>
        <p:nvSpPr>
          <p:cNvPr id="12" name="Shape 9"/>
          <p:cNvSpPr/>
          <p:nvPr/>
        </p:nvSpPr>
        <p:spPr>
          <a:xfrm>
            <a:off x="3181350" y="3303270"/>
            <a:ext cx="2628900" cy="666750"/>
          </a:xfrm>
          <a:prstGeom prst="roundRect">
            <a:avLst>
              <a:gd name="adj" fmla="val 8571"/>
            </a:avLst>
          </a:prstGeom>
          <a:ln w="19050">
            <a:solidFill>
              <a:schemeClr val="tx2"/>
            </a:solidFill>
            <a:prstDash val="dash"/>
          </a:ln>
        </p:spPr>
      </p:sp>
      <p:sp>
        <p:nvSpPr>
          <p:cNvPr id="13" name="Text 10"/>
          <p:cNvSpPr txBox="1"/>
          <p:nvPr/>
        </p:nvSpPr>
        <p:spPr>
          <a:xfrm>
            <a:off x="3347085" y="3484054"/>
            <a:ext cx="229743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releases/20261003090000</a:t>
            </a:r>
            <a:endParaRPr lang="en-US" sz="1050" dirty="0"/>
          </a:p>
        </p:txBody>
      </p:sp>
      <p:sp>
        <p:nvSpPr>
          <p:cNvPr id="14" name="Text 11"/>
          <p:cNvSpPr txBox="1"/>
          <p:nvPr/>
        </p:nvSpPr>
        <p:spPr>
          <a:xfrm>
            <a:off x="3375660" y="3703796"/>
            <a:ext cx="22402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being prepared, next to it</a:t>
            </a:r>
            <a:endParaRPr lang="en-US" sz="1125" dirty="0"/>
          </a:p>
        </p:txBody>
      </p:sp>
      <p:sp>
        <p:nvSpPr>
          <p:cNvPr id="15" name="Shape 12"/>
          <p:cNvSpPr/>
          <p:nvPr/>
        </p:nvSpPr>
        <p:spPr>
          <a:xfrm flipV="1">
            <a:off x="2114550" y="2465070"/>
            <a:ext cx="1028700" cy="552450"/>
          </a:xfrm>
          <a:prstGeom prst="line">
            <a:avLst/>
          </a:prstGeom>
          <a:noFill/>
          <a:ln w="19050">
            <a:solidFill>
              <a:schemeClr val="tx1"/>
            </a:solidFill>
            <a:prstDash val="solid"/>
            <a:tailEnd type="triangle"/>
          </a:ln>
        </p:spPr>
      </p:sp>
      <p:sp>
        <p:nvSpPr>
          <p:cNvPr id="16" name="Shape 13"/>
          <p:cNvSpPr/>
          <p:nvPr/>
        </p:nvSpPr>
        <p:spPr>
          <a:xfrm>
            <a:off x="6362700" y="2827020"/>
            <a:ext cx="1428750" cy="609600"/>
          </a:xfrm>
          <a:prstGeom prst="roundRect">
            <a:avLst>
              <a:gd name="adj" fmla="val 9375"/>
            </a:avLst>
          </a:prstGeom>
          <a:solidFill>
            <a:schemeClr val="accent2">
              <a:alpha val="10000"/>
            </a:schemeClr>
          </a:solidFill>
          <a:ln w="19050">
            <a:solidFill>
              <a:schemeClr val="accent2"/>
            </a:solidFill>
            <a:prstDash val="solid"/>
          </a:ln>
        </p:spPr>
      </p:sp>
      <p:sp>
        <p:nvSpPr>
          <p:cNvPr id="17" name="Text 14"/>
          <p:cNvSpPr txBox="1"/>
          <p:nvPr/>
        </p:nvSpPr>
        <p:spPr>
          <a:xfrm>
            <a:off x="6495097" y="3021330"/>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current</a:t>
            </a:r>
            <a:endParaRPr lang="en-US" sz="1500" dirty="0"/>
          </a:p>
        </p:txBody>
      </p:sp>
      <p:sp>
        <p:nvSpPr>
          <p:cNvPr id="18" name="Shape 15"/>
          <p:cNvSpPr/>
          <p:nvPr/>
        </p:nvSpPr>
        <p:spPr>
          <a:xfrm>
            <a:off x="8858250" y="2065020"/>
            <a:ext cx="2628900" cy="666750"/>
          </a:xfrm>
          <a:prstGeom prst="roundRect">
            <a:avLst>
              <a:gd name="adj" fmla="val 8571"/>
            </a:avLst>
          </a:prstGeom>
          <a:solidFill>
            <a:schemeClr val="bg1"/>
          </a:solidFill>
          <a:ln w="19050">
            <a:solidFill>
              <a:schemeClr val="tx2"/>
            </a:solidFill>
            <a:prstDash val="solid"/>
          </a:ln>
        </p:spPr>
      </p:sp>
      <p:sp>
        <p:nvSpPr>
          <p:cNvPr id="19" name="Text 16"/>
          <p:cNvSpPr txBox="1"/>
          <p:nvPr/>
        </p:nvSpPr>
        <p:spPr>
          <a:xfrm>
            <a:off x="9023985" y="2245805"/>
            <a:ext cx="229743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releases/20261001120000</a:t>
            </a:r>
            <a:endParaRPr lang="en-US" sz="1050" dirty="0"/>
          </a:p>
        </p:txBody>
      </p:sp>
      <p:sp>
        <p:nvSpPr>
          <p:cNvPr id="20" name="Text 17"/>
          <p:cNvSpPr txBox="1"/>
          <p:nvPr/>
        </p:nvSpPr>
        <p:spPr>
          <a:xfrm>
            <a:off x="9086850" y="2465546"/>
            <a:ext cx="21717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kept: the rollback target</a:t>
            </a:r>
            <a:endParaRPr lang="en-US" sz="1125" dirty="0"/>
          </a:p>
        </p:txBody>
      </p:sp>
      <p:sp>
        <p:nvSpPr>
          <p:cNvPr id="21" name="Shape 18"/>
          <p:cNvSpPr/>
          <p:nvPr/>
        </p:nvSpPr>
        <p:spPr>
          <a:xfrm>
            <a:off x="8858250" y="3303270"/>
            <a:ext cx="2628900" cy="666750"/>
          </a:xfrm>
          <a:prstGeom prst="roundRect">
            <a:avLst>
              <a:gd name="adj" fmla="val 8571"/>
            </a:avLst>
          </a:prstGeom>
          <a:solidFill>
            <a:schemeClr val="accent3">
              <a:alpha val="10000"/>
            </a:schemeClr>
          </a:solidFill>
          <a:ln w="19050">
            <a:solidFill>
              <a:schemeClr val="accent3"/>
            </a:solidFill>
            <a:prstDash val="solid"/>
          </a:ln>
        </p:spPr>
      </p:sp>
      <p:sp>
        <p:nvSpPr>
          <p:cNvPr id="22" name="Text 19"/>
          <p:cNvSpPr txBox="1"/>
          <p:nvPr/>
        </p:nvSpPr>
        <p:spPr>
          <a:xfrm>
            <a:off x="9023985" y="3484054"/>
            <a:ext cx="229743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releases/20261003090000</a:t>
            </a:r>
            <a:endParaRPr lang="en-US" sz="1050" dirty="0"/>
          </a:p>
        </p:txBody>
      </p:sp>
      <p:sp>
        <p:nvSpPr>
          <p:cNvPr id="23" name="Text 20"/>
          <p:cNvSpPr txBox="1"/>
          <p:nvPr/>
        </p:nvSpPr>
        <p:spPr>
          <a:xfrm>
            <a:off x="9806940" y="3703796"/>
            <a:ext cx="7315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live</a:t>
            </a:r>
            <a:endParaRPr lang="en-US" sz="1125" dirty="0"/>
          </a:p>
        </p:txBody>
      </p:sp>
      <p:sp>
        <p:nvSpPr>
          <p:cNvPr id="24" name="Shape 21"/>
          <p:cNvSpPr/>
          <p:nvPr/>
        </p:nvSpPr>
        <p:spPr>
          <a:xfrm>
            <a:off x="7791450" y="3246120"/>
            <a:ext cx="1028700" cy="361950"/>
          </a:xfrm>
          <a:prstGeom prst="line">
            <a:avLst/>
          </a:prstGeom>
          <a:noFill/>
          <a:ln w="19050">
            <a:solidFill>
              <a:schemeClr val="tx1"/>
            </a:solidFill>
            <a:prstDash val="solid"/>
            <a:tailEnd type="triangle"/>
          </a:ln>
        </p:spPr>
      </p:sp>
      <p:sp>
        <p:nvSpPr>
          <p:cNvPr id="25" name="Shape 22"/>
          <p:cNvSpPr/>
          <p:nvPr/>
        </p:nvSpPr>
        <p:spPr>
          <a:xfrm flipV="1">
            <a:off x="7791450" y="2503170"/>
            <a:ext cx="1028700" cy="514350"/>
          </a:xfrm>
          <a:prstGeom prst="line">
            <a:avLst/>
          </a:prstGeom>
          <a:noFill/>
          <a:ln w="19050">
            <a:solidFill>
              <a:schemeClr val="tx2"/>
            </a:solidFill>
            <a:prstDash val="dash"/>
            <a:tailEnd type="triangle"/>
          </a:ln>
        </p:spPr>
      </p:sp>
      <p:sp>
        <p:nvSpPr>
          <p:cNvPr id="26" name="Text 23"/>
          <p:cNvSpPr txBox="1"/>
          <p:nvPr/>
        </p:nvSpPr>
        <p:spPr>
          <a:xfrm>
            <a:off x="7661910" y="2283905"/>
            <a:ext cx="109728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rollback</a:t>
            </a:r>
            <a:endParaRPr lang="en-US" sz="1050" dirty="0"/>
          </a:p>
        </p:txBody>
      </p:sp>
      <p:sp>
        <p:nvSpPr>
          <p:cNvPr id="27" name="Caption"/>
          <p:cNvSpPr txBox="1"/>
          <p:nvPr/>
        </p:nvSpPr>
        <p:spPr>
          <a:xfrm>
            <a:off x="685800" y="4354830"/>
            <a:ext cx="10058400" cy="43434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The new version is fully prepared next to the old one, then switched in a single step. Rolling back is the same step in reverse: point </a:t>
            </a:r>
            <a:pPr indent="0" marL="0">
              <a:buNone/>
            </a:pPr>
            <a:r>
              <a:rPr lang="en-US" sz="1250" dirty="0">
                <a:solidFill>
                  <a:schemeClr val="tx2"/>
                </a:solidFill>
                <a:latin typeface="Courier New" pitchFamily="34" charset="0"/>
                <a:ea typeface="Courier New" pitchFamily="34" charset="-122"/>
                <a:cs typeface="Courier New" pitchFamily="34" charset="-120"/>
              </a:rPr>
              <a:t>current</a:t>
            </a:r>
            <a:pPr indent="0" marL="0">
              <a:buNone/>
            </a:pPr>
            <a:r>
              <a:rPr lang="en-US" sz="1425" dirty="0">
                <a:solidFill>
                  <a:schemeClr val="tx2"/>
                </a:solidFill>
                <a:latin typeface="Arial" pitchFamily="34" charset="0"/>
                <a:ea typeface="Arial" pitchFamily="34" charset="-122"/>
                <a:cs typeface="Arial" pitchFamily="34" charset="-120"/>
              </a:rPr>
              <a:t> back.</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6 / 7 · REPEATABLE RUNTIME AND RELEASE</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Docker packages the environment; Kamal ships it</a:t>
            </a:r>
            <a:endParaRPr lang="en-US" sz="3600" dirty="0"/>
          </a:p>
        </p:txBody>
      </p:sp>
      <p:sp>
        <p:nvSpPr>
          <p:cNvPr id="5" name="Code"/>
          <p:cNvSpPr txBox="1"/>
          <p:nvPr/>
        </p:nvSpPr>
        <p:spPr>
          <a:xfrm>
            <a:off x="685800" y="2176272"/>
            <a:ext cx="5975390" cy="1756791"/>
          </a:xfrm>
          <a:prstGeom prst="roundRect">
            <a:avLst>
              <a:gd name="adj" fmla="val 3123"/>
            </a:avLst>
          </a:prstGeom>
          <a:solidFill>
            <a:srgbClr val="E6EAE4"/>
          </a:solidFill>
          <a:ln/>
        </p:spPr>
        <p:txBody>
          <a:bodyPr wrap="square" lIns="246888" tIns="246888" rIns="246888" bIns="246888" rtlCol="0" anchor="t"/>
          <a:lstStyle/>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FROM node:22-slim</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WORKDIR /app</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COPY package*.json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RUN npm ci --omit=dev</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COPY .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CMD ["node", "server.js"]</a:t>
            </a:r>
            <a:endParaRPr lang="en-US" sz="1275" dirty="0"/>
          </a:p>
        </p:txBody>
      </p:sp>
      <p:sp>
        <p:nvSpPr>
          <p:cNvPr id="6" name="Callout"/>
          <p:cNvSpPr txBox="1"/>
          <p:nvPr/>
        </p:nvSpPr>
        <p:spPr>
          <a:xfrm>
            <a:off x="7079985" y="2176272"/>
            <a:ext cx="4426215" cy="50292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Build</a:t>
            </a:r>
            <a:pPr indent="0" marL="0">
              <a:lnSpc>
                <a:spcPct val="100000"/>
              </a:lnSpc>
              <a:buNone/>
            </a:pPr>
            <a:r>
              <a:rPr lang="en-US" sz="1650" dirty="0">
                <a:solidFill>
                  <a:schemeClr val="tx1"/>
                </a:solidFill>
                <a:latin typeface="Arial" pitchFamily="34" charset="0"/>
                <a:ea typeface="Arial" pitchFamily="34" charset="-122"/>
                <a:cs typeface="Arial" pitchFamily="34" charset="-120"/>
              </a:rPr>
              <a:t> an image containing the app, runtime, and dependencies.</a:t>
            </a:r>
            <a:endParaRPr lang="en-US" sz="1650" dirty="0"/>
          </a:p>
        </p:txBody>
      </p:sp>
      <p:sp>
        <p:nvSpPr>
          <p:cNvPr id="7" name="Callout"/>
          <p:cNvSpPr txBox="1"/>
          <p:nvPr/>
        </p:nvSpPr>
        <p:spPr>
          <a:xfrm>
            <a:off x="7079985" y="2871216"/>
            <a:ext cx="4426215" cy="25146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Push</a:t>
            </a:r>
            <a:pPr indent="0" marL="0">
              <a:lnSpc>
                <a:spcPct val="100000"/>
              </a:lnSpc>
              <a:buNone/>
            </a:pPr>
            <a:r>
              <a:rPr lang="en-US" sz="1650" dirty="0">
                <a:solidFill>
                  <a:schemeClr val="tx1"/>
                </a:solidFill>
                <a:latin typeface="Arial" pitchFamily="34" charset="0"/>
                <a:ea typeface="Arial" pitchFamily="34" charset="-122"/>
                <a:cs typeface="Arial" pitchFamily="34" charset="-120"/>
              </a:rPr>
              <a:t> the versioned image to a registry.</a:t>
            </a:r>
            <a:endParaRPr lang="en-US" sz="1650" dirty="0"/>
          </a:p>
        </p:txBody>
      </p:sp>
      <p:sp>
        <p:nvSpPr>
          <p:cNvPr id="8" name="Callout"/>
          <p:cNvSpPr txBox="1"/>
          <p:nvPr/>
        </p:nvSpPr>
        <p:spPr>
          <a:xfrm>
            <a:off x="7079985" y="3314700"/>
            <a:ext cx="4426215" cy="50292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Kamal</a:t>
            </a:r>
            <a:pPr indent="0" marL="0">
              <a:lnSpc>
                <a:spcPct val="100000"/>
              </a:lnSpc>
              <a:buNone/>
            </a:pPr>
            <a:r>
              <a:rPr lang="en-US" sz="1650" dirty="0">
                <a:solidFill>
                  <a:schemeClr val="tx1"/>
                </a:solidFill>
                <a:latin typeface="Arial" pitchFamily="34" charset="0"/>
                <a:ea typeface="Arial" pitchFamily="34" charset="-122"/>
                <a:cs typeface="Arial" pitchFamily="34" charset="-120"/>
              </a:rPr>
              <a:t> starts the new container and switches traffic after its health check passes.</a:t>
            </a:r>
            <a:endParaRPr lang="en-US" sz="1650" dirty="0"/>
          </a:p>
        </p:txBody>
      </p:sp>
      <p:sp>
        <p:nvSpPr>
          <p:cNvPr id="9" name="Text 6"/>
          <p:cNvSpPr txBox="1"/>
          <p:nvPr/>
        </p:nvSpPr>
        <p:spPr>
          <a:xfrm>
            <a:off x="685800" y="4104513"/>
            <a:ext cx="10820400" cy="20574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The release is prepared before the switch. The host still needs Docker and configuration.</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7 / 7 · THE QUESTION DEPLOYMENT LEAVES OPEN</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Who creates everything underneath?</a:t>
            </a:r>
            <a:endParaRPr lang="en-US" sz="3600" dirty="0"/>
          </a:p>
        </p:txBody>
      </p:sp>
      <p:sp>
        <p:nvSpPr>
          <p:cNvPr id="5" name="Bullets"/>
          <p:cNvSpPr txBox="1"/>
          <p:nvPr/>
        </p:nvSpPr>
        <p:spPr>
          <a:xfrm>
            <a:off x="685800" y="1645920"/>
            <a:ext cx="10820400" cy="1330452"/>
          </a:xfrm>
          <a:prstGeom prst="rect">
            <a:avLst/>
          </a:prstGeom>
          <a:noFill/>
          <a:ln/>
        </p:spPr>
        <p:txBody>
          <a:bodyPr wrap="square" lIns="0" tIns="0" rIns="0" bIns="0" rtlCol="0" anchor="t"/>
          <a:lstStyle/>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Where do the host, database, and file storage come from?</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Which network paths and permissions connect them?</a:t>
            </a:r>
            <a:endParaRPr lang="en-US" sz="1950" dirty="0"/>
          </a:p>
          <a:p>
            <a:pPr marL="279400" indent="-279400">
              <a:lnSpc>
                <a:spcPct val="100000"/>
              </a:lnSpc>
              <a:spcAft>
                <a:spcPts val="1300"/>
              </a:spcAft>
              <a:buSzPct val="100000"/>
              <a:buChar char="–"/>
            </a:pPr>
            <a:r>
              <a:rPr lang="en-US" sz="1950" dirty="0">
                <a:solidFill>
                  <a:schemeClr val="tx1"/>
                </a:solidFill>
                <a:latin typeface="Arial" pitchFamily="34" charset="0"/>
                <a:ea typeface="Arial" pitchFamily="34" charset="-122"/>
                <a:cs typeface="Arial" pitchFamily="34" charset="-120"/>
              </a:rPr>
              <a:t>Can someone else recreate them, and later delete them?</a:t>
            </a:r>
            <a:endParaRPr lang="en-US" sz="1950" dirty="0"/>
          </a:p>
        </p:txBody>
      </p:sp>
      <p:sp>
        <p:nvSpPr>
          <p:cNvPr id="6" name="Statement"/>
          <p:cNvSpPr txBox="1"/>
          <p:nvPr/>
        </p:nvSpPr>
        <p:spPr>
          <a:xfrm>
            <a:off x="685800" y="3799332"/>
            <a:ext cx="8595360" cy="914400"/>
          </a:xfrm>
          <a:prstGeom prst="rect">
            <a:avLst/>
          </a:prstGeom>
          <a:noFill/>
          <a:ln/>
        </p:spPr>
        <p:txBody>
          <a:bodyPr wrap="square" lIns="0" tIns="0" rIns="0" bIns="0" rtlCol="0" anchor="t"/>
          <a:lstStyle/>
          <a:p>
            <a:pPr indent="0" marL="0">
              <a:lnSpc>
                <a:spcPct val="100000"/>
              </a:lnSpc>
              <a:buNone/>
            </a:pPr>
            <a:r>
              <a:rPr lang="en-US" sz="3000" dirty="0">
                <a:solidFill>
                  <a:schemeClr val="tx1"/>
                </a:solidFill>
                <a:latin typeface="Arial" pitchFamily="34" charset="0"/>
                <a:ea typeface="Arial" pitchFamily="34" charset="-122"/>
                <a:cs typeface="Arial" pitchFamily="34" charset="-120"/>
              </a:rPr>
              <a:t>Terraform describes the infrastructure those releases need.</a:t>
            </a:r>
            <a:endParaRPr lang="en-US" sz="30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TWO AXES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Provisioning is not deploying</a:t>
            </a:r>
            <a:endParaRPr lang="en-US" sz="36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85800" y="1645920"/>
          <a:ext cx="10820400" cy="914400"/>
        </p:xfrm>
        <a:graphic>
          <a:graphicData uri="http://schemas.openxmlformats.org/drawingml/2006/table">
            <a:tbl>
              <a:tblPr/>
              <a:tblGrid>
                <a:gridCol w="1426464"/>
                <a:gridCol w="4746410"/>
                <a:gridCol w="4647526"/>
              </a:tblGrid>
              <a:tr h="361188">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AXIS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QUESTION IT ANSWERS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IN THIS TALK</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PROVISION</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What exists? Buckets, databases, functions, networks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terraform apply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DEPLOY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How does my code get onto it?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aws s3 sync</a:t>
                      </a:r>
                      <a:pPr indent="0" marL="0">
                        <a:buNone/>
                      </a:pPr>
                      <a:r>
                        <a:rPr lang="en-US" sz="1500" dirty="0">
                          <a:solidFill>
                            <a:schemeClr val="tx1"/>
                          </a:solidFill>
                          <a:latin typeface="Arial" pitchFamily="34" charset="0"/>
                          <a:ea typeface="Arial" pitchFamily="34" charset="-122"/>
                          <a:cs typeface="Arial" pitchFamily="34" charset="-120"/>
                        </a:rPr>
                        <a:t> · Kamal · a zip upload · </a:t>
                      </a:r>
                      <a:pPr indent="0" marL="0">
                        <a:buNone/>
                      </a:pPr>
                      <a:r>
                        <a:rPr lang="en-US" sz="1320" dirty="0">
                          <a:solidFill>
                            <a:schemeClr val="tx1"/>
                          </a:solidFill>
                          <a:latin typeface="Courier New" pitchFamily="34" charset="0"/>
                          <a:ea typeface="Courier New" pitchFamily="34" charset="-122"/>
                          <a:cs typeface="Courier New" pitchFamily="34" charset="-120"/>
                        </a:rPr>
                        <a:t>vite build</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bl>
          </a:graphicData>
        </a:graphic>
      </p:graphicFrame>
      <p:sp>
        <p:nvSpPr>
          <p:cNvPr id="6" name="Statement"/>
          <p:cNvSpPr txBox="1"/>
          <p:nvPr/>
        </p:nvSpPr>
        <p:spPr>
          <a:xfrm>
            <a:off x="685800" y="4238244"/>
            <a:ext cx="8595360" cy="457200"/>
          </a:xfrm>
          <a:prstGeom prst="rect">
            <a:avLst/>
          </a:prstGeom>
          <a:noFill/>
          <a:ln/>
        </p:spPr>
        <p:txBody>
          <a:bodyPr wrap="square" lIns="0" tIns="0" rIns="0" bIns="0" rtlCol="0" anchor="t"/>
          <a:lstStyle/>
          <a:p>
            <a:pPr indent="0" marL="0">
              <a:lnSpc>
                <a:spcPct val="100000"/>
              </a:lnSpc>
              <a:buNone/>
            </a:pPr>
            <a:r>
              <a:rPr lang="en-US" sz="3000" dirty="0">
                <a:solidFill>
                  <a:schemeClr val="tx1"/>
                </a:solidFill>
                <a:latin typeface="Arial" pitchFamily="34" charset="0"/>
                <a:ea typeface="Arial" pitchFamily="34" charset="-122"/>
                <a:cs typeface="Arial" pitchFamily="34" charset="-120"/>
              </a:rPr>
              <a:t>Every stack tonight has both halves.</a:t>
            </a:r>
            <a:endParaRPr lang="en-US" sz="30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LAPTOP CLOUD</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Stock Terraform, pointed at localhost</a:t>
            </a:r>
            <a:endParaRPr lang="en-US" sz="3600" dirty="0"/>
          </a:p>
        </p:txBody>
      </p:sp>
      <p:sp>
        <p:nvSpPr>
          <p:cNvPr id="5" name="Shape 2"/>
          <p:cNvSpPr/>
          <p:nvPr/>
        </p:nvSpPr>
        <p:spPr>
          <a:xfrm>
            <a:off x="685800" y="2693670"/>
            <a:ext cx="2190750" cy="1047750"/>
          </a:xfrm>
          <a:prstGeom prst="roundRect">
            <a:avLst>
              <a:gd name="adj" fmla="val 5455"/>
            </a:avLst>
          </a:prstGeom>
          <a:solidFill>
            <a:schemeClr val="bg1"/>
          </a:solidFill>
          <a:ln w="19050">
            <a:solidFill>
              <a:schemeClr val="tx2"/>
            </a:solidFill>
            <a:prstDash val="solid"/>
          </a:ln>
        </p:spPr>
      </p:sp>
      <p:sp>
        <p:nvSpPr>
          <p:cNvPr id="6" name="Text 3"/>
          <p:cNvSpPr txBox="1"/>
          <p:nvPr/>
        </p:nvSpPr>
        <p:spPr>
          <a:xfrm>
            <a:off x="795337" y="2973705"/>
            <a:ext cx="197167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terraform apply</a:t>
            </a:r>
            <a:endParaRPr lang="en-US" sz="1500" dirty="0"/>
          </a:p>
        </p:txBody>
      </p:sp>
      <p:sp>
        <p:nvSpPr>
          <p:cNvPr id="7" name="Text 4"/>
          <p:cNvSpPr txBox="1"/>
          <p:nvPr/>
        </p:nvSpPr>
        <p:spPr>
          <a:xfrm>
            <a:off x="798195" y="3265646"/>
            <a:ext cx="196596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hashicorp/aws provider</a:t>
            </a:r>
            <a:endParaRPr lang="en-US" sz="1125" dirty="0"/>
          </a:p>
        </p:txBody>
      </p:sp>
      <p:sp>
        <p:nvSpPr>
          <p:cNvPr id="8" name="Shape 5"/>
          <p:cNvSpPr/>
          <p:nvPr/>
        </p:nvSpPr>
        <p:spPr>
          <a:xfrm>
            <a:off x="2876550" y="3217545"/>
            <a:ext cx="1543050" cy="0"/>
          </a:xfrm>
          <a:prstGeom prst="line">
            <a:avLst/>
          </a:prstGeom>
          <a:noFill/>
          <a:ln w="19050">
            <a:solidFill>
              <a:schemeClr val="tx1"/>
            </a:solidFill>
            <a:prstDash val="solid"/>
            <a:tailEnd type="triangle"/>
          </a:ln>
        </p:spPr>
      </p:sp>
      <p:sp>
        <p:nvSpPr>
          <p:cNvPr id="9" name="Text 6"/>
          <p:cNvSpPr txBox="1"/>
          <p:nvPr/>
        </p:nvSpPr>
        <p:spPr>
          <a:xfrm>
            <a:off x="2899410" y="2950654"/>
            <a:ext cx="149733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AWS API calls</a:t>
            </a:r>
            <a:endParaRPr lang="en-US" sz="1050" dirty="0"/>
          </a:p>
        </p:txBody>
      </p:sp>
      <p:sp>
        <p:nvSpPr>
          <p:cNvPr id="10" name="Text 7"/>
          <p:cNvSpPr txBox="1"/>
          <p:nvPr/>
        </p:nvSpPr>
        <p:spPr>
          <a:xfrm>
            <a:off x="2739390" y="3350704"/>
            <a:ext cx="181737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endpoints → :4566</a:t>
            </a:r>
            <a:endParaRPr lang="en-US" sz="1050" dirty="0"/>
          </a:p>
        </p:txBody>
      </p:sp>
      <p:sp>
        <p:nvSpPr>
          <p:cNvPr id="11" name="Shape 8"/>
          <p:cNvSpPr/>
          <p:nvPr/>
        </p:nvSpPr>
        <p:spPr>
          <a:xfrm>
            <a:off x="4457700" y="2312670"/>
            <a:ext cx="2762250" cy="1809750"/>
          </a:xfrm>
          <a:prstGeom prst="roundRect">
            <a:avLst>
              <a:gd name="adj" fmla="val 3158"/>
            </a:avLst>
          </a:prstGeom>
          <a:solidFill>
            <a:schemeClr val="bg1"/>
          </a:solidFill>
          <a:ln w="19050">
            <a:solidFill>
              <a:schemeClr val="tx2"/>
            </a:solidFill>
            <a:prstDash val="solid"/>
          </a:ln>
        </p:spPr>
      </p:sp>
      <p:sp>
        <p:nvSpPr>
          <p:cNvPr id="12" name="Text 9"/>
          <p:cNvSpPr txBox="1"/>
          <p:nvPr/>
        </p:nvSpPr>
        <p:spPr>
          <a:xfrm>
            <a:off x="5357812" y="2611755"/>
            <a:ext cx="96202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Floci</a:t>
            </a:r>
            <a:endParaRPr lang="en-US" sz="1500" dirty="0"/>
          </a:p>
        </p:txBody>
      </p:sp>
      <p:sp>
        <p:nvSpPr>
          <p:cNvPr id="13" name="Text 10"/>
          <p:cNvSpPr txBox="1"/>
          <p:nvPr/>
        </p:nvSpPr>
        <p:spPr>
          <a:xfrm>
            <a:off x="4581525" y="2903696"/>
            <a:ext cx="25146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one container · localhost:4566</a:t>
            </a:r>
            <a:endParaRPr lang="en-US" sz="1125" dirty="0"/>
          </a:p>
        </p:txBody>
      </p:sp>
      <p:sp>
        <p:nvSpPr>
          <p:cNvPr id="14" name="Text 11"/>
          <p:cNvSpPr txBox="1"/>
          <p:nvPr/>
        </p:nvSpPr>
        <p:spPr>
          <a:xfrm>
            <a:off x="4650105" y="3151346"/>
            <a:ext cx="23774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speaks the AWS wire protocol</a:t>
            </a:r>
            <a:endParaRPr lang="en-US" sz="1125" dirty="0"/>
          </a:p>
        </p:txBody>
      </p:sp>
      <p:sp>
        <p:nvSpPr>
          <p:cNvPr id="15" name="Text 12"/>
          <p:cNvSpPr txBox="1"/>
          <p:nvPr/>
        </p:nvSpPr>
        <p:spPr>
          <a:xfrm>
            <a:off x="4810125" y="3674555"/>
            <a:ext cx="205740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account 000000000000</a:t>
            </a:r>
            <a:endParaRPr lang="en-US" sz="1050" dirty="0"/>
          </a:p>
        </p:txBody>
      </p:sp>
      <p:sp>
        <p:nvSpPr>
          <p:cNvPr id="16" name="Shape 13"/>
          <p:cNvSpPr/>
          <p:nvPr/>
        </p:nvSpPr>
        <p:spPr>
          <a:xfrm>
            <a:off x="7219950" y="2788920"/>
            <a:ext cx="1562100" cy="0"/>
          </a:xfrm>
          <a:prstGeom prst="line">
            <a:avLst/>
          </a:prstGeom>
          <a:noFill/>
          <a:ln w="19050">
            <a:solidFill>
              <a:schemeClr val="tx1"/>
            </a:solidFill>
            <a:prstDash val="solid"/>
            <a:tailEnd type="triangle"/>
          </a:ln>
        </p:spPr>
      </p:sp>
      <p:sp>
        <p:nvSpPr>
          <p:cNvPr id="17" name="Text 14"/>
          <p:cNvSpPr txBox="1"/>
          <p:nvPr/>
        </p:nvSpPr>
        <p:spPr>
          <a:xfrm>
            <a:off x="7532370" y="2550604"/>
            <a:ext cx="93726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stores</a:t>
            </a:r>
            <a:endParaRPr lang="en-US" sz="1050" dirty="0"/>
          </a:p>
        </p:txBody>
      </p:sp>
      <p:sp>
        <p:nvSpPr>
          <p:cNvPr id="18" name="Shape 15"/>
          <p:cNvSpPr/>
          <p:nvPr/>
        </p:nvSpPr>
        <p:spPr>
          <a:xfrm>
            <a:off x="8820150" y="2026920"/>
            <a:ext cx="2686050" cy="1143000"/>
          </a:xfrm>
          <a:prstGeom prst="roundRect">
            <a:avLst>
              <a:gd name="adj" fmla="val 5000"/>
            </a:avLst>
          </a:prstGeom>
          <a:solidFill>
            <a:schemeClr val="accent4">
              <a:alpha val="10000"/>
            </a:schemeClr>
          </a:solidFill>
          <a:ln w="19050">
            <a:solidFill>
              <a:schemeClr val="accent4"/>
            </a:solidFill>
            <a:prstDash val="solid"/>
          </a:ln>
        </p:spPr>
      </p:sp>
      <p:sp>
        <p:nvSpPr>
          <p:cNvPr id="19" name="Text 16"/>
          <p:cNvSpPr txBox="1"/>
          <p:nvPr/>
        </p:nvSpPr>
        <p:spPr>
          <a:xfrm>
            <a:off x="9581197" y="2249805"/>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Records</a:t>
            </a:r>
            <a:endParaRPr lang="en-US" sz="1500" dirty="0"/>
          </a:p>
        </p:txBody>
      </p:sp>
      <p:sp>
        <p:nvSpPr>
          <p:cNvPr id="20" name="Text 17"/>
          <p:cNvSpPr txBox="1"/>
          <p:nvPr/>
        </p:nvSpPr>
        <p:spPr>
          <a:xfrm>
            <a:off x="9077325" y="2541746"/>
            <a:ext cx="21717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S3 · DynamoDB · IAM · VPC</a:t>
            </a:r>
            <a:endParaRPr lang="en-US" sz="1125" dirty="0"/>
          </a:p>
        </p:txBody>
      </p:sp>
      <p:sp>
        <p:nvSpPr>
          <p:cNvPr id="21" name="Text 18"/>
          <p:cNvSpPr txBox="1"/>
          <p:nvPr/>
        </p:nvSpPr>
        <p:spPr>
          <a:xfrm>
            <a:off x="9145905" y="2770346"/>
            <a:ext cx="20345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CloudFront config · SGs</a:t>
            </a:r>
            <a:endParaRPr lang="en-US" sz="1125" dirty="0"/>
          </a:p>
        </p:txBody>
      </p:sp>
      <p:sp>
        <p:nvSpPr>
          <p:cNvPr id="22" name="Shape 19"/>
          <p:cNvSpPr/>
          <p:nvPr/>
        </p:nvSpPr>
        <p:spPr>
          <a:xfrm>
            <a:off x="7219950" y="3693795"/>
            <a:ext cx="1562100" cy="0"/>
          </a:xfrm>
          <a:prstGeom prst="line">
            <a:avLst/>
          </a:prstGeom>
          <a:noFill/>
          <a:ln w="19050">
            <a:solidFill>
              <a:schemeClr val="tx1"/>
            </a:solidFill>
            <a:prstDash val="solid"/>
            <a:tailEnd type="triangle"/>
          </a:ln>
        </p:spPr>
      </p:sp>
      <p:sp>
        <p:nvSpPr>
          <p:cNvPr id="23" name="Text 20"/>
          <p:cNvSpPr txBox="1"/>
          <p:nvPr/>
        </p:nvSpPr>
        <p:spPr>
          <a:xfrm>
            <a:off x="7612380" y="3455479"/>
            <a:ext cx="77724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runs</a:t>
            </a:r>
            <a:endParaRPr lang="en-US" sz="1050" dirty="0"/>
          </a:p>
        </p:txBody>
      </p:sp>
      <p:sp>
        <p:nvSpPr>
          <p:cNvPr id="24" name="Shape 21"/>
          <p:cNvSpPr/>
          <p:nvPr/>
        </p:nvSpPr>
        <p:spPr>
          <a:xfrm>
            <a:off x="8820150" y="3360420"/>
            <a:ext cx="2686050" cy="1143000"/>
          </a:xfrm>
          <a:prstGeom prst="roundRect">
            <a:avLst>
              <a:gd name="adj" fmla="val 5000"/>
            </a:avLst>
          </a:prstGeom>
          <a:solidFill>
            <a:schemeClr val="accent3">
              <a:alpha val="10000"/>
            </a:schemeClr>
          </a:solidFill>
          <a:ln w="19050">
            <a:solidFill>
              <a:schemeClr val="accent3"/>
            </a:solidFill>
            <a:prstDash val="solid"/>
          </a:ln>
        </p:spPr>
      </p:sp>
      <p:sp>
        <p:nvSpPr>
          <p:cNvPr id="25" name="Text 22"/>
          <p:cNvSpPr txBox="1"/>
          <p:nvPr/>
        </p:nvSpPr>
        <p:spPr>
          <a:xfrm>
            <a:off x="9177337" y="3583305"/>
            <a:ext cx="197167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Real containers</a:t>
            </a:r>
            <a:endParaRPr lang="en-US" sz="1500" dirty="0"/>
          </a:p>
        </p:txBody>
      </p:sp>
      <p:sp>
        <p:nvSpPr>
          <p:cNvPr id="26" name="Text 23"/>
          <p:cNvSpPr txBox="1"/>
          <p:nvPr/>
        </p:nvSpPr>
        <p:spPr>
          <a:xfrm>
            <a:off x="9111615" y="3875246"/>
            <a:ext cx="21031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RDS = actual Postgres 15</a:t>
            </a:r>
            <a:endParaRPr lang="en-US" sz="1125" dirty="0"/>
          </a:p>
        </p:txBody>
      </p:sp>
      <p:sp>
        <p:nvSpPr>
          <p:cNvPr id="27" name="Text 24"/>
          <p:cNvSpPr txBox="1"/>
          <p:nvPr/>
        </p:nvSpPr>
        <p:spPr>
          <a:xfrm>
            <a:off x="9111615" y="4103846"/>
            <a:ext cx="21031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Lambda = nodejs:22 image</a:t>
            </a:r>
            <a:endParaRPr lang="en-US" sz="1125" dirty="0"/>
          </a:p>
        </p:txBody>
      </p:sp>
      <p:sp>
        <p:nvSpPr>
          <p:cNvPr id="28" name="Shape 25"/>
          <p:cNvSpPr/>
          <p:nvPr/>
        </p:nvSpPr>
        <p:spPr>
          <a:xfrm>
            <a:off x="838200" y="3836670"/>
            <a:ext cx="1885950" cy="1885950"/>
          </a:xfrm>
          <a:prstGeom prst="rect">
            <a:avLst/>
          </a:prstGeom>
          <a:solidFill>
            <a:srgbClr val="FFFFFF"/>
          </a:solidFill>
          <a:ln/>
        </p:spPr>
      </p:sp>
      <p:sp>
        <p:nvSpPr>
          <p:cNvPr id="29" name="Shape 26"/>
          <p:cNvSpPr/>
          <p:nvPr/>
        </p:nvSpPr>
        <p:spPr>
          <a:xfrm>
            <a:off x="1066800" y="4065270"/>
            <a:ext cx="57150" cy="57150"/>
          </a:xfrm>
          <a:prstGeom prst="rect">
            <a:avLst/>
          </a:prstGeom>
          <a:solidFill>
            <a:srgbClr val="000000"/>
          </a:solidFill>
          <a:ln/>
        </p:spPr>
      </p:sp>
      <p:sp>
        <p:nvSpPr>
          <p:cNvPr id="30" name="Shape 27"/>
          <p:cNvSpPr/>
          <p:nvPr/>
        </p:nvSpPr>
        <p:spPr>
          <a:xfrm>
            <a:off x="1123950" y="4065270"/>
            <a:ext cx="57150" cy="57150"/>
          </a:xfrm>
          <a:prstGeom prst="rect">
            <a:avLst/>
          </a:prstGeom>
          <a:solidFill>
            <a:srgbClr val="000000"/>
          </a:solidFill>
          <a:ln/>
        </p:spPr>
      </p:sp>
      <p:sp>
        <p:nvSpPr>
          <p:cNvPr id="31" name="Shape 28"/>
          <p:cNvSpPr/>
          <p:nvPr/>
        </p:nvSpPr>
        <p:spPr>
          <a:xfrm>
            <a:off x="1181100" y="4065270"/>
            <a:ext cx="57150" cy="57150"/>
          </a:xfrm>
          <a:prstGeom prst="rect">
            <a:avLst/>
          </a:prstGeom>
          <a:solidFill>
            <a:srgbClr val="000000"/>
          </a:solidFill>
          <a:ln/>
        </p:spPr>
      </p:sp>
      <p:sp>
        <p:nvSpPr>
          <p:cNvPr id="32" name="Shape 29"/>
          <p:cNvSpPr/>
          <p:nvPr/>
        </p:nvSpPr>
        <p:spPr>
          <a:xfrm>
            <a:off x="1238250" y="4065270"/>
            <a:ext cx="57150" cy="57150"/>
          </a:xfrm>
          <a:prstGeom prst="rect">
            <a:avLst/>
          </a:prstGeom>
          <a:solidFill>
            <a:srgbClr val="000000"/>
          </a:solidFill>
          <a:ln/>
        </p:spPr>
      </p:sp>
      <p:sp>
        <p:nvSpPr>
          <p:cNvPr id="33" name="Shape 30"/>
          <p:cNvSpPr/>
          <p:nvPr/>
        </p:nvSpPr>
        <p:spPr>
          <a:xfrm>
            <a:off x="1295400" y="4065270"/>
            <a:ext cx="57150" cy="57150"/>
          </a:xfrm>
          <a:prstGeom prst="rect">
            <a:avLst/>
          </a:prstGeom>
          <a:solidFill>
            <a:srgbClr val="000000"/>
          </a:solidFill>
          <a:ln/>
        </p:spPr>
      </p:sp>
      <p:sp>
        <p:nvSpPr>
          <p:cNvPr id="34" name="Shape 31"/>
          <p:cNvSpPr/>
          <p:nvPr/>
        </p:nvSpPr>
        <p:spPr>
          <a:xfrm>
            <a:off x="1352550" y="4065270"/>
            <a:ext cx="57150" cy="57150"/>
          </a:xfrm>
          <a:prstGeom prst="rect">
            <a:avLst/>
          </a:prstGeom>
          <a:solidFill>
            <a:srgbClr val="000000"/>
          </a:solidFill>
          <a:ln/>
        </p:spPr>
      </p:sp>
      <p:sp>
        <p:nvSpPr>
          <p:cNvPr id="35" name="Shape 32"/>
          <p:cNvSpPr/>
          <p:nvPr/>
        </p:nvSpPr>
        <p:spPr>
          <a:xfrm>
            <a:off x="1409700" y="4065270"/>
            <a:ext cx="57150" cy="57150"/>
          </a:xfrm>
          <a:prstGeom prst="rect">
            <a:avLst/>
          </a:prstGeom>
          <a:solidFill>
            <a:srgbClr val="000000"/>
          </a:solidFill>
          <a:ln/>
        </p:spPr>
      </p:sp>
      <p:sp>
        <p:nvSpPr>
          <p:cNvPr id="36" name="Shape 33"/>
          <p:cNvSpPr/>
          <p:nvPr/>
        </p:nvSpPr>
        <p:spPr>
          <a:xfrm>
            <a:off x="1524000" y="4065270"/>
            <a:ext cx="57150" cy="57150"/>
          </a:xfrm>
          <a:prstGeom prst="rect">
            <a:avLst/>
          </a:prstGeom>
          <a:solidFill>
            <a:srgbClr val="000000"/>
          </a:solidFill>
          <a:ln/>
        </p:spPr>
      </p:sp>
      <p:sp>
        <p:nvSpPr>
          <p:cNvPr id="37" name="Shape 34"/>
          <p:cNvSpPr/>
          <p:nvPr/>
        </p:nvSpPr>
        <p:spPr>
          <a:xfrm>
            <a:off x="1581150" y="4065270"/>
            <a:ext cx="57150" cy="57150"/>
          </a:xfrm>
          <a:prstGeom prst="rect">
            <a:avLst/>
          </a:prstGeom>
          <a:solidFill>
            <a:srgbClr val="000000"/>
          </a:solidFill>
          <a:ln/>
        </p:spPr>
      </p:sp>
      <p:sp>
        <p:nvSpPr>
          <p:cNvPr id="38" name="Shape 35"/>
          <p:cNvSpPr/>
          <p:nvPr/>
        </p:nvSpPr>
        <p:spPr>
          <a:xfrm>
            <a:off x="1866900" y="4065270"/>
            <a:ext cx="57150" cy="57150"/>
          </a:xfrm>
          <a:prstGeom prst="rect">
            <a:avLst/>
          </a:prstGeom>
          <a:solidFill>
            <a:srgbClr val="000000"/>
          </a:solidFill>
          <a:ln/>
        </p:spPr>
      </p:sp>
      <p:sp>
        <p:nvSpPr>
          <p:cNvPr id="39" name="Shape 36"/>
          <p:cNvSpPr/>
          <p:nvPr/>
        </p:nvSpPr>
        <p:spPr>
          <a:xfrm>
            <a:off x="1924050" y="4065270"/>
            <a:ext cx="57150" cy="57150"/>
          </a:xfrm>
          <a:prstGeom prst="rect">
            <a:avLst/>
          </a:prstGeom>
          <a:solidFill>
            <a:srgbClr val="000000"/>
          </a:solidFill>
          <a:ln/>
        </p:spPr>
      </p:sp>
      <p:sp>
        <p:nvSpPr>
          <p:cNvPr id="40" name="Shape 37"/>
          <p:cNvSpPr/>
          <p:nvPr/>
        </p:nvSpPr>
        <p:spPr>
          <a:xfrm>
            <a:off x="1981200" y="4065270"/>
            <a:ext cx="57150" cy="57150"/>
          </a:xfrm>
          <a:prstGeom prst="rect">
            <a:avLst/>
          </a:prstGeom>
          <a:solidFill>
            <a:srgbClr val="000000"/>
          </a:solidFill>
          <a:ln/>
        </p:spPr>
      </p:sp>
      <p:sp>
        <p:nvSpPr>
          <p:cNvPr id="41" name="Shape 38"/>
          <p:cNvSpPr/>
          <p:nvPr/>
        </p:nvSpPr>
        <p:spPr>
          <a:xfrm>
            <a:off x="2095500" y="4065270"/>
            <a:ext cx="57150" cy="57150"/>
          </a:xfrm>
          <a:prstGeom prst="rect">
            <a:avLst/>
          </a:prstGeom>
          <a:solidFill>
            <a:srgbClr val="000000"/>
          </a:solidFill>
          <a:ln/>
        </p:spPr>
      </p:sp>
      <p:sp>
        <p:nvSpPr>
          <p:cNvPr id="42" name="Shape 39"/>
          <p:cNvSpPr/>
          <p:nvPr/>
        </p:nvSpPr>
        <p:spPr>
          <a:xfrm>
            <a:off x="2152650" y="4065270"/>
            <a:ext cx="57150" cy="57150"/>
          </a:xfrm>
          <a:prstGeom prst="rect">
            <a:avLst/>
          </a:prstGeom>
          <a:solidFill>
            <a:srgbClr val="000000"/>
          </a:solidFill>
          <a:ln/>
        </p:spPr>
      </p:sp>
      <p:sp>
        <p:nvSpPr>
          <p:cNvPr id="43" name="Shape 40"/>
          <p:cNvSpPr/>
          <p:nvPr/>
        </p:nvSpPr>
        <p:spPr>
          <a:xfrm>
            <a:off x="2209800" y="4065270"/>
            <a:ext cx="57150" cy="57150"/>
          </a:xfrm>
          <a:prstGeom prst="rect">
            <a:avLst/>
          </a:prstGeom>
          <a:solidFill>
            <a:srgbClr val="000000"/>
          </a:solidFill>
          <a:ln/>
        </p:spPr>
      </p:sp>
      <p:sp>
        <p:nvSpPr>
          <p:cNvPr id="44" name="Shape 41"/>
          <p:cNvSpPr/>
          <p:nvPr/>
        </p:nvSpPr>
        <p:spPr>
          <a:xfrm>
            <a:off x="2266950" y="4065270"/>
            <a:ext cx="57150" cy="57150"/>
          </a:xfrm>
          <a:prstGeom prst="rect">
            <a:avLst/>
          </a:prstGeom>
          <a:solidFill>
            <a:srgbClr val="000000"/>
          </a:solidFill>
          <a:ln/>
        </p:spPr>
      </p:sp>
      <p:sp>
        <p:nvSpPr>
          <p:cNvPr id="45" name="Shape 42"/>
          <p:cNvSpPr/>
          <p:nvPr/>
        </p:nvSpPr>
        <p:spPr>
          <a:xfrm>
            <a:off x="2324100" y="4065270"/>
            <a:ext cx="57150" cy="57150"/>
          </a:xfrm>
          <a:prstGeom prst="rect">
            <a:avLst/>
          </a:prstGeom>
          <a:solidFill>
            <a:srgbClr val="000000"/>
          </a:solidFill>
          <a:ln/>
        </p:spPr>
      </p:sp>
      <p:sp>
        <p:nvSpPr>
          <p:cNvPr id="46" name="Shape 43"/>
          <p:cNvSpPr/>
          <p:nvPr/>
        </p:nvSpPr>
        <p:spPr>
          <a:xfrm>
            <a:off x="2381250" y="4065270"/>
            <a:ext cx="57150" cy="57150"/>
          </a:xfrm>
          <a:prstGeom prst="rect">
            <a:avLst/>
          </a:prstGeom>
          <a:solidFill>
            <a:srgbClr val="000000"/>
          </a:solidFill>
          <a:ln/>
        </p:spPr>
      </p:sp>
      <p:sp>
        <p:nvSpPr>
          <p:cNvPr id="47" name="Shape 44"/>
          <p:cNvSpPr/>
          <p:nvPr/>
        </p:nvSpPr>
        <p:spPr>
          <a:xfrm>
            <a:off x="2438400" y="4065270"/>
            <a:ext cx="57150" cy="57150"/>
          </a:xfrm>
          <a:prstGeom prst="rect">
            <a:avLst/>
          </a:prstGeom>
          <a:solidFill>
            <a:srgbClr val="000000"/>
          </a:solidFill>
          <a:ln/>
        </p:spPr>
      </p:sp>
      <p:sp>
        <p:nvSpPr>
          <p:cNvPr id="48" name="Shape 45"/>
          <p:cNvSpPr/>
          <p:nvPr/>
        </p:nvSpPr>
        <p:spPr>
          <a:xfrm>
            <a:off x="1066800" y="4122420"/>
            <a:ext cx="57150" cy="57150"/>
          </a:xfrm>
          <a:prstGeom prst="rect">
            <a:avLst/>
          </a:prstGeom>
          <a:solidFill>
            <a:srgbClr val="000000"/>
          </a:solidFill>
          <a:ln/>
        </p:spPr>
      </p:sp>
      <p:sp>
        <p:nvSpPr>
          <p:cNvPr id="49" name="Shape 46"/>
          <p:cNvSpPr/>
          <p:nvPr/>
        </p:nvSpPr>
        <p:spPr>
          <a:xfrm>
            <a:off x="1409700" y="4122420"/>
            <a:ext cx="57150" cy="57150"/>
          </a:xfrm>
          <a:prstGeom prst="rect">
            <a:avLst/>
          </a:prstGeom>
          <a:solidFill>
            <a:srgbClr val="000000"/>
          </a:solidFill>
          <a:ln/>
        </p:spPr>
      </p:sp>
      <p:sp>
        <p:nvSpPr>
          <p:cNvPr id="50" name="Shape 47"/>
          <p:cNvSpPr/>
          <p:nvPr/>
        </p:nvSpPr>
        <p:spPr>
          <a:xfrm>
            <a:off x="1524000" y="4122420"/>
            <a:ext cx="57150" cy="57150"/>
          </a:xfrm>
          <a:prstGeom prst="rect">
            <a:avLst/>
          </a:prstGeom>
          <a:solidFill>
            <a:srgbClr val="000000"/>
          </a:solidFill>
          <a:ln/>
        </p:spPr>
      </p:sp>
      <p:sp>
        <p:nvSpPr>
          <p:cNvPr id="51" name="Shape 48"/>
          <p:cNvSpPr/>
          <p:nvPr/>
        </p:nvSpPr>
        <p:spPr>
          <a:xfrm>
            <a:off x="1581150" y="4122420"/>
            <a:ext cx="57150" cy="57150"/>
          </a:xfrm>
          <a:prstGeom prst="rect">
            <a:avLst/>
          </a:prstGeom>
          <a:solidFill>
            <a:srgbClr val="000000"/>
          </a:solidFill>
          <a:ln/>
        </p:spPr>
      </p:sp>
      <p:sp>
        <p:nvSpPr>
          <p:cNvPr id="52" name="Shape 49"/>
          <p:cNvSpPr/>
          <p:nvPr/>
        </p:nvSpPr>
        <p:spPr>
          <a:xfrm>
            <a:off x="1752600" y="4122420"/>
            <a:ext cx="57150" cy="57150"/>
          </a:xfrm>
          <a:prstGeom prst="rect">
            <a:avLst/>
          </a:prstGeom>
          <a:solidFill>
            <a:srgbClr val="000000"/>
          </a:solidFill>
          <a:ln/>
        </p:spPr>
      </p:sp>
      <p:sp>
        <p:nvSpPr>
          <p:cNvPr id="53" name="Shape 50"/>
          <p:cNvSpPr/>
          <p:nvPr/>
        </p:nvSpPr>
        <p:spPr>
          <a:xfrm>
            <a:off x="1809750" y="4122420"/>
            <a:ext cx="57150" cy="57150"/>
          </a:xfrm>
          <a:prstGeom prst="rect">
            <a:avLst/>
          </a:prstGeom>
          <a:solidFill>
            <a:srgbClr val="000000"/>
          </a:solidFill>
          <a:ln/>
        </p:spPr>
      </p:sp>
      <p:sp>
        <p:nvSpPr>
          <p:cNvPr id="54" name="Shape 51"/>
          <p:cNvSpPr/>
          <p:nvPr/>
        </p:nvSpPr>
        <p:spPr>
          <a:xfrm>
            <a:off x="1866900" y="4122420"/>
            <a:ext cx="57150" cy="57150"/>
          </a:xfrm>
          <a:prstGeom prst="rect">
            <a:avLst/>
          </a:prstGeom>
          <a:solidFill>
            <a:srgbClr val="000000"/>
          </a:solidFill>
          <a:ln/>
        </p:spPr>
      </p:sp>
      <p:sp>
        <p:nvSpPr>
          <p:cNvPr id="55" name="Shape 52"/>
          <p:cNvSpPr/>
          <p:nvPr/>
        </p:nvSpPr>
        <p:spPr>
          <a:xfrm>
            <a:off x="1981200" y="4122420"/>
            <a:ext cx="57150" cy="57150"/>
          </a:xfrm>
          <a:prstGeom prst="rect">
            <a:avLst/>
          </a:prstGeom>
          <a:solidFill>
            <a:srgbClr val="000000"/>
          </a:solidFill>
          <a:ln/>
        </p:spPr>
      </p:sp>
      <p:sp>
        <p:nvSpPr>
          <p:cNvPr id="56" name="Shape 53"/>
          <p:cNvSpPr/>
          <p:nvPr/>
        </p:nvSpPr>
        <p:spPr>
          <a:xfrm>
            <a:off x="2095500" y="4122420"/>
            <a:ext cx="57150" cy="57150"/>
          </a:xfrm>
          <a:prstGeom prst="rect">
            <a:avLst/>
          </a:prstGeom>
          <a:solidFill>
            <a:srgbClr val="000000"/>
          </a:solidFill>
          <a:ln/>
        </p:spPr>
      </p:sp>
      <p:sp>
        <p:nvSpPr>
          <p:cNvPr id="57" name="Shape 54"/>
          <p:cNvSpPr/>
          <p:nvPr/>
        </p:nvSpPr>
        <p:spPr>
          <a:xfrm>
            <a:off x="2438400" y="4122420"/>
            <a:ext cx="57150" cy="57150"/>
          </a:xfrm>
          <a:prstGeom prst="rect">
            <a:avLst/>
          </a:prstGeom>
          <a:solidFill>
            <a:srgbClr val="000000"/>
          </a:solidFill>
          <a:ln/>
        </p:spPr>
      </p:sp>
      <p:sp>
        <p:nvSpPr>
          <p:cNvPr id="58" name="Shape 55"/>
          <p:cNvSpPr/>
          <p:nvPr/>
        </p:nvSpPr>
        <p:spPr>
          <a:xfrm>
            <a:off x="1066800" y="4179570"/>
            <a:ext cx="57150" cy="57150"/>
          </a:xfrm>
          <a:prstGeom prst="rect">
            <a:avLst/>
          </a:prstGeom>
          <a:solidFill>
            <a:srgbClr val="000000"/>
          </a:solidFill>
          <a:ln/>
        </p:spPr>
      </p:sp>
      <p:sp>
        <p:nvSpPr>
          <p:cNvPr id="59" name="Shape 56"/>
          <p:cNvSpPr/>
          <p:nvPr/>
        </p:nvSpPr>
        <p:spPr>
          <a:xfrm>
            <a:off x="1181100" y="4179570"/>
            <a:ext cx="57150" cy="57150"/>
          </a:xfrm>
          <a:prstGeom prst="rect">
            <a:avLst/>
          </a:prstGeom>
          <a:solidFill>
            <a:srgbClr val="000000"/>
          </a:solidFill>
          <a:ln/>
        </p:spPr>
      </p:sp>
      <p:sp>
        <p:nvSpPr>
          <p:cNvPr id="60" name="Shape 57"/>
          <p:cNvSpPr/>
          <p:nvPr/>
        </p:nvSpPr>
        <p:spPr>
          <a:xfrm>
            <a:off x="1238250" y="4179570"/>
            <a:ext cx="57150" cy="57150"/>
          </a:xfrm>
          <a:prstGeom prst="rect">
            <a:avLst/>
          </a:prstGeom>
          <a:solidFill>
            <a:srgbClr val="000000"/>
          </a:solidFill>
          <a:ln/>
        </p:spPr>
      </p:sp>
      <p:sp>
        <p:nvSpPr>
          <p:cNvPr id="61" name="Shape 58"/>
          <p:cNvSpPr/>
          <p:nvPr/>
        </p:nvSpPr>
        <p:spPr>
          <a:xfrm>
            <a:off x="1295400" y="4179570"/>
            <a:ext cx="57150" cy="57150"/>
          </a:xfrm>
          <a:prstGeom prst="rect">
            <a:avLst/>
          </a:prstGeom>
          <a:solidFill>
            <a:srgbClr val="000000"/>
          </a:solidFill>
          <a:ln/>
        </p:spPr>
      </p:sp>
      <p:sp>
        <p:nvSpPr>
          <p:cNvPr id="62" name="Shape 59"/>
          <p:cNvSpPr/>
          <p:nvPr/>
        </p:nvSpPr>
        <p:spPr>
          <a:xfrm>
            <a:off x="1409700" y="4179570"/>
            <a:ext cx="57150" cy="57150"/>
          </a:xfrm>
          <a:prstGeom prst="rect">
            <a:avLst/>
          </a:prstGeom>
          <a:solidFill>
            <a:srgbClr val="000000"/>
          </a:solidFill>
          <a:ln/>
        </p:spPr>
      </p:sp>
      <p:sp>
        <p:nvSpPr>
          <p:cNvPr id="63" name="Shape 60"/>
          <p:cNvSpPr/>
          <p:nvPr/>
        </p:nvSpPr>
        <p:spPr>
          <a:xfrm>
            <a:off x="1581150" y="4179570"/>
            <a:ext cx="57150" cy="57150"/>
          </a:xfrm>
          <a:prstGeom prst="rect">
            <a:avLst/>
          </a:prstGeom>
          <a:solidFill>
            <a:srgbClr val="000000"/>
          </a:solidFill>
          <a:ln/>
        </p:spPr>
      </p:sp>
      <p:sp>
        <p:nvSpPr>
          <p:cNvPr id="64" name="Shape 61"/>
          <p:cNvSpPr/>
          <p:nvPr/>
        </p:nvSpPr>
        <p:spPr>
          <a:xfrm>
            <a:off x="1752600" y="4179570"/>
            <a:ext cx="57150" cy="57150"/>
          </a:xfrm>
          <a:prstGeom prst="rect">
            <a:avLst/>
          </a:prstGeom>
          <a:solidFill>
            <a:srgbClr val="000000"/>
          </a:solidFill>
          <a:ln/>
        </p:spPr>
      </p:sp>
      <p:sp>
        <p:nvSpPr>
          <p:cNvPr id="65" name="Shape 62"/>
          <p:cNvSpPr/>
          <p:nvPr/>
        </p:nvSpPr>
        <p:spPr>
          <a:xfrm>
            <a:off x="1809750" y="4179570"/>
            <a:ext cx="57150" cy="57150"/>
          </a:xfrm>
          <a:prstGeom prst="rect">
            <a:avLst/>
          </a:prstGeom>
          <a:solidFill>
            <a:srgbClr val="000000"/>
          </a:solidFill>
          <a:ln/>
        </p:spPr>
      </p:sp>
      <p:sp>
        <p:nvSpPr>
          <p:cNvPr id="66" name="Shape 63"/>
          <p:cNvSpPr/>
          <p:nvPr/>
        </p:nvSpPr>
        <p:spPr>
          <a:xfrm>
            <a:off x="1981200" y="4179570"/>
            <a:ext cx="57150" cy="57150"/>
          </a:xfrm>
          <a:prstGeom prst="rect">
            <a:avLst/>
          </a:prstGeom>
          <a:solidFill>
            <a:srgbClr val="000000"/>
          </a:solidFill>
          <a:ln/>
        </p:spPr>
      </p:sp>
      <p:sp>
        <p:nvSpPr>
          <p:cNvPr id="67" name="Shape 64"/>
          <p:cNvSpPr/>
          <p:nvPr/>
        </p:nvSpPr>
        <p:spPr>
          <a:xfrm>
            <a:off x="2095500" y="4179570"/>
            <a:ext cx="57150" cy="57150"/>
          </a:xfrm>
          <a:prstGeom prst="rect">
            <a:avLst/>
          </a:prstGeom>
          <a:solidFill>
            <a:srgbClr val="000000"/>
          </a:solidFill>
          <a:ln/>
        </p:spPr>
      </p:sp>
      <p:sp>
        <p:nvSpPr>
          <p:cNvPr id="68" name="Shape 65"/>
          <p:cNvSpPr/>
          <p:nvPr/>
        </p:nvSpPr>
        <p:spPr>
          <a:xfrm>
            <a:off x="2209800" y="4179570"/>
            <a:ext cx="57150" cy="57150"/>
          </a:xfrm>
          <a:prstGeom prst="rect">
            <a:avLst/>
          </a:prstGeom>
          <a:solidFill>
            <a:srgbClr val="000000"/>
          </a:solidFill>
          <a:ln/>
        </p:spPr>
      </p:sp>
      <p:sp>
        <p:nvSpPr>
          <p:cNvPr id="69" name="Shape 66"/>
          <p:cNvSpPr/>
          <p:nvPr/>
        </p:nvSpPr>
        <p:spPr>
          <a:xfrm>
            <a:off x="2266950" y="4179570"/>
            <a:ext cx="57150" cy="57150"/>
          </a:xfrm>
          <a:prstGeom prst="rect">
            <a:avLst/>
          </a:prstGeom>
          <a:solidFill>
            <a:srgbClr val="000000"/>
          </a:solidFill>
          <a:ln/>
        </p:spPr>
      </p:sp>
      <p:sp>
        <p:nvSpPr>
          <p:cNvPr id="70" name="Shape 67"/>
          <p:cNvSpPr/>
          <p:nvPr/>
        </p:nvSpPr>
        <p:spPr>
          <a:xfrm>
            <a:off x="2324100" y="4179570"/>
            <a:ext cx="57150" cy="57150"/>
          </a:xfrm>
          <a:prstGeom prst="rect">
            <a:avLst/>
          </a:prstGeom>
          <a:solidFill>
            <a:srgbClr val="000000"/>
          </a:solidFill>
          <a:ln/>
        </p:spPr>
      </p:sp>
      <p:sp>
        <p:nvSpPr>
          <p:cNvPr id="71" name="Shape 68"/>
          <p:cNvSpPr/>
          <p:nvPr/>
        </p:nvSpPr>
        <p:spPr>
          <a:xfrm>
            <a:off x="2438400" y="4179570"/>
            <a:ext cx="57150" cy="57150"/>
          </a:xfrm>
          <a:prstGeom prst="rect">
            <a:avLst/>
          </a:prstGeom>
          <a:solidFill>
            <a:srgbClr val="000000"/>
          </a:solidFill>
          <a:ln/>
        </p:spPr>
      </p:sp>
      <p:sp>
        <p:nvSpPr>
          <p:cNvPr id="72" name="Shape 69"/>
          <p:cNvSpPr/>
          <p:nvPr/>
        </p:nvSpPr>
        <p:spPr>
          <a:xfrm>
            <a:off x="1066800" y="4236720"/>
            <a:ext cx="57150" cy="57150"/>
          </a:xfrm>
          <a:prstGeom prst="rect">
            <a:avLst/>
          </a:prstGeom>
          <a:solidFill>
            <a:srgbClr val="000000"/>
          </a:solidFill>
          <a:ln/>
        </p:spPr>
      </p:sp>
      <p:sp>
        <p:nvSpPr>
          <p:cNvPr id="73" name="Shape 70"/>
          <p:cNvSpPr/>
          <p:nvPr/>
        </p:nvSpPr>
        <p:spPr>
          <a:xfrm>
            <a:off x="1181100" y="4236720"/>
            <a:ext cx="57150" cy="57150"/>
          </a:xfrm>
          <a:prstGeom prst="rect">
            <a:avLst/>
          </a:prstGeom>
          <a:solidFill>
            <a:srgbClr val="000000"/>
          </a:solidFill>
          <a:ln/>
        </p:spPr>
      </p:sp>
      <p:sp>
        <p:nvSpPr>
          <p:cNvPr id="74" name="Shape 71"/>
          <p:cNvSpPr/>
          <p:nvPr/>
        </p:nvSpPr>
        <p:spPr>
          <a:xfrm>
            <a:off x="1238250" y="4236720"/>
            <a:ext cx="57150" cy="57150"/>
          </a:xfrm>
          <a:prstGeom prst="rect">
            <a:avLst/>
          </a:prstGeom>
          <a:solidFill>
            <a:srgbClr val="000000"/>
          </a:solidFill>
          <a:ln/>
        </p:spPr>
      </p:sp>
      <p:sp>
        <p:nvSpPr>
          <p:cNvPr id="75" name="Shape 72"/>
          <p:cNvSpPr/>
          <p:nvPr/>
        </p:nvSpPr>
        <p:spPr>
          <a:xfrm>
            <a:off x="1295400" y="4236720"/>
            <a:ext cx="57150" cy="57150"/>
          </a:xfrm>
          <a:prstGeom prst="rect">
            <a:avLst/>
          </a:prstGeom>
          <a:solidFill>
            <a:srgbClr val="000000"/>
          </a:solidFill>
          <a:ln/>
        </p:spPr>
      </p:sp>
      <p:sp>
        <p:nvSpPr>
          <p:cNvPr id="76" name="Shape 73"/>
          <p:cNvSpPr/>
          <p:nvPr/>
        </p:nvSpPr>
        <p:spPr>
          <a:xfrm>
            <a:off x="1409700" y="4236720"/>
            <a:ext cx="57150" cy="57150"/>
          </a:xfrm>
          <a:prstGeom prst="rect">
            <a:avLst/>
          </a:prstGeom>
          <a:solidFill>
            <a:srgbClr val="000000"/>
          </a:solidFill>
          <a:ln/>
        </p:spPr>
      </p:sp>
      <p:sp>
        <p:nvSpPr>
          <p:cNvPr id="77" name="Shape 74"/>
          <p:cNvSpPr/>
          <p:nvPr/>
        </p:nvSpPr>
        <p:spPr>
          <a:xfrm>
            <a:off x="1581150" y="4236720"/>
            <a:ext cx="57150" cy="57150"/>
          </a:xfrm>
          <a:prstGeom prst="rect">
            <a:avLst/>
          </a:prstGeom>
          <a:solidFill>
            <a:srgbClr val="000000"/>
          </a:solidFill>
          <a:ln/>
        </p:spPr>
      </p:sp>
      <p:sp>
        <p:nvSpPr>
          <p:cNvPr id="78" name="Shape 75"/>
          <p:cNvSpPr/>
          <p:nvPr/>
        </p:nvSpPr>
        <p:spPr>
          <a:xfrm>
            <a:off x="1638300" y="4236720"/>
            <a:ext cx="57150" cy="57150"/>
          </a:xfrm>
          <a:prstGeom prst="rect">
            <a:avLst/>
          </a:prstGeom>
          <a:solidFill>
            <a:srgbClr val="000000"/>
          </a:solidFill>
          <a:ln/>
        </p:spPr>
      </p:sp>
      <p:sp>
        <p:nvSpPr>
          <p:cNvPr id="79" name="Shape 76"/>
          <p:cNvSpPr/>
          <p:nvPr/>
        </p:nvSpPr>
        <p:spPr>
          <a:xfrm>
            <a:off x="1752600" y="4236720"/>
            <a:ext cx="57150" cy="57150"/>
          </a:xfrm>
          <a:prstGeom prst="rect">
            <a:avLst/>
          </a:prstGeom>
          <a:solidFill>
            <a:srgbClr val="000000"/>
          </a:solidFill>
          <a:ln/>
        </p:spPr>
      </p:sp>
      <p:sp>
        <p:nvSpPr>
          <p:cNvPr id="80" name="Shape 77"/>
          <p:cNvSpPr/>
          <p:nvPr/>
        </p:nvSpPr>
        <p:spPr>
          <a:xfrm>
            <a:off x="1924050" y="4236720"/>
            <a:ext cx="57150" cy="57150"/>
          </a:xfrm>
          <a:prstGeom prst="rect">
            <a:avLst/>
          </a:prstGeom>
          <a:solidFill>
            <a:srgbClr val="000000"/>
          </a:solidFill>
          <a:ln/>
        </p:spPr>
      </p:sp>
      <p:sp>
        <p:nvSpPr>
          <p:cNvPr id="81" name="Shape 78"/>
          <p:cNvSpPr/>
          <p:nvPr/>
        </p:nvSpPr>
        <p:spPr>
          <a:xfrm>
            <a:off x="1981200" y="4236720"/>
            <a:ext cx="57150" cy="57150"/>
          </a:xfrm>
          <a:prstGeom prst="rect">
            <a:avLst/>
          </a:prstGeom>
          <a:solidFill>
            <a:srgbClr val="000000"/>
          </a:solidFill>
          <a:ln/>
        </p:spPr>
      </p:sp>
      <p:sp>
        <p:nvSpPr>
          <p:cNvPr id="82" name="Shape 79"/>
          <p:cNvSpPr/>
          <p:nvPr/>
        </p:nvSpPr>
        <p:spPr>
          <a:xfrm>
            <a:off x="2095500" y="4236720"/>
            <a:ext cx="57150" cy="57150"/>
          </a:xfrm>
          <a:prstGeom prst="rect">
            <a:avLst/>
          </a:prstGeom>
          <a:solidFill>
            <a:srgbClr val="000000"/>
          </a:solidFill>
          <a:ln/>
        </p:spPr>
      </p:sp>
      <p:sp>
        <p:nvSpPr>
          <p:cNvPr id="83" name="Shape 80"/>
          <p:cNvSpPr/>
          <p:nvPr/>
        </p:nvSpPr>
        <p:spPr>
          <a:xfrm>
            <a:off x="2209800" y="4236720"/>
            <a:ext cx="57150" cy="57150"/>
          </a:xfrm>
          <a:prstGeom prst="rect">
            <a:avLst/>
          </a:prstGeom>
          <a:solidFill>
            <a:srgbClr val="000000"/>
          </a:solidFill>
          <a:ln/>
        </p:spPr>
      </p:sp>
      <p:sp>
        <p:nvSpPr>
          <p:cNvPr id="84" name="Shape 81"/>
          <p:cNvSpPr/>
          <p:nvPr/>
        </p:nvSpPr>
        <p:spPr>
          <a:xfrm>
            <a:off x="2266950" y="4236720"/>
            <a:ext cx="57150" cy="57150"/>
          </a:xfrm>
          <a:prstGeom prst="rect">
            <a:avLst/>
          </a:prstGeom>
          <a:solidFill>
            <a:srgbClr val="000000"/>
          </a:solidFill>
          <a:ln/>
        </p:spPr>
      </p:sp>
      <p:sp>
        <p:nvSpPr>
          <p:cNvPr id="85" name="Shape 82"/>
          <p:cNvSpPr/>
          <p:nvPr/>
        </p:nvSpPr>
        <p:spPr>
          <a:xfrm>
            <a:off x="2324100" y="4236720"/>
            <a:ext cx="57150" cy="57150"/>
          </a:xfrm>
          <a:prstGeom prst="rect">
            <a:avLst/>
          </a:prstGeom>
          <a:solidFill>
            <a:srgbClr val="000000"/>
          </a:solidFill>
          <a:ln/>
        </p:spPr>
      </p:sp>
      <p:sp>
        <p:nvSpPr>
          <p:cNvPr id="86" name="Shape 83"/>
          <p:cNvSpPr/>
          <p:nvPr/>
        </p:nvSpPr>
        <p:spPr>
          <a:xfrm>
            <a:off x="2438400" y="4236720"/>
            <a:ext cx="57150" cy="57150"/>
          </a:xfrm>
          <a:prstGeom prst="rect">
            <a:avLst/>
          </a:prstGeom>
          <a:solidFill>
            <a:srgbClr val="000000"/>
          </a:solidFill>
          <a:ln/>
        </p:spPr>
      </p:sp>
      <p:sp>
        <p:nvSpPr>
          <p:cNvPr id="87" name="Shape 84"/>
          <p:cNvSpPr/>
          <p:nvPr/>
        </p:nvSpPr>
        <p:spPr>
          <a:xfrm>
            <a:off x="1066800" y="4293870"/>
            <a:ext cx="57150" cy="57150"/>
          </a:xfrm>
          <a:prstGeom prst="rect">
            <a:avLst/>
          </a:prstGeom>
          <a:solidFill>
            <a:srgbClr val="000000"/>
          </a:solidFill>
          <a:ln/>
        </p:spPr>
      </p:sp>
      <p:sp>
        <p:nvSpPr>
          <p:cNvPr id="88" name="Shape 85"/>
          <p:cNvSpPr/>
          <p:nvPr/>
        </p:nvSpPr>
        <p:spPr>
          <a:xfrm>
            <a:off x="1181100" y="4293870"/>
            <a:ext cx="57150" cy="57150"/>
          </a:xfrm>
          <a:prstGeom prst="rect">
            <a:avLst/>
          </a:prstGeom>
          <a:solidFill>
            <a:srgbClr val="000000"/>
          </a:solidFill>
          <a:ln/>
        </p:spPr>
      </p:sp>
      <p:sp>
        <p:nvSpPr>
          <p:cNvPr id="89" name="Shape 86"/>
          <p:cNvSpPr/>
          <p:nvPr/>
        </p:nvSpPr>
        <p:spPr>
          <a:xfrm>
            <a:off x="1238250" y="4293870"/>
            <a:ext cx="57150" cy="57150"/>
          </a:xfrm>
          <a:prstGeom prst="rect">
            <a:avLst/>
          </a:prstGeom>
          <a:solidFill>
            <a:srgbClr val="000000"/>
          </a:solidFill>
          <a:ln/>
        </p:spPr>
      </p:sp>
      <p:sp>
        <p:nvSpPr>
          <p:cNvPr id="90" name="Shape 87"/>
          <p:cNvSpPr/>
          <p:nvPr/>
        </p:nvSpPr>
        <p:spPr>
          <a:xfrm>
            <a:off x="1295400" y="4293870"/>
            <a:ext cx="57150" cy="57150"/>
          </a:xfrm>
          <a:prstGeom prst="rect">
            <a:avLst/>
          </a:prstGeom>
          <a:solidFill>
            <a:srgbClr val="000000"/>
          </a:solidFill>
          <a:ln/>
        </p:spPr>
      </p:sp>
      <p:sp>
        <p:nvSpPr>
          <p:cNvPr id="91" name="Shape 88"/>
          <p:cNvSpPr/>
          <p:nvPr/>
        </p:nvSpPr>
        <p:spPr>
          <a:xfrm>
            <a:off x="1409700" y="4293870"/>
            <a:ext cx="57150" cy="57150"/>
          </a:xfrm>
          <a:prstGeom prst="rect">
            <a:avLst/>
          </a:prstGeom>
          <a:solidFill>
            <a:srgbClr val="000000"/>
          </a:solidFill>
          <a:ln/>
        </p:spPr>
      </p:sp>
      <p:sp>
        <p:nvSpPr>
          <p:cNvPr id="92" name="Shape 89"/>
          <p:cNvSpPr/>
          <p:nvPr/>
        </p:nvSpPr>
        <p:spPr>
          <a:xfrm>
            <a:off x="2095500" y="4293870"/>
            <a:ext cx="57150" cy="57150"/>
          </a:xfrm>
          <a:prstGeom prst="rect">
            <a:avLst/>
          </a:prstGeom>
          <a:solidFill>
            <a:srgbClr val="000000"/>
          </a:solidFill>
          <a:ln/>
        </p:spPr>
      </p:sp>
      <p:sp>
        <p:nvSpPr>
          <p:cNvPr id="93" name="Shape 90"/>
          <p:cNvSpPr/>
          <p:nvPr/>
        </p:nvSpPr>
        <p:spPr>
          <a:xfrm>
            <a:off x="2209800" y="4293870"/>
            <a:ext cx="57150" cy="57150"/>
          </a:xfrm>
          <a:prstGeom prst="rect">
            <a:avLst/>
          </a:prstGeom>
          <a:solidFill>
            <a:srgbClr val="000000"/>
          </a:solidFill>
          <a:ln/>
        </p:spPr>
      </p:sp>
      <p:sp>
        <p:nvSpPr>
          <p:cNvPr id="94" name="Shape 91"/>
          <p:cNvSpPr/>
          <p:nvPr/>
        </p:nvSpPr>
        <p:spPr>
          <a:xfrm>
            <a:off x="2266950" y="4293870"/>
            <a:ext cx="57150" cy="57150"/>
          </a:xfrm>
          <a:prstGeom prst="rect">
            <a:avLst/>
          </a:prstGeom>
          <a:solidFill>
            <a:srgbClr val="000000"/>
          </a:solidFill>
          <a:ln/>
        </p:spPr>
      </p:sp>
      <p:sp>
        <p:nvSpPr>
          <p:cNvPr id="95" name="Shape 92"/>
          <p:cNvSpPr/>
          <p:nvPr/>
        </p:nvSpPr>
        <p:spPr>
          <a:xfrm>
            <a:off x="2324100" y="4293870"/>
            <a:ext cx="57150" cy="57150"/>
          </a:xfrm>
          <a:prstGeom prst="rect">
            <a:avLst/>
          </a:prstGeom>
          <a:solidFill>
            <a:srgbClr val="000000"/>
          </a:solidFill>
          <a:ln/>
        </p:spPr>
      </p:sp>
      <p:sp>
        <p:nvSpPr>
          <p:cNvPr id="96" name="Shape 93"/>
          <p:cNvSpPr/>
          <p:nvPr/>
        </p:nvSpPr>
        <p:spPr>
          <a:xfrm>
            <a:off x="2438400" y="4293870"/>
            <a:ext cx="57150" cy="57150"/>
          </a:xfrm>
          <a:prstGeom prst="rect">
            <a:avLst/>
          </a:prstGeom>
          <a:solidFill>
            <a:srgbClr val="000000"/>
          </a:solidFill>
          <a:ln/>
        </p:spPr>
      </p:sp>
      <p:sp>
        <p:nvSpPr>
          <p:cNvPr id="97" name="Shape 94"/>
          <p:cNvSpPr/>
          <p:nvPr/>
        </p:nvSpPr>
        <p:spPr>
          <a:xfrm>
            <a:off x="1066800" y="4351020"/>
            <a:ext cx="57150" cy="57150"/>
          </a:xfrm>
          <a:prstGeom prst="rect">
            <a:avLst/>
          </a:prstGeom>
          <a:solidFill>
            <a:srgbClr val="000000"/>
          </a:solidFill>
          <a:ln/>
        </p:spPr>
      </p:sp>
      <p:sp>
        <p:nvSpPr>
          <p:cNvPr id="98" name="Shape 95"/>
          <p:cNvSpPr/>
          <p:nvPr/>
        </p:nvSpPr>
        <p:spPr>
          <a:xfrm>
            <a:off x="1409700" y="4351020"/>
            <a:ext cx="57150" cy="57150"/>
          </a:xfrm>
          <a:prstGeom prst="rect">
            <a:avLst/>
          </a:prstGeom>
          <a:solidFill>
            <a:srgbClr val="000000"/>
          </a:solidFill>
          <a:ln/>
        </p:spPr>
      </p:sp>
      <p:sp>
        <p:nvSpPr>
          <p:cNvPr id="99" name="Shape 96"/>
          <p:cNvSpPr/>
          <p:nvPr/>
        </p:nvSpPr>
        <p:spPr>
          <a:xfrm>
            <a:off x="1638300" y="4351020"/>
            <a:ext cx="57150" cy="57150"/>
          </a:xfrm>
          <a:prstGeom prst="rect">
            <a:avLst/>
          </a:prstGeom>
          <a:solidFill>
            <a:srgbClr val="000000"/>
          </a:solidFill>
          <a:ln/>
        </p:spPr>
      </p:sp>
      <p:sp>
        <p:nvSpPr>
          <p:cNvPr id="100" name="Shape 97"/>
          <p:cNvSpPr/>
          <p:nvPr/>
        </p:nvSpPr>
        <p:spPr>
          <a:xfrm>
            <a:off x="1752600" y="4351020"/>
            <a:ext cx="57150" cy="57150"/>
          </a:xfrm>
          <a:prstGeom prst="rect">
            <a:avLst/>
          </a:prstGeom>
          <a:solidFill>
            <a:srgbClr val="000000"/>
          </a:solidFill>
          <a:ln/>
        </p:spPr>
      </p:sp>
      <p:sp>
        <p:nvSpPr>
          <p:cNvPr id="101" name="Shape 98"/>
          <p:cNvSpPr/>
          <p:nvPr/>
        </p:nvSpPr>
        <p:spPr>
          <a:xfrm>
            <a:off x="1981200" y="4351020"/>
            <a:ext cx="57150" cy="57150"/>
          </a:xfrm>
          <a:prstGeom prst="rect">
            <a:avLst/>
          </a:prstGeom>
          <a:solidFill>
            <a:srgbClr val="000000"/>
          </a:solidFill>
          <a:ln/>
        </p:spPr>
      </p:sp>
      <p:sp>
        <p:nvSpPr>
          <p:cNvPr id="102" name="Shape 99"/>
          <p:cNvSpPr/>
          <p:nvPr/>
        </p:nvSpPr>
        <p:spPr>
          <a:xfrm>
            <a:off x="2095500" y="4351020"/>
            <a:ext cx="57150" cy="57150"/>
          </a:xfrm>
          <a:prstGeom prst="rect">
            <a:avLst/>
          </a:prstGeom>
          <a:solidFill>
            <a:srgbClr val="000000"/>
          </a:solidFill>
          <a:ln/>
        </p:spPr>
      </p:sp>
      <p:sp>
        <p:nvSpPr>
          <p:cNvPr id="103" name="Shape 100"/>
          <p:cNvSpPr/>
          <p:nvPr/>
        </p:nvSpPr>
        <p:spPr>
          <a:xfrm>
            <a:off x="2438400" y="4351020"/>
            <a:ext cx="57150" cy="57150"/>
          </a:xfrm>
          <a:prstGeom prst="rect">
            <a:avLst/>
          </a:prstGeom>
          <a:solidFill>
            <a:srgbClr val="000000"/>
          </a:solidFill>
          <a:ln/>
        </p:spPr>
      </p:sp>
      <p:sp>
        <p:nvSpPr>
          <p:cNvPr id="104" name="Shape 101"/>
          <p:cNvSpPr/>
          <p:nvPr/>
        </p:nvSpPr>
        <p:spPr>
          <a:xfrm>
            <a:off x="1066800" y="4408170"/>
            <a:ext cx="57150" cy="57150"/>
          </a:xfrm>
          <a:prstGeom prst="rect">
            <a:avLst/>
          </a:prstGeom>
          <a:solidFill>
            <a:srgbClr val="000000"/>
          </a:solidFill>
          <a:ln/>
        </p:spPr>
      </p:sp>
      <p:sp>
        <p:nvSpPr>
          <p:cNvPr id="105" name="Shape 102"/>
          <p:cNvSpPr/>
          <p:nvPr/>
        </p:nvSpPr>
        <p:spPr>
          <a:xfrm>
            <a:off x="1123950" y="4408170"/>
            <a:ext cx="57150" cy="57150"/>
          </a:xfrm>
          <a:prstGeom prst="rect">
            <a:avLst/>
          </a:prstGeom>
          <a:solidFill>
            <a:srgbClr val="000000"/>
          </a:solidFill>
          <a:ln/>
        </p:spPr>
      </p:sp>
      <p:sp>
        <p:nvSpPr>
          <p:cNvPr id="106" name="Shape 103"/>
          <p:cNvSpPr/>
          <p:nvPr/>
        </p:nvSpPr>
        <p:spPr>
          <a:xfrm>
            <a:off x="1181100" y="4408170"/>
            <a:ext cx="57150" cy="57150"/>
          </a:xfrm>
          <a:prstGeom prst="rect">
            <a:avLst/>
          </a:prstGeom>
          <a:solidFill>
            <a:srgbClr val="000000"/>
          </a:solidFill>
          <a:ln/>
        </p:spPr>
      </p:sp>
      <p:sp>
        <p:nvSpPr>
          <p:cNvPr id="107" name="Shape 104"/>
          <p:cNvSpPr/>
          <p:nvPr/>
        </p:nvSpPr>
        <p:spPr>
          <a:xfrm>
            <a:off x="1238250" y="4408170"/>
            <a:ext cx="57150" cy="57150"/>
          </a:xfrm>
          <a:prstGeom prst="rect">
            <a:avLst/>
          </a:prstGeom>
          <a:solidFill>
            <a:srgbClr val="000000"/>
          </a:solidFill>
          <a:ln/>
        </p:spPr>
      </p:sp>
      <p:sp>
        <p:nvSpPr>
          <p:cNvPr id="108" name="Shape 105"/>
          <p:cNvSpPr/>
          <p:nvPr/>
        </p:nvSpPr>
        <p:spPr>
          <a:xfrm>
            <a:off x="1295400" y="4408170"/>
            <a:ext cx="57150" cy="57150"/>
          </a:xfrm>
          <a:prstGeom prst="rect">
            <a:avLst/>
          </a:prstGeom>
          <a:solidFill>
            <a:srgbClr val="000000"/>
          </a:solidFill>
          <a:ln/>
        </p:spPr>
      </p:sp>
      <p:sp>
        <p:nvSpPr>
          <p:cNvPr id="109" name="Shape 106"/>
          <p:cNvSpPr/>
          <p:nvPr/>
        </p:nvSpPr>
        <p:spPr>
          <a:xfrm>
            <a:off x="1352550" y="4408170"/>
            <a:ext cx="57150" cy="57150"/>
          </a:xfrm>
          <a:prstGeom prst="rect">
            <a:avLst/>
          </a:prstGeom>
          <a:solidFill>
            <a:srgbClr val="000000"/>
          </a:solidFill>
          <a:ln/>
        </p:spPr>
      </p:sp>
      <p:sp>
        <p:nvSpPr>
          <p:cNvPr id="110" name="Shape 107"/>
          <p:cNvSpPr/>
          <p:nvPr/>
        </p:nvSpPr>
        <p:spPr>
          <a:xfrm>
            <a:off x="1409700" y="4408170"/>
            <a:ext cx="57150" cy="57150"/>
          </a:xfrm>
          <a:prstGeom prst="rect">
            <a:avLst/>
          </a:prstGeom>
          <a:solidFill>
            <a:srgbClr val="000000"/>
          </a:solidFill>
          <a:ln/>
        </p:spPr>
      </p:sp>
      <p:sp>
        <p:nvSpPr>
          <p:cNvPr id="111" name="Shape 108"/>
          <p:cNvSpPr/>
          <p:nvPr/>
        </p:nvSpPr>
        <p:spPr>
          <a:xfrm>
            <a:off x="1524000" y="4408170"/>
            <a:ext cx="57150" cy="57150"/>
          </a:xfrm>
          <a:prstGeom prst="rect">
            <a:avLst/>
          </a:prstGeom>
          <a:solidFill>
            <a:srgbClr val="000000"/>
          </a:solidFill>
          <a:ln/>
        </p:spPr>
      </p:sp>
      <p:sp>
        <p:nvSpPr>
          <p:cNvPr id="112" name="Shape 109"/>
          <p:cNvSpPr/>
          <p:nvPr/>
        </p:nvSpPr>
        <p:spPr>
          <a:xfrm>
            <a:off x="1638300" y="4408170"/>
            <a:ext cx="57150" cy="57150"/>
          </a:xfrm>
          <a:prstGeom prst="rect">
            <a:avLst/>
          </a:prstGeom>
          <a:solidFill>
            <a:srgbClr val="000000"/>
          </a:solidFill>
          <a:ln/>
        </p:spPr>
      </p:sp>
      <p:sp>
        <p:nvSpPr>
          <p:cNvPr id="113" name="Shape 110"/>
          <p:cNvSpPr/>
          <p:nvPr/>
        </p:nvSpPr>
        <p:spPr>
          <a:xfrm>
            <a:off x="1752600" y="4408170"/>
            <a:ext cx="57150" cy="57150"/>
          </a:xfrm>
          <a:prstGeom prst="rect">
            <a:avLst/>
          </a:prstGeom>
          <a:solidFill>
            <a:srgbClr val="000000"/>
          </a:solidFill>
          <a:ln/>
        </p:spPr>
      </p:sp>
      <p:sp>
        <p:nvSpPr>
          <p:cNvPr id="114" name="Shape 111"/>
          <p:cNvSpPr/>
          <p:nvPr/>
        </p:nvSpPr>
        <p:spPr>
          <a:xfrm>
            <a:off x="1866900" y="4408170"/>
            <a:ext cx="57150" cy="57150"/>
          </a:xfrm>
          <a:prstGeom prst="rect">
            <a:avLst/>
          </a:prstGeom>
          <a:solidFill>
            <a:srgbClr val="000000"/>
          </a:solidFill>
          <a:ln/>
        </p:spPr>
      </p:sp>
      <p:sp>
        <p:nvSpPr>
          <p:cNvPr id="115" name="Shape 112"/>
          <p:cNvSpPr/>
          <p:nvPr/>
        </p:nvSpPr>
        <p:spPr>
          <a:xfrm>
            <a:off x="1981200" y="4408170"/>
            <a:ext cx="57150" cy="57150"/>
          </a:xfrm>
          <a:prstGeom prst="rect">
            <a:avLst/>
          </a:prstGeom>
          <a:solidFill>
            <a:srgbClr val="000000"/>
          </a:solidFill>
          <a:ln/>
        </p:spPr>
      </p:sp>
      <p:sp>
        <p:nvSpPr>
          <p:cNvPr id="116" name="Shape 113"/>
          <p:cNvSpPr/>
          <p:nvPr/>
        </p:nvSpPr>
        <p:spPr>
          <a:xfrm>
            <a:off x="2095500" y="4408170"/>
            <a:ext cx="57150" cy="57150"/>
          </a:xfrm>
          <a:prstGeom prst="rect">
            <a:avLst/>
          </a:prstGeom>
          <a:solidFill>
            <a:srgbClr val="000000"/>
          </a:solidFill>
          <a:ln/>
        </p:spPr>
      </p:sp>
      <p:sp>
        <p:nvSpPr>
          <p:cNvPr id="117" name="Shape 114"/>
          <p:cNvSpPr/>
          <p:nvPr/>
        </p:nvSpPr>
        <p:spPr>
          <a:xfrm>
            <a:off x="2152650" y="4408170"/>
            <a:ext cx="57150" cy="57150"/>
          </a:xfrm>
          <a:prstGeom prst="rect">
            <a:avLst/>
          </a:prstGeom>
          <a:solidFill>
            <a:srgbClr val="000000"/>
          </a:solidFill>
          <a:ln/>
        </p:spPr>
      </p:sp>
      <p:sp>
        <p:nvSpPr>
          <p:cNvPr id="118" name="Shape 115"/>
          <p:cNvSpPr/>
          <p:nvPr/>
        </p:nvSpPr>
        <p:spPr>
          <a:xfrm>
            <a:off x="2209800" y="4408170"/>
            <a:ext cx="57150" cy="57150"/>
          </a:xfrm>
          <a:prstGeom prst="rect">
            <a:avLst/>
          </a:prstGeom>
          <a:solidFill>
            <a:srgbClr val="000000"/>
          </a:solidFill>
          <a:ln/>
        </p:spPr>
      </p:sp>
      <p:sp>
        <p:nvSpPr>
          <p:cNvPr id="119" name="Shape 116"/>
          <p:cNvSpPr/>
          <p:nvPr/>
        </p:nvSpPr>
        <p:spPr>
          <a:xfrm>
            <a:off x="2266950" y="4408170"/>
            <a:ext cx="57150" cy="57150"/>
          </a:xfrm>
          <a:prstGeom prst="rect">
            <a:avLst/>
          </a:prstGeom>
          <a:solidFill>
            <a:srgbClr val="000000"/>
          </a:solidFill>
          <a:ln/>
        </p:spPr>
      </p:sp>
      <p:sp>
        <p:nvSpPr>
          <p:cNvPr id="120" name="Shape 117"/>
          <p:cNvSpPr/>
          <p:nvPr/>
        </p:nvSpPr>
        <p:spPr>
          <a:xfrm>
            <a:off x="2324100" y="4408170"/>
            <a:ext cx="57150" cy="57150"/>
          </a:xfrm>
          <a:prstGeom prst="rect">
            <a:avLst/>
          </a:prstGeom>
          <a:solidFill>
            <a:srgbClr val="000000"/>
          </a:solidFill>
          <a:ln/>
        </p:spPr>
      </p:sp>
      <p:sp>
        <p:nvSpPr>
          <p:cNvPr id="121" name="Shape 118"/>
          <p:cNvSpPr/>
          <p:nvPr/>
        </p:nvSpPr>
        <p:spPr>
          <a:xfrm>
            <a:off x="2381250" y="4408170"/>
            <a:ext cx="57150" cy="57150"/>
          </a:xfrm>
          <a:prstGeom prst="rect">
            <a:avLst/>
          </a:prstGeom>
          <a:solidFill>
            <a:srgbClr val="000000"/>
          </a:solidFill>
          <a:ln/>
        </p:spPr>
      </p:sp>
      <p:sp>
        <p:nvSpPr>
          <p:cNvPr id="122" name="Shape 119"/>
          <p:cNvSpPr/>
          <p:nvPr/>
        </p:nvSpPr>
        <p:spPr>
          <a:xfrm>
            <a:off x="2438400" y="4408170"/>
            <a:ext cx="57150" cy="57150"/>
          </a:xfrm>
          <a:prstGeom prst="rect">
            <a:avLst/>
          </a:prstGeom>
          <a:solidFill>
            <a:srgbClr val="000000"/>
          </a:solidFill>
          <a:ln/>
        </p:spPr>
      </p:sp>
      <p:sp>
        <p:nvSpPr>
          <p:cNvPr id="123" name="Shape 120"/>
          <p:cNvSpPr/>
          <p:nvPr/>
        </p:nvSpPr>
        <p:spPr>
          <a:xfrm>
            <a:off x="1581150" y="4465320"/>
            <a:ext cx="57150" cy="57150"/>
          </a:xfrm>
          <a:prstGeom prst="rect">
            <a:avLst/>
          </a:prstGeom>
          <a:solidFill>
            <a:srgbClr val="000000"/>
          </a:solidFill>
          <a:ln/>
        </p:spPr>
      </p:sp>
      <p:sp>
        <p:nvSpPr>
          <p:cNvPr id="124" name="Shape 121"/>
          <p:cNvSpPr/>
          <p:nvPr/>
        </p:nvSpPr>
        <p:spPr>
          <a:xfrm>
            <a:off x="1695450" y="4465320"/>
            <a:ext cx="57150" cy="57150"/>
          </a:xfrm>
          <a:prstGeom prst="rect">
            <a:avLst/>
          </a:prstGeom>
          <a:solidFill>
            <a:srgbClr val="000000"/>
          </a:solidFill>
          <a:ln/>
        </p:spPr>
      </p:sp>
      <p:sp>
        <p:nvSpPr>
          <p:cNvPr id="125" name="Shape 122"/>
          <p:cNvSpPr/>
          <p:nvPr/>
        </p:nvSpPr>
        <p:spPr>
          <a:xfrm>
            <a:off x="1752600" y="4465320"/>
            <a:ext cx="57150" cy="57150"/>
          </a:xfrm>
          <a:prstGeom prst="rect">
            <a:avLst/>
          </a:prstGeom>
          <a:solidFill>
            <a:srgbClr val="000000"/>
          </a:solidFill>
          <a:ln/>
        </p:spPr>
      </p:sp>
      <p:sp>
        <p:nvSpPr>
          <p:cNvPr id="126" name="Shape 123"/>
          <p:cNvSpPr/>
          <p:nvPr/>
        </p:nvSpPr>
        <p:spPr>
          <a:xfrm>
            <a:off x="1866900" y="4465320"/>
            <a:ext cx="57150" cy="57150"/>
          </a:xfrm>
          <a:prstGeom prst="rect">
            <a:avLst/>
          </a:prstGeom>
          <a:solidFill>
            <a:srgbClr val="000000"/>
          </a:solidFill>
          <a:ln/>
        </p:spPr>
      </p:sp>
      <p:sp>
        <p:nvSpPr>
          <p:cNvPr id="127" name="Shape 124"/>
          <p:cNvSpPr/>
          <p:nvPr/>
        </p:nvSpPr>
        <p:spPr>
          <a:xfrm>
            <a:off x="1924050" y="4465320"/>
            <a:ext cx="57150" cy="57150"/>
          </a:xfrm>
          <a:prstGeom prst="rect">
            <a:avLst/>
          </a:prstGeom>
          <a:solidFill>
            <a:srgbClr val="000000"/>
          </a:solidFill>
          <a:ln/>
        </p:spPr>
      </p:sp>
      <p:sp>
        <p:nvSpPr>
          <p:cNvPr id="128" name="Shape 125"/>
          <p:cNvSpPr/>
          <p:nvPr/>
        </p:nvSpPr>
        <p:spPr>
          <a:xfrm>
            <a:off x="1981200" y="4465320"/>
            <a:ext cx="57150" cy="57150"/>
          </a:xfrm>
          <a:prstGeom prst="rect">
            <a:avLst/>
          </a:prstGeom>
          <a:solidFill>
            <a:srgbClr val="000000"/>
          </a:solidFill>
          <a:ln/>
        </p:spPr>
      </p:sp>
      <p:sp>
        <p:nvSpPr>
          <p:cNvPr id="129" name="Shape 126"/>
          <p:cNvSpPr/>
          <p:nvPr/>
        </p:nvSpPr>
        <p:spPr>
          <a:xfrm>
            <a:off x="1123950" y="4522470"/>
            <a:ext cx="57150" cy="57150"/>
          </a:xfrm>
          <a:prstGeom prst="rect">
            <a:avLst/>
          </a:prstGeom>
          <a:solidFill>
            <a:srgbClr val="000000"/>
          </a:solidFill>
          <a:ln/>
        </p:spPr>
      </p:sp>
      <p:sp>
        <p:nvSpPr>
          <p:cNvPr id="130" name="Shape 127"/>
          <p:cNvSpPr/>
          <p:nvPr/>
        </p:nvSpPr>
        <p:spPr>
          <a:xfrm>
            <a:off x="1409700" y="4522470"/>
            <a:ext cx="57150" cy="57150"/>
          </a:xfrm>
          <a:prstGeom prst="rect">
            <a:avLst/>
          </a:prstGeom>
          <a:solidFill>
            <a:srgbClr val="000000"/>
          </a:solidFill>
          <a:ln/>
        </p:spPr>
      </p:sp>
      <p:sp>
        <p:nvSpPr>
          <p:cNvPr id="131" name="Shape 128"/>
          <p:cNvSpPr/>
          <p:nvPr/>
        </p:nvSpPr>
        <p:spPr>
          <a:xfrm>
            <a:off x="1466850" y="4522470"/>
            <a:ext cx="57150" cy="57150"/>
          </a:xfrm>
          <a:prstGeom prst="rect">
            <a:avLst/>
          </a:prstGeom>
          <a:solidFill>
            <a:srgbClr val="000000"/>
          </a:solidFill>
          <a:ln/>
        </p:spPr>
      </p:sp>
      <p:sp>
        <p:nvSpPr>
          <p:cNvPr id="132" name="Shape 129"/>
          <p:cNvSpPr/>
          <p:nvPr/>
        </p:nvSpPr>
        <p:spPr>
          <a:xfrm>
            <a:off x="1524000" y="4522470"/>
            <a:ext cx="57150" cy="57150"/>
          </a:xfrm>
          <a:prstGeom prst="rect">
            <a:avLst/>
          </a:prstGeom>
          <a:solidFill>
            <a:srgbClr val="000000"/>
          </a:solidFill>
          <a:ln/>
        </p:spPr>
      </p:sp>
      <p:sp>
        <p:nvSpPr>
          <p:cNvPr id="133" name="Shape 130"/>
          <p:cNvSpPr/>
          <p:nvPr/>
        </p:nvSpPr>
        <p:spPr>
          <a:xfrm>
            <a:off x="1638300" y="4522470"/>
            <a:ext cx="57150" cy="57150"/>
          </a:xfrm>
          <a:prstGeom prst="rect">
            <a:avLst/>
          </a:prstGeom>
          <a:solidFill>
            <a:srgbClr val="000000"/>
          </a:solidFill>
          <a:ln/>
        </p:spPr>
      </p:sp>
      <p:sp>
        <p:nvSpPr>
          <p:cNvPr id="134" name="Shape 131"/>
          <p:cNvSpPr/>
          <p:nvPr/>
        </p:nvSpPr>
        <p:spPr>
          <a:xfrm>
            <a:off x="1752600" y="4522470"/>
            <a:ext cx="57150" cy="57150"/>
          </a:xfrm>
          <a:prstGeom prst="rect">
            <a:avLst/>
          </a:prstGeom>
          <a:solidFill>
            <a:srgbClr val="000000"/>
          </a:solidFill>
          <a:ln/>
        </p:spPr>
      </p:sp>
      <p:sp>
        <p:nvSpPr>
          <p:cNvPr id="135" name="Shape 132"/>
          <p:cNvSpPr/>
          <p:nvPr/>
        </p:nvSpPr>
        <p:spPr>
          <a:xfrm>
            <a:off x="2038350" y="4522470"/>
            <a:ext cx="57150" cy="57150"/>
          </a:xfrm>
          <a:prstGeom prst="rect">
            <a:avLst/>
          </a:prstGeom>
          <a:solidFill>
            <a:srgbClr val="000000"/>
          </a:solidFill>
          <a:ln/>
        </p:spPr>
      </p:sp>
      <p:sp>
        <p:nvSpPr>
          <p:cNvPr id="136" name="Shape 133"/>
          <p:cNvSpPr/>
          <p:nvPr/>
        </p:nvSpPr>
        <p:spPr>
          <a:xfrm>
            <a:off x="2381250" y="4522470"/>
            <a:ext cx="57150" cy="57150"/>
          </a:xfrm>
          <a:prstGeom prst="rect">
            <a:avLst/>
          </a:prstGeom>
          <a:solidFill>
            <a:srgbClr val="000000"/>
          </a:solidFill>
          <a:ln/>
        </p:spPr>
      </p:sp>
      <p:sp>
        <p:nvSpPr>
          <p:cNvPr id="137" name="Shape 134"/>
          <p:cNvSpPr/>
          <p:nvPr/>
        </p:nvSpPr>
        <p:spPr>
          <a:xfrm>
            <a:off x="2438400" y="4522470"/>
            <a:ext cx="57150" cy="57150"/>
          </a:xfrm>
          <a:prstGeom prst="rect">
            <a:avLst/>
          </a:prstGeom>
          <a:solidFill>
            <a:srgbClr val="000000"/>
          </a:solidFill>
          <a:ln/>
        </p:spPr>
      </p:sp>
      <p:sp>
        <p:nvSpPr>
          <p:cNvPr id="138" name="Shape 135"/>
          <p:cNvSpPr/>
          <p:nvPr/>
        </p:nvSpPr>
        <p:spPr>
          <a:xfrm>
            <a:off x="1123950" y="4579620"/>
            <a:ext cx="57150" cy="57150"/>
          </a:xfrm>
          <a:prstGeom prst="rect">
            <a:avLst/>
          </a:prstGeom>
          <a:solidFill>
            <a:srgbClr val="000000"/>
          </a:solidFill>
          <a:ln/>
        </p:spPr>
      </p:sp>
      <p:sp>
        <p:nvSpPr>
          <p:cNvPr id="139" name="Shape 136"/>
          <p:cNvSpPr/>
          <p:nvPr/>
        </p:nvSpPr>
        <p:spPr>
          <a:xfrm>
            <a:off x="1295400" y="4579620"/>
            <a:ext cx="57150" cy="57150"/>
          </a:xfrm>
          <a:prstGeom prst="rect">
            <a:avLst/>
          </a:prstGeom>
          <a:solidFill>
            <a:srgbClr val="000000"/>
          </a:solidFill>
          <a:ln/>
        </p:spPr>
      </p:sp>
      <p:sp>
        <p:nvSpPr>
          <p:cNvPr id="140" name="Shape 137"/>
          <p:cNvSpPr/>
          <p:nvPr/>
        </p:nvSpPr>
        <p:spPr>
          <a:xfrm>
            <a:off x="1581150" y="4579620"/>
            <a:ext cx="57150" cy="57150"/>
          </a:xfrm>
          <a:prstGeom prst="rect">
            <a:avLst/>
          </a:prstGeom>
          <a:solidFill>
            <a:srgbClr val="000000"/>
          </a:solidFill>
          <a:ln/>
        </p:spPr>
      </p:sp>
      <p:sp>
        <p:nvSpPr>
          <p:cNvPr id="141" name="Shape 138"/>
          <p:cNvSpPr/>
          <p:nvPr/>
        </p:nvSpPr>
        <p:spPr>
          <a:xfrm>
            <a:off x="1752600" y="4579620"/>
            <a:ext cx="57150" cy="57150"/>
          </a:xfrm>
          <a:prstGeom prst="rect">
            <a:avLst/>
          </a:prstGeom>
          <a:solidFill>
            <a:srgbClr val="000000"/>
          </a:solidFill>
          <a:ln/>
        </p:spPr>
      </p:sp>
      <p:sp>
        <p:nvSpPr>
          <p:cNvPr id="142" name="Shape 139"/>
          <p:cNvSpPr/>
          <p:nvPr/>
        </p:nvSpPr>
        <p:spPr>
          <a:xfrm>
            <a:off x="1809750" y="4579620"/>
            <a:ext cx="57150" cy="57150"/>
          </a:xfrm>
          <a:prstGeom prst="rect">
            <a:avLst/>
          </a:prstGeom>
          <a:solidFill>
            <a:srgbClr val="000000"/>
          </a:solidFill>
          <a:ln/>
        </p:spPr>
      </p:sp>
      <p:sp>
        <p:nvSpPr>
          <p:cNvPr id="143" name="Shape 140"/>
          <p:cNvSpPr/>
          <p:nvPr/>
        </p:nvSpPr>
        <p:spPr>
          <a:xfrm>
            <a:off x="1924050" y="4579620"/>
            <a:ext cx="57150" cy="57150"/>
          </a:xfrm>
          <a:prstGeom prst="rect">
            <a:avLst/>
          </a:prstGeom>
          <a:solidFill>
            <a:srgbClr val="000000"/>
          </a:solidFill>
          <a:ln/>
        </p:spPr>
      </p:sp>
      <p:sp>
        <p:nvSpPr>
          <p:cNvPr id="144" name="Shape 141"/>
          <p:cNvSpPr/>
          <p:nvPr/>
        </p:nvSpPr>
        <p:spPr>
          <a:xfrm>
            <a:off x="2152650" y="4579620"/>
            <a:ext cx="57150" cy="57150"/>
          </a:xfrm>
          <a:prstGeom prst="rect">
            <a:avLst/>
          </a:prstGeom>
          <a:solidFill>
            <a:srgbClr val="000000"/>
          </a:solidFill>
          <a:ln/>
        </p:spPr>
      </p:sp>
      <p:sp>
        <p:nvSpPr>
          <p:cNvPr id="145" name="Shape 142"/>
          <p:cNvSpPr/>
          <p:nvPr/>
        </p:nvSpPr>
        <p:spPr>
          <a:xfrm>
            <a:off x="2209800" y="4579620"/>
            <a:ext cx="57150" cy="57150"/>
          </a:xfrm>
          <a:prstGeom prst="rect">
            <a:avLst/>
          </a:prstGeom>
          <a:solidFill>
            <a:srgbClr val="000000"/>
          </a:solidFill>
          <a:ln/>
        </p:spPr>
      </p:sp>
      <p:sp>
        <p:nvSpPr>
          <p:cNvPr id="146" name="Shape 143"/>
          <p:cNvSpPr/>
          <p:nvPr/>
        </p:nvSpPr>
        <p:spPr>
          <a:xfrm>
            <a:off x="2266950" y="4579620"/>
            <a:ext cx="57150" cy="57150"/>
          </a:xfrm>
          <a:prstGeom prst="rect">
            <a:avLst/>
          </a:prstGeom>
          <a:solidFill>
            <a:srgbClr val="000000"/>
          </a:solidFill>
          <a:ln/>
        </p:spPr>
      </p:sp>
      <p:sp>
        <p:nvSpPr>
          <p:cNvPr id="147" name="Shape 144"/>
          <p:cNvSpPr/>
          <p:nvPr/>
        </p:nvSpPr>
        <p:spPr>
          <a:xfrm>
            <a:off x="2324100" y="4579620"/>
            <a:ext cx="57150" cy="57150"/>
          </a:xfrm>
          <a:prstGeom prst="rect">
            <a:avLst/>
          </a:prstGeom>
          <a:solidFill>
            <a:srgbClr val="000000"/>
          </a:solidFill>
          <a:ln/>
        </p:spPr>
      </p:sp>
      <p:sp>
        <p:nvSpPr>
          <p:cNvPr id="148" name="Shape 145"/>
          <p:cNvSpPr/>
          <p:nvPr/>
        </p:nvSpPr>
        <p:spPr>
          <a:xfrm>
            <a:off x="2381250" y="4579620"/>
            <a:ext cx="57150" cy="57150"/>
          </a:xfrm>
          <a:prstGeom prst="rect">
            <a:avLst/>
          </a:prstGeom>
          <a:solidFill>
            <a:srgbClr val="000000"/>
          </a:solidFill>
          <a:ln/>
        </p:spPr>
      </p:sp>
      <p:sp>
        <p:nvSpPr>
          <p:cNvPr id="149" name="Shape 146"/>
          <p:cNvSpPr/>
          <p:nvPr/>
        </p:nvSpPr>
        <p:spPr>
          <a:xfrm>
            <a:off x="1123950" y="4636770"/>
            <a:ext cx="57150" cy="57150"/>
          </a:xfrm>
          <a:prstGeom prst="rect">
            <a:avLst/>
          </a:prstGeom>
          <a:solidFill>
            <a:srgbClr val="000000"/>
          </a:solidFill>
          <a:ln/>
        </p:spPr>
      </p:sp>
      <p:sp>
        <p:nvSpPr>
          <p:cNvPr id="150" name="Shape 147"/>
          <p:cNvSpPr/>
          <p:nvPr/>
        </p:nvSpPr>
        <p:spPr>
          <a:xfrm>
            <a:off x="1181100" y="4636770"/>
            <a:ext cx="57150" cy="57150"/>
          </a:xfrm>
          <a:prstGeom prst="rect">
            <a:avLst/>
          </a:prstGeom>
          <a:solidFill>
            <a:srgbClr val="000000"/>
          </a:solidFill>
          <a:ln/>
        </p:spPr>
      </p:sp>
      <p:sp>
        <p:nvSpPr>
          <p:cNvPr id="151" name="Shape 148"/>
          <p:cNvSpPr/>
          <p:nvPr/>
        </p:nvSpPr>
        <p:spPr>
          <a:xfrm>
            <a:off x="1352550" y="4636770"/>
            <a:ext cx="57150" cy="57150"/>
          </a:xfrm>
          <a:prstGeom prst="rect">
            <a:avLst/>
          </a:prstGeom>
          <a:solidFill>
            <a:srgbClr val="000000"/>
          </a:solidFill>
          <a:ln/>
        </p:spPr>
      </p:sp>
      <p:sp>
        <p:nvSpPr>
          <p:cNvPr id="152" name="Shape 149"/>
          <p:cNvSpPr/>
          <p:nvPr/>
        </p:nvSpPr>
        <p:spPr>
          <a:xfrm>
            <a:off x="1409700" y="4636770"/>
            <a:ext cx="57150" cy="57150"/>
          </a:xfrm>
          <a:prstGeom prst="rect">
            <a:avLst/>
          </a:prstGeom>
          <a:solidFill>
            <a:srgbClr val="000000"/>
          </a:solidFill>
          <a:ln/>
        </p:spPr>
      </p:sp>
      <p:sp>
        <p:nvSpPr>
          <p:cNvPr id="153" name="Shape 150"/>
          <p:cNvSpPr/>
          <p:nvPr/>
        </p:nvSpPr>
        <p:spPr>
          <a:xfrm>
            <a:off x="1581150" y="4636770"/>
            <a:ext cx="57150" cy="57150"/>
          </a:xfrm>
          <a:prstGeom prst="rect">
            <a:avLst/>
          </a:prstGeom>
          <a:solidFill>
            <a:srgbClr val="000000"/>
          </a:solidFill>
          <a:ln/>
        </p:spPr>
      </p:sp>
      <p:sp>
        <p:nvSpPr>
          <p:cNvPr id="154" name="Shape 151"/>
          <p:cNvSpPr/>
          <p:nvPr/>
        </p:nvSpPr>
        <p:spPr>
          <a:xfrm>
            <a:off x="1638300" y="4636770"/>
            <a:ext cx="57150" cy="57150"/>
          </a:xfrm>
          <a:prstGeom prst="rect">
            <a:avLst/>
          </a:prstGeom>
          <a:solidFill>
            <a:srgbClr val="000000"/>
          </a:solidFill>
          <a:ln/>
        </p:spPr>
      </p:sp>
      <p:sp>
        <p:nvSpPr>
          <p:cNvPr id="155" name="Shape 152"/>
          <p:cNvSpPr/>
          <p:nvPr/>
        </p:nvSpPr>
        <p:spPr>
          <a:xfrm>
            <a:off x="1809750" y="4636770"/>
            <a:ext cx="57150" cy="57150"/>
          </a:xfrm>
          <a:prstGeom prst="rect">
            <a:avLst/>
          </a:prstGeom>
          <a:solidFill>
            <a:srgbClr val="000000"/>
          </a:solidFill>
          <a:ln/>
        </p:spPr>
      </p:sp>
      <p:sp>
        <p:nvSpPr>
          <p:cNvPr id="156" name="Shape 153"/>
          <p:cNvSpPr/>
          <p:nvPr/>
        </p:nvSpPr>
        <p:spPr>
          <a:xfrm>
            <a:off x="1866900" y="4636770"/>
            <a:ext cx="57150" cy="57150"/>
          </a:xfrm>
          <a:prstGeom prst="rect">
            <a:avLst/>
          </a:prstGeom>
          <a:solidFill>
            <a:srgbClr val="000000"/>
          </a:solidFill>
          <a:ln/>
        </p:spPr>
      </p:sp>
      <p:sp>
        <p:nvSpPr>
          <p:cNvPr id="157" name="Shape 154"/>
          <p:cNvSpPr/>
          <p:nvPr/>
        </p:nvSpPr>
        <p:spPr>
          <a:xfrm>
            <a:off x="1924050" y="4636770"/>
            <a:ext cx="57150" cy="57150"/>
          </a:xfrm>
          <a:prstGeom prst="rect">
            <a:avLst/>
          </a:prstGeom>
          <a:solidFill>
            <a:srgbClr val="000000"/>
          </a:solidFill>
          <a:ln/>
        </p:spPr>
      </p:sp>
      <p:sp>
        <p:nvSpPr>
          <p:cNvPr id="158" name="Shape 155"/>
          <p:cNvSpPr/>
          <p:nvPr/>
        </p:nvSpPr>
        <p:spPr>
          <a:xfrm>
            <a:off x="1981200" y="4636770"/>
            <a:ext cx="57150" cy="57150"/>
          </a:xfrm>
          <a:prstGeom prst="rect">
            <a:avLst/>
          </a:prstGeom>
          <a:solidFill>
            <a:srgbClr val="000000"/>
          </a:solidFill>
          <a:ln/>
        </p:spPr>
      </p:sp>
      <p:sp>
        <p:nvSpPr>
          <p:cNvPr id="159" name="Shape 156"/>
          <p:cNvSpPr/>
          <p:nvPr/>
        </p:nvSpPr>
        <p:spPr>
          <a:xfrm>
            <a:off x="2038350" y="4636770"/>
            <a:ext cx="57150" cy="57150"/>
          </a:xfrm>
          <a:prstGeom prst="rect">
            <a:avLst/>
          </a:prstGeom>
          <a:solidFill>
            <a:srgbClr val="000000"/>
          </a:solidFill>
          <a:ln/>
        </p:spPr>
      </p:sp>
      <p:sp>
        <p:nvSpPr>
          <p:cNvPr id="160" name="Shape 157"/>
          <p:cNvSpPr/>
          <p:nvPr/>
        </p:nvSpPr>
        <p:spPr>
          <a:xfrm>
            <a:off x="2209800" y="4636770"/>
            <a:ext cx="57150" cy="57150"/>
          </a:xfrm>
          <a:prstGeom prst="rect">
            <a:avLst/>
          </a:prstGeom>
          <a:solidFill>
            <a:srgbClr val="000000"/>
          </a:solidFill>
          <a:ln/>
        </p:spPr>
      </p:sp>
      <p:sp>
        <p:nvSpPr>
          <p:cNvPr id="161" name="Shape 158"/>
          <p:cNvSpPr/>
          <p:nvPr/>
        </p:nvSpPr>
        <p:spPr>
          <a:xfrm>
            <a:off x="2266950" y="4636770"/>
            <a:ext cx="57150" cy="57150"/>
          </a:xfrm>
          <a:prstGeom prst="rect">
            <a:avLst/>
          </a:prstGeom>
          <a:solidFill>
            <a:srgbClr val="000000"/>
          </a:solidFill>
          <a:ln/>
        </p:spPr>
      </p:sp>
      <p:sp>
        <p:nvSpPr>
          <p:cNvPr id="162" name="Shape 159"/>
          <p:cNvSpPr/>
          <p:nvPr/>
        </p:nvSpPr>
        <p:spPr>
          <a:xfrm>
            <a:off x="2381250" y="4636770"/>
            <a:ext cx="57150" cy="57150"/>
          </a:xfrm>
          <a:prstGeom prst="rect">
            <a:avLst/>
          </a:prstGeom>
          <a:solidFill>
            <a:srgbClr val="000000"/>
          </a:solidFill>
          <a:ln/>
        </p:spPr>
      </p:sp>
      <p:sp>
        <p:nvSpPr>
          <p:cNvPr id="163" name="Shape 160"/>
          <p:cNvSpPr/>
          <p:nvPr/>
        </p:nvSpPr>
        <p:spPr>
          <a:xfrm>
            <a:off x="2438400" y="4636770"/>
            <a:ext cx="57150" cy="57150"/>
          </a:xfrm>
          <a:prstGeom prst="rect">
            <a:avLst/>
          </a:prstGeom>
          <a:solidFill>
            <a:srgbClr val="000000"/>
          </a:solidFill>
          <a:ln/>
        </p:spPr>
      </p:sp>
      <p:sp>
        <p:nvSpPr>
          <p:cNvPr id="164" name="Shape 161"/>
          <p:cNvSpPr/>
          <p:nvPr/>
        </p:nvSpPr>
        <p:spPr>
          <a:xfrm>
            <a:off x="1066800" y="4693920"/>
            <a:ext cx="57150" cy="57150"/>
          </a:xfrm>
          <a:prstGeom prst="rect">
            <a:avLst/>
          </a:prstGeom>
          <a:solidFill>
            <a:srgbClr val="000000"/>
          </a:solidFill>
          <a:ln/>
        </p:spPr>
      </p:sp>
      <p:sp>
        <p:nvSpPr>
          <p:cNvPr id="165" name="Shape 162"/>
          <p:cNvSpPr/>
          <p:nvPr/>
        </p:nvSpPr>
        <p:spPr>
          <a:xfrm>
            <a:off x="1123950" y="4693920"/>
            <a:ext cx="57150" cy="57150"/>
          </a:xfrm>
          <a:prstGeom prst="rect">
            <a:avLst/>
          </a:prstGeom>
          <a:solidFill>
            <a:srgbClr val="000000"/>
          </a:solidFill>
          <a:ln/>
        </p:spPr>
      </p:sp>
      <p:sp>
        <p:nvSpPr>
          <p:cNvPr id="166" name="Shape 163"/>
          <p:cNvSpPr/>
          <p:nvPr/>
        </p:nvSpPr>
        <p:spPr>
          <a:xfrm>
            <a:off x="1295400" y="4693920"/>
            <a:ext cx="57150" cy="57150"/>
          </a:xfrm>
          <a:prstGeom prst="rect">
            <a:avLst/>
          </a:prstGeom>
          <a:solidFill>
            <a:srgbClr val="000000"/>
          </a:solidFill>
          <a:ln/>
        </p:spPr>
      </p:sp>
      <p:sp>
        <p:nvSpPr>
          <p:cNvPr id="167" name="Shape 164"/>
          <p:cNvSpPr/>
          <p:nvPr/>
        </p:nvSpPr>
        <p:spPr>
          <a:xfrm>
            <a:off x="1466850" y="4693920"/>
            <a:ext cx="57150" cy="57150"/>
          </a:xfrm>
          <a:prstGeom prst="rect">
            <a:avLst/>
          </a:prstGeom>
          <a:solidFill>
            <a:srgbClr val="000000"/>
          </a:solidFill>
          <a:ln/>
        </p:spPr>
      </p:sp>
      <p:sp>
        <p:nvSpPr>
          <p:cNvPr id="168" name="Shape 165"/>
          <p:cNvSpPr/>
          <p:nvPr/>
        </p:nvSpPr>
        <p:spPr>
          <a:xfrm>
            <a:off x="1638300" y="4693920"/>
            <a:ext cx="57150" cy="57150"/>
          </a:xfrm>
          <a:prstGeom prst="rect">
            <a:avLst/>
          </a:prstGeom>
          <a:solidFill>
            <a:srgbClr val="000000"/>
          </a:solidFill>
          <a:ln/>
        </p:spPr>
      </p:sp>
      <p:sp>
        <p:nvSpPr>
          <p:cNvPr id="169" name="Shape 166"/>
          <p:cNvSpPr/>
          <p:nvPr/>
        </p:nvSpPr>
        <p:spPr>
          <a:xfrm>
            <a:off x="1752600" y="4693920"/>
            <a:ext cx="57150" cy="57150"/>
          </a:xfrm>
          <a:prstGeom prst="rect">
            <a:avLst/>
          </a:prstGeom>
          <a:solidFill>
            <a:srgbClr val="000000"/>
          </a:solidFill>
          <a:ln/>
        </p:spPr>
      </p:sp>
      <p:sp>
        <p:nvSpPr>
          <p:cNvPr id="170" name="Shape 167"/>
          <p:cNvSpPr/>
          <p:nvPr/>
        </p:nvSpPr>
        <p:spPr>
          <a:xfrm>
            <a:off x="1809750" y="4693920"/>
            <a:ext cx="57150" cy="57150"/>
          </a:xfrm>
          <a:prstGeom prst="rect">
            <a:avLst/>
          </a:prstGeom>
          <a:solidFill>
            <a:srgbClr val="000000"/>
          </a:solidFill>
          <a:ln/>
        </p:spPr>
      </p:sp>
      <p:sp>
        <p:nvSpPr>
          <p:cNvPr id="171" name="Shape 168"/>
          <p:cNvSpPr/>
          <p:nvPr/>
        </p:nvSpPr>
        <p:spPr>
          <a:xfrm>
            <a:off x="2095500" y="4693920"/>
            <a:ext cx="57150" cy="57150"/>
          </a:xfrm>
          <a:prstGeom prst="rect">
            <a:avLst/>
          </a:prstGeom>
          <a:solidFill>
            <a:srgbClr val="000000"/>
          </a:solidFill>
          <a:ln/>
        </p:spPr>
      </p:sp>
      <p:sp>
        <p:nvSpPr>
          <p:cNvPr id="172" name="Shape 169"/>
          <p:cNvSpPr/>
          <p:nvPr/>
        </p:nvSpPr>
        <p:spPr>
          <a:xfrm>
            <a:off x="2152650" y="4693920"/>
            <a:ext cx="57150" cy="57150"/>
          </a:xfrm>
          <a:prstGeom prst="rect">
            <a:avLst/>
          </a:prstGeom>
          <a:solidFill>
            <a:srgbClr val="000000"/>
          </a:solidFill>
          <a:ln/>
        </p:spPr>
      </p:sp>
      <p:sp>
        <p:nvSpPr>
          <p:cNvPr id="173" name="Shape 170"/>
          <p:cNvSpPr/>
          <p:nvPr/>
        </p:nvSpPr>
        <p:spPr>
          <a:xfrm>
            <a:off x="2266950" y="4693920"/>
            <a:ext cx="57150" cy="57150"/>
          </a:xfrm>
          <a:prstGeom prst="rect">
            <a:avLst/>
          </a:prstGeom>
          <a:solidFill>
            <a:srgbClr val="000000"/>
          </a:solidFill>
          <a:ln/>
        </p:spPr>
      </p:sp>
      <p:sp>
        <p:nvSpPr>
          <p:cNvPr id="174" name="Shape 171"/>
          <p:cNvSpPr/>
          <p:nvPr/>
        </p:nvSpPr>
        <p:spPr>
          <a:xfrm>
            <a:off x="2438400" y="4693920"/>
            <a:ext cx="57150" cy="57150"/>
          </a:xfrm>
          <a:prstGeom prst="rect">
            <a:avLst/>
          </a:prstGeom>
          <a:solidFill>
            <a:srgbClr val="000000"/>
          </a:solidFill>
          <a:ln/>
        </p:spPr>
      </p:sp>
      <p:sp>
        <p:nvSpPr>
          <p:cNvPr id="175" name="Shape 172"/>
          <p:cNvSpPr/>
          <p:nvPr/>
        </p:nvSpPr>
        <p:spPr>
          <a:xfrm>
            <a:off x="1066800" y="4751070"/>
            <a:ext cx="57150" cy="57150"/>
          </a:xfrm>
          <a:prstGeom prst="rect">
            <a:avLst/>
          </a:prstGeom>
          <a:solidFill>
            <a:srgbClr val="000000"/>
          </a:solidFill>
          <a:ln/>
        </p:spPr>
      </p:sp>
      <p:sp>
        <p:nvSpPr>
          <p:cNvPr id="176" name="Shape 173"/>
          <p:cNvSpPr/>
          <p:nvPr/>
        </p:nvSpPr>
        <p:spPr>
          <a:xfrm>
            <a:off x="1123950" y="4751070"/>
            <a:ext cx="57150" cy="57150"/>
          </a:xfrm>
          <a:prstGeom prst="rect">
            <a:avLst/>
          </a:prstGeom>
          <a:solidFill>
            <a:srgbClr val="000000"/>
          </a:solidFill>
          <a:ln/>
        </p:spPr>
      </p:sp>
      <p:sp>
        <p:nvSpPr>
          <p:cNvPr id="177" name="Shape 174"/>
          <p:cNvSpPr/>
          <p:nvPr/>
        </p:nvSpPr>
        <p:spPr>
          <a:xfrm>
            <a:off x="1409700" y="4751070"/>
            <a:ext cx="57150" cy="57150"/>
          </a:xfrm>
          <a:prstGeom prst="rect">
            <a:avLst/>
          </a:prstGeom>
          <a:solidFill>
            <a:srgbClr val="000000"/>
          </a:solidFill>
          <a:ln/>
        </p:spPr>
      </p:sp>
      <p:sp>
        <p:nvSpPr>
          <p:cNvPr id="178" name="Shape 175"/>
          <p:cNvSpPr/>
          <p:nvPr/>
        </p:nvSpPr>
        <p:spPr>
          <a:xfrm>
            <a:off x="1581150" y="4751070"/>
            <a:ext cx="57150" cy="57150"/>
          </a:xfrm>
          <a:prstGeom prst="rect">
            <a:avLst/>
          </a:prstGeom>
          <a:solidFill>
            <a:srgbClr val="000000"/>
          </a:solidFill>
          <a:ln/>
        </p:spPr>
      </p:sp>
      <p:sp>
        <p:nvSpPr>
          <p:cNvPr id="179" name="Shape 176"/>
          <p:cNvSpPr/>
          <p:nvPr/>
        </p:nvSpPr>
        <p:spPr>
          <a:xfrm>
            <a:off x="1638300" y="4751070"/>
            <a:ext cx="57150" cy="57150"/>
          </a:xfrm>
          <a:prstGeom prst="rect">
            <a:avLst/>
          </a:prstGeom>
          <a:solidFill>
            <a:srgbClr val="000000"/>
          </a:solidFill>
          <a:ln/>
        </p:spPr>
      </p:sp>
      <p:sp>
        <p:nvSpPr>
          <p:cNvPr id="180" name="Shape 177"/>
          <p:cNvSpPr/>
          <p:nvPr/>
        </p:nvSpPr>
        <p:spPr>
          <a:xfrm>
            <a:off x="1809750" y="4751070"/>
            <a:ext cx="57150" cy="57150"/>
          </a:xfrm>
          <a:prstGeom prst="rect">
            <a:avLst/>
          </a:prstGeom>
          <a:solidFill>
            <a:srgbClr val="000000"/>
          </a:solidFill>
          <a:ln/>
        </p:spPr>
      </p:sp>
      <p:sp>
        <p:nvSpPr>
          <p:cNvPr id="181" name="Shape 178"/>
          <p:cNvSpPr/>
          <p:nvPr/>
        </p:nvSpPr>
        <p:spPr>
          <a:xfrm>
            <a:off x="1981200" y="4751070"/>
            <a:ext cx="57150" cy="57150"/>
          </a:xfrm>
          <a:prstGeom prst="rect">
            <a:avLst/>
          </a:prstGeom>
          <a:solidFill>
            <a:srgbClr val="000000"/>
          </a:solidFill>
          <a:ln/>
        </p:spPr>
      </p:sp>
      <p:sp>
        <p:nvSpPr>
          <p:cNvPr id="182" name="Shape 179"/>
          <p:cNvSpPr/>
          <p:nvPr/>
        </p:nvSpPr>
        <p:spPr>
          <a:xfrm>
            <a:off x="2095500" y="4751070"/>
            <a:ext cx="57150" cy="57150"/>
          </a:xfrm>
          <a:prstGeom prst="rect">
            <a:avLst/>
          </a:prstGeom>
          <a:solidFill>
            <a:srgbClr val="000000"/>
          </a:solidFill>
          <a:ln/>
        </p:spPr>
      </p:sp>
      <p:sp>
        <p:nvSpPr>
          <p:cNvPr id="183" name="Shape 180"/>
          <p:cNvSpPr/>
          <p:nvPr/>
        </p:nvSpPr>
        <p:spPr>
          <a:xfrm>
            <a:off x="2152650" y="4751070"/>
            <a:ext cx="57150" cy="57150"/>
          </a:xfrm>
          <a:prstGeom prst="rect">
            <a:avLst/>
          </a:prstGeom>
          <a:solidFill>
            <a:srgbClr val="000000"/>
          </a:solidFill>
          <a:ln/>
        </p:spPr>
      </p:sp>
      <p:sp>
        <p:nvSpPr>
          <p:cNvPr id="184" name="Shape 181"/>
          <p:cNvSpPr/>
          <p:nvPr/>
        </p:nvSpPr>
        <p:spPr>
          <a:xfrm>
            <a:off x="2438400" y="4751070"/>
            <a:ext cx="57150" cy="57150"/>
          </a:xfrm>
          <a:prstGeom prst="rect">
            <a:avLst/>
          </a:prstGeom>
          <a:solidFill>
            <a:srgbClr val="000000"/>
          </a:solidFill>
          <a:ln/>
        </p:spPr>
      </p:sp>
      <p:sp>
        <p:nvSpPr>
          <p:cNvPr id="185" name="Shape 182"/>
          <p:cNvSpPr/>
          <p:nvPr/>
        </p:nvSpPr>
        <p:spPr>
          <a:xfrm>
            <a:off x="1066800" y="4808220"/>
            <a:ext cx="57150" cy="57150"/>
          </a:xfrm>
          <a:prstGeom prst="rect">
            <a:avLst/>
          </a:prstGeom>
          <a:solidFill>
            <a:srgbClr val="000000"/>
          </a:solidFill>
          <a:ln/>
        </p:spPr>
      </p:sp>
      <p:sp>
        <p:nvSpPr>
          <p:cNvPr id="186" name="Shape 183"/>
          <p:cNvSpPr/>
          <p:nvPr/>
        </p:nvSpPr>
        <p:spPr>
          <a:xfrm>
            <a:off x="1123950" y="4808220"/>
            <a:ext cx="57150" cy="57150"/>
          </a:xfrm>
          <a:prstGeom prst="rect">
            <a:avLst/>
          </a:prstGeom>
          <a:solidFill>
            <a:srgbClr val="000000"/>
          </a:solidFill>
          <a:ln/>
        </p:spPr>
      </p:sp>
      <p:sp>
        <p:nvSpPr>
          <p:cNvPr id="187" name="Shape 184"/>
          <p:cNvSpPr/>
          <p:nvPr/>
        </p:nvSpPr>
        <p:spPr>
          <a:xfrm>
            <a:off x="1238250" y="4808220"/>
            <a:ext cx="57150" cy="57150"/>
          </a:xfrm>
          <a:prstGeom prst="rect">
            <a:avLst/>
          </a:prstGeom>
          <a:solidFill>
            <a:srgbClr val="000000"/>
          </a:solidFill>
          <a:ln/>
        </p:spPr>
      </p:sp>
      <p:sp>
        <p:nvSpPr>
          <p:cNvPr id="188" name="Shape 185"/>
          <p:cNvSpPr/>
          <p:nvPr/>
        </p:nvSpPr>
        <p:spPr>
          <a:xfrm>
            <a:off x="1352550" y="4808220"/>
            <a:ext cx="57150" cy="57150"/>
          </a:xfrm>
          <a:prstGeom prst="rect">
            <a:avLst/>
          </a:prstGeom>
          <a:solidFill>
            <a:srgbClr val="000000"/>
          </a:solidFill>
          <a:ln/>
        </p:spPr>
      </p:sp>
      <p:sp>
        <p:nvSpPr>
          <p:cNvPr id="189" name="Shape 186"/>
          <p:cNvSpPr/>
          <p:nvPr/>
        </p:nvSpPr>
        <p:spPr>
          <a:xfrm>
            <a:off x="1466850" y="4808220"/>
            <a:ext cx="57150" cy="57150"/>
          </a:xfrm>
          <a:prstGeom prst="rect">
            <a:avLst/>
          </a:prstGeom>
          <a:solidFill>
            <a:srgbClr val="000000"/>
          </a:solidFill>
          <a:ln/>
        </p:spPr>
      </p:sp>
      <p:sp>
        <p:nvSpPr>
          <p:cNvPr id="190" name="Shape 187"/>
          <p:cNvSpPr/>
          <p:nvPr/>
        </p:nvSpPr>
        <p:spPr>
          <a:xfrm>
            <a:off x="1524000" y="4808220"/>
            <a:ext cx="57150" cy="57150"/>
          </a:xfrm>
          <a:prstGeom prst="rect">
            <a:avLst/>
          </a:prstGeom>
          <a:solidFill>
            <a:srgbClr val="000000"/>
          </a:solidFill>
          <a:ln/>
        </p:spPr>
      </p:sp>
      <p:sp>
        <p:nvSpPr>
          <p:cNvPr id="191" name="Shape 188"/>
          <p:cNvSpPr/>
          <p:nvPr/>
        </p:nvSpPr>
        <p:spPr>
          <a:xfrm>
            <a:off x="1581150" y="4808220"/>
            <a:ext cx="57150" cy="57150"/>
          </a:xfrm>
          <a:prstGeom prst="rect">
            <a:avLst/>
          </a:prstGeom>
          <a:solidFill>
            <a:srgbClr val="000000"/>
          </a:solidFill>
          <a:ln/>
        </p:spPr>
      </p:sp>
      <p:sp>
        <p:nvSpPr>
          <p:cNvPr id="192" name="Shape 189"/>
          <p:cNvSpPr/>
          <p:nvPr/>
        </p:nvSpPr>
        <p:spPr>
          <a:xfrm>
            <a:off x="1638300" y="4808220"/>
            <a:ext cx="57150" cy="57150"/>
          </a:xfrm>
          <a:prstGeom prst="rect">
            <a:avLst/>
          </a:prstGeom>
          <a:solidFill>
            <a:srgbClr val="000000"/>
          </a:solidFill>
          <a:ln/>
        </p:spPr>
      </p:sp>
      <p:sp>
        <p:nvSpPr>
          <p:cNvPr id="193" name="Shape 190"/>
          <p:cNvSpPr/>
          <p:nvPr/>
        </p:nvSpPr>
        <p:spPr>
          <a:xfrm>
            <a:off x="1695450" y="4808220"/>
            <a:ext cx="57150" cy="57150"/>
          </a:xfrm>
          <a:prstGeom prst="rect">
            <a:avLst/>
          </a:prstGeom>
          <a:solidFill>
            <a:srgbClr val="000000"/>
          </a:solidFill>
          <a:ln/>
        </p:spPr>
      </p:sp>
      <p:sp>
        <p:nvSpPr>
          <p:cNvPr id="194" name="Shape 191"/>
          <p:cNvSpPr/>
          <p:nvPr/>
        </p:nvSpPr>
        <p:spPr>
          <a:xfrm>
            <a:off x="1752600" y="4808220"/>
            <a:ext cx="57150" cy="57150"/>
          </a:xfrm>
          <a:prstGeom prst="rect">
            <a:avLst/>
          </a:prstGeom>
          <a:solidFill>
            <a:srgbClr val="000000"/>
          </a:solidFill>
          <a:ln/>
        </p:spPr>
      </p:sp>
      <p:sp>
        <p:nvSpPr>
          <p:cNvPr id="195" name="Shape 192"/>
          <p:cNvSpPr/>
          <p:nvPr/>
        </p:nvSpPr>
        <p:spPr>
          <a:xfrm>
            <a:off x="1809750" y="4808220"/>
            <a:ext cx="57150" cy="57150"/>
          </a:xfrm>
          <a:prstGeom prst="rect">
            <a:avLst/>
          </a:prstGeom>
          <a:solidFill>
            <a:srgbClr val="000000"/>
          </a:solidFill>
          <a:ln/>
        </p:spPr>
      </p:sp>
      <p:sp>
        <p:nvSpPr>
          <p:cNvPr id="196" name="Shape 193"/>
          <p:cNvSpPr/>
          <p:nvPr/>
        </p:nvSpPr>
        <p:spPr>
          <a:xfrm>
            <a:off x="1924050" y="4808220"/>
            <a:ext cx="57150" cy="57150"/>
          </a:xfrm>
          <a:prstGeom prst="rect">
            <a:avLst/>
          </a:prstGeom>
          <a:solidFill>
            <a:srgbClr val="000000"/>
          </a:solidFill>
          <a:ln/>
        </p:spPr>
      </p:sp>
      <p:sp>
        <p:nvSpPr>
          <p:cNvPr id="197" name="Shape 194"/>
          <p:cNvSpPr/>
          <p:nvPr/>
        </p:nvSpPr>
        <p:spPr>
          <a:xfrm>
            <a:off x="1981200" y="4808220"/>
            <a:ext cx="57150" cy="57150"/>
          </a:xfrm>
          <a:prstGeom prst="rect">
            <a:avLst/>
          </a:prstGeom>
          <a:solidFill>
            <a:srgbClr val="000000"/>
          </a:solidFill>
          <a:ln/>
        </p:spPr>
      </p:sp>
      <p:sp>
        <p:nvSpPr>
          <p:cNvPr id="198" name="Shape 195"/>
          <p:cNvSpPr/>
          <p:nvPr/>
        </p:nvSpPr>
        <p:spPr>
          <a:xfrm>
            <a:off x="2152650" y="4808220"/>
            <a:ext cx="57150" cy="57150"/>
          </a:xfrm>
          <a:prstGeom prst="rect">
            <a:avLst/>
          </a:prstGeom>
          <a:solidFill>
            <a:srgbClr val="000000"/>
          </a:solidFill>
          <a:ln/>
        </p:spPr>
      </p:sp>
      <p:sp>
        <p:nvSpPr>
          <p:cNvPr id="199" name="Shape 196"/>
          <p:cNvSpPr/>
          <p:nvPr/>
        </p:nvSpPr>
        <p:spPr>
          <a:xfrm>
            <a:off x="2381250" y="4808220"/>
            <a:ext cx="57150" cy="57150"/>
          </a:xfrm>
          <a:prstGeom prst="rect">
            <a:avLst/>
          </a:prstGeom>
          <a:solidFill>
            <a:srgbClr val="000000"/>
          </a:solidFill>
          <a:ln/>
        </p:spPr>
      </p:sp>
      <p:sp>
        <p:nvSpPr>
          <p:cNvPr id="200" name="Shape 197"/>
          <p:cNvSpPr/>
          <p:nvPr/>
        </p:nvSpPr>
        <p:spPr>
          <a:xfrm>
            <a:off x="1066800" y="4865370"/>
            <a:ext cx="57150" cy="57150"/>
          </a:xfrm>
          <a:prstGeom prst="rect">
            <a:avLst/>
          </a:prstGeom>
          <a:solidFill>
            <a:srgbClr val="000000"/>
          </a:solidFill>
          <a:ln/>
        </p:spPr>
      </p:sp>
      <p:sp>
        <p:nvSpPr>
          <p:cNvPr id="201" name="Shape 198"/>
          <p:cNvSpPr/>
          <p:nvPr/>
        </p:nvSpPr>
        <p:spPr>
          <a:xfrm>
            <a:off x="1238250" y="4865370"/>
            <a:ext cx="57150" cy="57150"/>
          </a:xfrm>
          <a:prstGeom prst="rect">
            <a:avLst/>
          </a:prstGeom>
          <a:solidFill>
            <a:srgbClr val="000000"/>
          </a:solidFill>
          <a:ln/>
        </p:spPr>
      </p:sp>
      <p:sp>
        <p:nvSpPr>
          <p:cNvPr id="202" name="Shape 199"/>
          <p:cNvSpPr/>
          <p:nvPr/>
        </p:nvSpPr>
        <p:spPr>
          <a:xfrm>
            <a:off x="1352550" y="4865370"/>
            <a:ext cx="57150" cy="57150"/>
          </a:xfrm>
          <a:prstGeom prst="rect">
            <a:avLst/>
          </a:prstGeom>
          <a:solidFill>
            <a:srgbClr val="000000"/>
          </a:solidFill>
          <a:ln/>
        </p:spPr>
      </p:sp>
      <p:sp>
        <p:nvSpPr>
          <p:cNvPr id="203" name="Shape 200"/>
          <p:cNvSpPr/>
          <p:nvPr/>
        </p:nvSpPr>
        <p:spPr>
          <a:xfrm>
            <a:off x="1409700" y="4865370"/>
            <a:ext cx="57150" cy="57150"/>
          </a:xfrm>
          <a:prstGeom prst="rect">
            <a:avLst/>
          </a:prstGeom>
          <a:solidFill>
            <a:srgbClr val="000000"/>
          </a:solidFill>
          <a:ln/>
        </p:spPr>
      </p:sp>
      <p:sp>
        <p:nvSpPr>
          <p:cNvPr id="204" name="Shape 201"/>
          <p:cNvSpPr/>
          <p:nvPr/>
        </p:nvSpPr>
        <p:spPr>
          <a:xfrm>
            <a:off x="1466850" y="4865370"/>
            <a:ext cx="57150" cy="57150"/>
          </a:xfrm>
          <a:prstGeom prst="rect">
            <a:avLst/>
          </a:prstGeom>
          <a:solidFill>
            <a:srgbClr val="000000"/>
          </a:solidFill>
          <a:ln/>
        </p:spPr>
      </p:sp>
      <p:sp>
        <p:nvSpPr>
          <p:cNvPr id="205" name="Shape 202"/>
          <p:cNvSpPr/>
          <p:nvPr/>
        </p:nvSpPr>
        <p:spPr>
          <a:xfrm>
            <a:off x="1524000" y="4865370"/>
            <a:ext cx="57150" cy="57150"/>
          </a:xfrm>
          <a:prstGeom prst="rect">
            <a:avLst/>
          </a:prstGeom>
          <a:solidFill>
            <a:srgbClr val="000000"/>
          </a:solidFill>
          <a:ln/>
        </p:spPr>
      </p:sp>
      <p:sp>
        <p:nvSpPr>
          <p:cNvPr id="206" name="Shape 203"/>
          <p:cNvSpPr/>
          <p:nvPr/>
        </p:nvSpPr>
        <p:spPr>
          <a:xfrm>
            <a:off x="1809750" y="4865370"/>
            <a:ext cx="57150" cy="57150"/>
          </a:xfrm>
          <a:prstGeom prst="rect">
            <a:avLst/>
          </a:prstGeom>
          <a:solidFill>
            <a:srgbClr val="000000"/>
          </a:solidFill>
          <a:ln/>
        </p:spPr>
      </p:sp>
      <p:sp>
        <p:nvSpPr>
          <p:cNvPr id="207" name="Shape 204"/>
          <p:cNvSpPr/>
          <p:nvPr/>
        </p:nvSpPr>
        <p:spPr>
          <a:xfrm>
            <a:off x="1924050" y="4865370"/>
            <a:ext cx="57150" cy="57150"/>
          </a:xfrm>
          <a:prstGeom prst="rect">
            <a:avLst/>
          </a:prstGeom>
          <a:solidFill>
            <a:srgbClr val="000000"/>
          </a:solidFill>
          <a:ln/>
        </p:spPr>
      </p:sp>
      <p:sp>
        <p:nvSpPr>
          <p:cNvPr id="208" name="Shape 205"/>
          <p:cNvSpPr/>
          <p:nvPr/>
        </p:nvSpPr>
        <p:spPr>
          <a:xfrm>
            <a:off x="2038350" y="4865370"/>
            <a:ext cx="57150" cy="57150"/>
          </a:xfrm>
          <a:prstGeom prst="rect">
            <a:avLst/>
          </a:prstGeom>
          <a:solidFill>
            <a:srgbClr val="000000"/>
          </a:solidFill>
          <a:ln/>
        </p:spPr>
      </p:sp>
      <p:sp>
        <p:nvSpPr>
          <p:cNvPr id="209" name="Shape 206"/>
          <p:cNvSpPr/>
          <p:nvPr/>
        </p:nvSpPr>
        <p:spPr>
          <a:xfrm>
            <a:off x="2152650" y="4865370"/>
            <a:ext cx="57150" cy="57150"/>
          </a:xfrm>
          <a:prstGeom prst="rect">
            <a:avLst/>
          </a:prstGeom>
          <a:solidFill>
            <a:srgbClr val="000000"/>
          </a:solidFill>
          <a:ln/>
        </p:spPr>
      </p:sp>
      <p:sp>
        <p:nvSpPr>
          <p:cNvPr id="210" name="Shape 207"/>
          <p:cNvSpPr/>
          <p:nvPr/>
        </p:nvSpPr>
        <p:spPr>
          <a:xfrm>
            <a:off x="2209800" y="4865370"/>
            <a:ext cx="57150" cy="57150"/>
          </a:xfrm>
          <a:prstGeom prst="rect">
            <a:avLst/>
          </a:prstGeom>
          <a:solidFill>
            <a:srgbClr val="000000"/>
          </a:solidFill>
          <a:ln/>
        </p:spPr>
      </p:sp>
      <p:sp>
        <p:nvSpPr>
          <p:cNvPr id="211" name="Shape 208"/>
          <p:cNvSpPr/>
          <p:nvPr/>
        </p:nvSpPr>
        <p:spPr>
          <a:xfrm>
            <a:off x="2266950" y="4865370"/>
            <a:ext cx="57150" cy="57150"/>
          </a:xfrm>
          <a:prstGeom prst="rect">
            <a:avLst/>
          </a:prstGeom>
          <a:solidFill>
            <a:srgbClr val="000000"/>
          </a:solidFill>
          <a:ln/>
        </p:spPr>
      </p:sp>
      <p:sp>
        <p:nvSpPr>
          <p:cNvPr id="212" name="Shape 209"/>
          <p:cNvSpPr/>
          <p:nvPr/>
        </p:nvSpPr>
        <p:spPr>
          <a:xfrm>
            <a:off x="2381250" y="4865370"/>
            <a:ext cx="57150" cy="57150"/>
          </a:xfrm>
          <a:prstGeom prst="rect">
            <a:avLst/>
          </a:prstGeom>
          <a:solidFill>
            <a:srgbClr val="000000"/>
          </a:solidFill>
          <a:ln/>
        </p:spPr>
      </p:sp>
      <p:sp>
        <p:nvSpPr>
          <p:cNvPr id="213" name="Shape 210"/>
          <p:cNvSpPr/>
          <p:nvPr/>
        </p:nvSpPr>
        <p:spPr>
          <a:xfrm>
            <a:off x="2438400" y="4865370"/>
            <a:ext cx="57150" cy="57150"/>
          </a:xfrm>
          <a:prstGeom prst="rect">
            <a:avLst/>
          </a:prstGeom>
          <a:solidFill>
            <a:srgbClr val="000000"/>
          </a:solidFill>
          <a:ln/>
        </p:spPr>
      </p:sp>
      <p:sp>
        <p:nvSpPr>
          <p:cNvPr id="214" name="Shape 211"/>
          <p:cNvSpPr/>
          <p:nvPr/>
        </p:nvSpPr>
        <p:spPr>
          <a:xfrm>
            <a:off x="1066800" y="4922520"/>
            <a:ext cx="57150" cy="57150"/>
          </a:xfrm>
          <a:prstGeom prst="rect">
            <a:avLst/>
          </a:prstGeom>
          <a:solidFill>
            <a:srgbClr val="000000"/>
          </a:solidFill>
          <a:ln/>
        </p:spPr>
      </p:sp>
      <p:sp>
        <p:nvSpPr>
          <p:cNvPr id="215" name="Shape 212"/>
          <p:cNvSpPr/>
          <p:nvPr/>
        </p:nvSpPr>
        <p:spPr>
          <a:xfrm>
            <a:off x="1238250" y="4922520"/>
            <a:ext cx="57150" cy="57150"/>
          </a:xfrm>
          <a:prstGeom prst="rect">
            <a:avLst/>
          </a:prstGeom>
          <a:solidFill>
            <a:srgbClr val="000000"/>
          </a:solidFill>
          <a:ln/>
        </p:spPr>
      </p:sp>
      <p:sp>
        <p:nvSpPr>
          <p:cNvPr id="216" name="Shape 213"/>
          <p:cNvSpPr/>
          <p:nvPr/>
        </p:nvSpPr>
        <p:spPr>
          <a:xfrm>
            <a:off x="1352550" y="4922520"/>
            <a:ext cx="57150" cy="57150"/>
          </a:xfrm>
          <a:prstGeom prst="rect">
            <a:avLst/>
          </a:prstGeom>
          <a:solidFill>
            <a:srgbClr val="000000"/>
          </a:solidFill>
          <a:ln/>
        </p:spPr>
      </p:sp>
      <p:sp>
        <p:nvSpPr>
          <p:cNvPr id="217" name="Shape 214"/>
          <p:cNvSpPr/>
          <p:nvPr/>
        </p:nvSpPr>
        <p:spPr>
          <a:xfrm>
            <a:off x="1466850" y="4922520"/>
            <a:ext cx="57150" cy="57150"/>
          </a:xfrm>
          <a:prstGeom prst="rect">
            <a:avLst/>
          </a:prstGeom>
          <a:solidFill>
            <a:srgbClr val="000000"/>
          </a:solidFill>
          <a:ln/>
        </p:spPr>
      </p:sp>
      <p:sp>
        <p:nvSpPr>
          <p:cNvPr id="218" name="Shape 215"/>
          <p:cNvSpPr/>
          <p:nvPr/>
        </p:nvSpPr>
        <p:spPr>
          <a:xfrm>
            <a:off x="1581150" y="4922520"/>
            <a:ext cx="57150" cy="57150"/>
          </a:xfrm>
          <a:prstGeom prst="rect">
            <a:avLst/>
          </a:prstGeom>
          <a:solidFill>
            <a:srgbClr val="000000"/>
          </a:solidFill>
          <a:ln/>
        </p:spPr>
      </p:sp>
      <p:sp>
        <p:nvSpPr>
          <p:cNvPr id="219" name="Shape 216"/>
          <p:cNvSpPr/>
          <p:nvPr/>
        </p:nvSpPr>
        <p:spPr>
          <a:xfrm>
            <a:off x="1638300" y="4922520"/>
            <a:ext cx="57150" cy="57150"/>
          </a:xfrm>
          <a:prstGeom prst="rect">
            <a:avLst/>
          </a:prstGeom>
          <a:solidFill>
            <a:srgbClr val="000000"/>
          </a:solidFill>
          <a:ln/>
        </p:spPr>
      </p:sp>
      <p:sp>
        <p:nvSpPr>
          <p:cNvPr id="220" name="Shape 217"/>
          <p:cNvSpPr/>
          <p:nvPr/>
        </p:nvSpPr>
        <p:spPr>
          <a:xfrm>
            <a:off x="1695450" y="4922520"/>
            <a:ext cx="57150" cy="57150"/>
          </a:xfrm>
          <a:prstGeom prst="rect">
            <a:avLst/>
          </a:prstGeom>
          <a:solidFill>
            <a:srgbClr val="000000"/>
          </a:solidFill>
          <a:ln/>
        </p:spPr>
      </p:sp>
      <p:sp>
        <p:nvSpPr>
          <p:cNvPr id="221" name="Shape 218"/>
          <p:cNvSpPr/>
          <p:nvPr/>
        </p:nvSpPr>
        <p:spPr>
          <a:xfrm>
            <a:off x="1752600" y="4922520"/>
            <a:ext cx="57150" cy="57150"/>
          </a:xfrm>
          <a:prstGeom prst="rect">
            <a:avLst/>
          </a:prstGeom>
          <a:solidFill>
            <a:srgbClr val="000000"/>
          </a:solidFill>
          <a:ln/>
        </p:spPr>
      </p:sp>
      <p:sp>
        <p:nvSpPr>
          <p:cNvPr id="222" name="Shape 219"/>
          <p:cNvSpPr/>
          <p:nvPr/>
        </p:nvSpPr>
        <p:spPr>
          <a:xfrm>
            <a:off x="1866900" y="4922520"/>
            <a:ext cx="57150" cy="57150"/>
          </a:xfrm>
          <a:prstGeom prst="rect">
            <a:avLst/>
          </a:prstGeom>
          <a:solidFill>
            <a:srgbClr val="000000"/>
          </a:solidFill>
          <a:ln/>
        </p:spPr>
      </p:sp>
      <p:sp>
        <p:nvSpPr>
          <p:cNvPr id="223" name="Shape 220"/>
          <p:cNvSpPr/>
          <p:nvPr/>
        </p:nvSpPr>
        <p:spPr>
          <a:xfrm>
            <a:off x="1924050" y="4922520"/>
            <a:ext cx="57150" cy="57150"/>
          </a:xfrm>
          <a:prstGeom prst="rect">
            <a:avLst/>
          </a:prstGeom>
          <a:solidFill>
            <a:srgbClr val="000000"/>
          </a:solidFill>
          <a:ln/>
        </p:spPr>
      </p:sp>
      <p:sp>
        <p:nvSpPr>
          <p:cNvPr id="224" name="Shape 221"/>
          <p:cNvSpPr/>
          <p:nvPr/>
        </p:nvSpPr>
        <p:spPr>
          <a:xfrm>
            <a:off x="2038350" y="4922520"/>
            <a:ext cx="57150" cy="57150"/>
          </a:xfrm>
          <a:prstGeom prst="rect">
            <a:avLst/>
          </a:prstGeom>
          <a:solidFill>
            <a:srgbClr val="000000"/>
          </a:solidFill>
          <a:ln/>
        </p:spPr>
      </p:sp>
      <p:sp>
        <p:nvSpPr>
          <p:cNvPr id="225" name="Shape 222"/>
          <p:cNvSpPr/>
          <p:nvPr/>
        </p:nvSpPr>
        <p:spPr>
          <a:xfrm>
            <a:off x="2152650" y="4922520"/>
            <a:ext cx="57150" cy="57150"/>
          </a:xfrm>
          <a:prstGeom prst="rect">
            <a:avLst/>
          </a:prstGeom>
          <a:solidFill>
            <a:srgbClr val="000000"/>
          </a:solidFill>
          <a:ln/>
        </p:spPr>
      </p:sp>
      <p:sp>
        <p:nvSpPr>
          <p:cNvPr id="226" name="Shape 223"/>
          <p:cNvSpPr/>
          <p:nvPr/>
        </p:nvSpPr>
        <p:spPr>
          <a:xfrm>
            <a:off x="2266950" y="4922520"/>
            <a:ext cx="57150" cy="57150"/>
          </a:xfrm>
          <a:prstGeom prst="rect">
            <a:avLst/>
          </a:prstGeom>
          <a:solidFill>
            <a:srgbClr val="000000"/>
          </a:solidFill>
          <a:ln/>
        </p:spPr>
      </p:sp>
      <p:sp>
        <p:nvSpPr>
          <p:cNvPr id="227" name="Shape 224"/>
          <p:cNvSpPr/>
          <p:nvPr/>
        </p:nvSpPr>
        <p:spPr>
          <a:xfrm>
            <a:off x="2324100" y="4922520"/>
            <a:ext cx="57150" cy="57150"/>
          </a:xfrm>
          <a:prstGeom prst="rect">
            <a:avLst/>
          </a:prstGeom>
          <a:solidFill>
            <a:srgbClr val="000000"/>
          </a:solidFill>
          <a:ln/>
        </p:spPr>
      </p:sp>
      <p:sp>
        <p:nvSpPr>
          <p:cNvPr id="228" name="Shape 225"/>
          <p:cNvSpPr/>
          <p:nvPr/>
        </p:nvSpPr>
        <p:spPr>
          <a:xfrm>
            <a:off x="2438400" y="4922520"/>
            <a:ext cx="57150" cy="57150"/>
          </a:xfrm>
          <a:prstGeom prst="rect">
            <a:avLst/>
          </a:prstGeom>
          <a:solidFill>
            <a:srgbClr val="000000"/>
          </a:solidFill>
          <a:ln/>
        </p:spPr>
      </p:sp>
      <p:sp>
        <p:nvSpPr>
          <p:cNvPr id="229" name="Shape 226"/>
          <p:cNvSpPr/>
          <p:nvPr/>
        </p:nvSpPr>
        <p:spPr>
          <a:xfrm>
            <a:off x="1066800" y="4979670"/>
            <a:ext cx="57150" cy="57150"/>
          </a:xfrm>
          <a:prstGeom prst="rect">
            <a:avLst/>
          </a:prstGeom>
          <a:solidFill>
            <a:srgbClr val="000000"/>
          </a:solidFill>
          <a:ln/>
        </p:spPr>
      </p:sp>
      <p:sp>
        <p:nvSpPr>
          <p:cNvPr id="230" name="Shape 227"/>
          <p:cNvSpPr/>
          <p:nvPr/>
        </p:nvSpPr>
        <p:spPr>
          <a:xfrm>
            <a:off x="1181100" y="4979670"/>
            <a:ext cx="57150" cy="57150"/>
          </a:xfrm>
          <a:prstGeom prst="rect">
            <a:avLst/>
          </a:prstGeom>
          <a:solidFill>
            <a:srgbClr val="000000"/>
          </a:solidFill>
          <a:ln/>
        </p:spPr>
      </p:sp>
      <p:sp>
        <p:nvSpPr>
          <p:cNvPr id="231" name="Shape 228"/>
          <p:cNvSpPr/>
          <p:nvPr/>
        </p:nvSpPr>
        <p:spPr>
          <a:xfrm>
            <a:off x="1295400" y="4979670"/>
            <a:ext cx="57150" cy="57150"/>
          </a:xfrm>
          <a:prstGeom prst="rect">
            <a:avLst/>
          </a:prstGeom>
          <a:solidFill>
            <a:srgbClr val="000000"/>
          </a:solidFill>
          <a:ln/>
        </p:spPr>
      </p:sp>
      <p:sp>
        <p:nvSpPr>
          <p:cNvPr id="232" name="Shape 229"/>
          <p:cNvSpPr/>
          <p:nvPr/>
        </p:nvSpPr>
        <p:spPr>
          <a:xfrm>
            <a:off x="1352550" y="4979670"/>
            <a:ext cx="57150" cy="57150"/>
          </a:xfrm>
          <a:prstGeom prst="rect">
            <a:avLst/>
          </a:prstGeom>
          <a:solidFill>
            <a:srgbClr val="000000"/>
          </a:solidFill>
          <a:ln/>
        </p:spPr>
      </p:sp>
      <p:sp>
        <p:nvSpPr>
          <p:cNvPr id="233" name="Shape 230"/>
          <p:cNvSpPr/>
          <p:nvPr/>
        </p:nvSpPr>
        <p:spPr>
          <a:xfrm>
            <a:off x="1409700" y="4979670"/>
            <a:ext cx="57150" cy="57150"/>
          </a:xfrm>
          <a:prstGeom prst="rect">
            <a:avLst/>
          </a:prstGeom>
          <a:solidFill>
            <a:srgbClr val="000000"/>
          </a:solidFill>
          <a:ln/>
        </p:spPr>
      </p:sp>
      <p:sp>
        <p:nvSpPr>
          <p:cNvPr id="234" name="Shape 231"/>
          <p:cNvSpPr/>
          <p:nvPr/>
        </p:nvSpPr>
        <p:spPr>
          <a:xfrm>
            <a:off x="1466850" y="4979670"/>
            <a:ext cx="57150" cy="57150"/>
          </a:xfrm>
          <a:prstGeom prst="rect">
            <a:avLst/>
          </a:prstGeom>
          <a:solidFill>
            <a:srgbClr val="000000"/>
          </a:solidFill>
          <a:ln/>
        </p:spPr>
      </p:sp>
      <p:sp>
        <p:nvSpPr>
          <p:cNvPr id="235" name="Shape 232"/>
          <p:cNvSpPr/>
          <p:nvPr/>
        </p:nvSpPr>
        <p:spPr>
          <a:xfrm>
            <a:off x="1695450" y="4979670"/>
            <a:ext cx="57150" cy="57150"/>
          </a:xfrm>
          <a:prstGeom prst="rect">
            <a:avLst/>
          </a:prstGeom>
          <a:solidFill>
            <a:srgbClr val="000000"/>
          </a:solidFill>
          <a:ln/>
        </p:spPr>
      </p:sp>
      <p:sp>
        <p:nvSpPr>
          <p:cNvPr id="236" name="Shape 233"/>
          <p:cNvSpPr/>
          <p:nvPr/>
        </p:nvSpPr>
        <p:spPr>
          <a:xfrm>
            <a:off x="1866900" y="4979670"/>
            <a:ext cx="57150" cy="57150"/>
          </a:xfrm>
          <a:prstGeom prst="rect">
            <a:avLst/>
          </a:prstGeom>
          <a:solidFill>
            <a:srgbClr val="000000"/>
          </a:solidFill>
          <a:ln/>
        </p:spPr>
      </p:sp>
      <p:sp>
        <p:nvSpPr>
          <p:cNvPr id="237" name="Shape 234"/>
          <p:cNvSpPr/>
          <p:nvPr/>
        </p:nvSpPr>
        <p:spPr>
          <a:xfrm>
            <a:off x="1981200" y="4979670"/>
            <a:ext cx="57150" cy="57150"/>
          </a:xfrm>
          <a:prstGeom prst="rect">
            <a:avLst/>
          </a:prstGeom>
          <a:solidFill>
            <a:srgbClr val="000000"/>
          </a:solidFill>
          <a:ln/>
        </p:spPr>
      </p:sp>
      <p:sp>
        <p:nvSpPr>
          <p:cNvPr id="238" name="Shape 235"/>
          <p:cNvSpPr/>
          <p:nvPr/>
        </p:nvSpPr>
        <p:spPr>
          <a:xfrm>
            <a:off x="2038350" y="4979670"/>
            <a:ext cx="57150" cy="57150"/>
          </a:xfrm>
          <a:prstGeom prst="rect">
            <a:avLst/>
          </a:prstGeom>
          <a:solidFill>
            <a:srgbClr val="000000"/>
          </a:solidFill>
          <a:ln/>
        </p:spPr>
      </p:sp>
      <p:sp>
        <p:nvSpPr>
          <p:cNvPr id="239" name="Shape 236"/>
          <p:cNvSpPr/>
          <p:nvPr/>
        </p:nvSpPr>
        <p:spPr>
          <a:xfrm>
            <a:off x="2095500" y="4979670"/>
            <a:ext cx="57150" cy="57150"/>
          </a:xfrm>
          <a:prstGeom prst="rect">
            <a:avLst/>
          </a:prstGeom>
          <a:solidFill>
            <a:srgbClr val="000000"/>
          </a:solidFill>
          <a:ln/>
        </p:spPr>
      </p:sp>
      <p:sp>
        <p:nvSpPr>
          <p:cNvPr id="240" name="Shape 237"/>
          <p:cNvSpPr/>
          <p:nvPr/>
        </p:nvSpPr>
        <p:spPr>
          <a:xfrm>
            <a:off x="2152650" y="4979670"/>
            <a:ext cx="57150" cy="57150"/>
          </a:xfrm>
          <a:prstGeom prst="rect">
            <a:avLst/>
          </a:prstGeom>
          <a:solidFill>
            <a:srgbClr val="000000"/>
          </a:solidFill>
          <a:ln/>
        </p:spPr>
      </p:sp>
      <p:sp>
        <p:nvSpPr>
          <p:cNvPr id="241" name="Shape 238"/>
          <p:cNvSpPr/>
          <p:nvPr/>
        </p:nvSpPr>
        <p:spPr>
          <a:xfrm>
            <a:off x="2209800" y="4979670"/>
            <a:ext cx="57150" cy="57150"/>
          </a:xfrm>
          <a:prstGeom prst="rect">
            <a:avLst/>
          </a:prstGeom>
          <a:solidFill>
            <a:srgbClr val="000000"/>
          </a:solidFill>
          <a:ln/>
        </p:spPr>
      </p:sp>
      <p:sp>
        <p:nvSpPr>
          <p:cNvPr id="242" name="Shape 239"/>
          <p:cNvSpPr/>
          <p:nvPr/>
        </p:nvSpPr>
        <p:spPr>
          <a:xfrm>
            <a:off x="2324100" y="4979670"/>
            <a:ext cx="57150" cy="57150"/>
          </a:xfrm>
          <a:prstGeom prst="rect">
            <a:avLst/>
          </a:prstGeom>
          <a:solidFill>
            <a:srgbClr val="000000"/>
          </a:solidFill>
          <a:ln/>
        </p:spPr>
      </p:sp>
      <p:sp>
        <p:nvSpPr>
          <p:cNvPr id="243" name="Shape 240"/>
          <p:cNvSpPr/>
          <p:nvPr/>
        </p:nvSpPr>
        <p:spPr>
          <a:xfrm>
            <a:off x="1524000" y="5036820"/>
            <a:ext cx="57150" cy="57150"/>
          </a:xfrm>
          <a:prstGeom prst="rect">
            <a:avLst/>
          </a:prstGeom>
          <a:solidFill>
            <a:srgbClr val="000000"/>
          </a:solidFill>
          <a:ln/>
        </p:spPr>
      </p:sp>
      <p:sp>
        <p:nvSpPr>
          <p:cNvPr id="244" name="Shape 241"/>
          <p:cNvSpPr/>
          <p:nvPr/>
        </p:nvSpPr>
        <p:spPr>
          <a:xfrm>
            <a:off x="1638300" y="5036820"/>
            <a:ext cx="57150" cy="57150"/>
          </a:xfrm>
          <a:prstGeom prst="rect">
            <a:avLst/>
          </a:prstGeom>
          <a:solidFill>
            <a:srgbClr val="000000"/>
          </a:solidFill>
          <a:ln/>
        </p:spPr>
      </p:sp>
      <p:sp>
        <p:nvSpPr>
          <p:cNvPr id="245" name="Shape 242"/>
          <p:cNvSpPr/>
          <p:nvPr/>
        </p:nvSpPr>
        <p:spPr>
          <a:xfrm>
            <a:off x="1695450" y="5036820"/>
            <a:ext cx="57150" cy="57150"/>
          </a:xfrm>
          <a:prstGeom prst="rect">
            <a:avLst/>
          </a:prstGeom>
          <a:solidFill>
            <a:srgbClr val="000000"/>
          </a:solidFill>
          <a:ln/>
        </p:spPr>
      </p:sp>
      <p:sp>
        <p:nvSpPr>
          <p:cNvPr id="246" name="Shape 243"/>
          <p:cNvSpPr/>
          <p:nvPr/>
        </p:nvSpPr>
        <p:spPr>
          <a:xfrm>
            <a:off x="1752600" y="5036820"/>
            <a:ext cx="57150" cy="57150"/>
          </a:xfrm>
          <a:prstGeom prst="rect">
            <a:avLst/>
          </a:prstGeom>
          <a:solidFill>
            <a:srgbClr val="000000"/>
          </a:solidFill>
          <a:ln/>
        </p:spPr>
      </p:sp>
      <p:sp>
        <p:nvSpPr>
          <p:cNvPr id="247" name="Shape 244"/>
          <p:cNvSpPr/>
          <p:nvPr/>
        </p:nvSpPr>
        <p:spPr>
          <a:xfrm>
            <a:off x="1866900" y="5036820"/>
            <a:ext cx="57150" cy="57150"/>
          </a:xfrm>
          <a:prstGeom prst="rect">
            <a:avLst/>
          </a:prstGeom>
          <a:solidFill>
            <a:srgbClr val="000000"/>
          </a:solidFill>
          <a:ln/>
        </p:spPr>
      </p:sp>
      <p:sp>
        <p:nvSpPr>
          <p:cNvPr id="248" name="Shape 245"/>
          <p:cNvSpPr/>
          <p:nvPr/>
        </p:nvSpPr>
        <p:spPr>
          <a:xfrm>
            <a:off x="1981200" y="5036820"/>
            <a:ext cx="57150" cy="57150"/>
          </a:xfrm>
          <a:prstGeom prst="rect">
            <a:avLst/>
          </a:prstGeom>
          <a:solidFill>
            <a:srgbClr val="000000"/>
          </a:solidFill>
          <a:ln/>
        </p:spPr>
      </p:sp>
      <p:sp>
        <p:nvSpPr>
          <p:cNvPr id="249" name="Shape 246"/>
          <p:cNvSpPr/>
          <p:nvPr/>
        </p:nvSpPr>
        <p:spPr>
          <a:xfrm>
            <a:off x="2209800" y="5036820"/>
            <a:ext cx="57150" cy="57150"/>
          </a:xfrm>
          <a:prstGeom prst="rect">
            <a:avLst/>
          </a:prstGeom>
          <a:solidFill>
            <a:srgbClr val="000000"/>
          </a:solidFill>
          <a:ln/>
        </p:spPr>
      </p:sp>
      <p:sp>
        <p:nvSpPr>
          <p:cNvPr id="250" name="Shape 247"/>
          <p:cNvSpPr/>
          <p:nvPr/>
        </p:nvSpPr>
        <p:spPr>
          <a:xfrm>
            <a:off x="1066800" y="5093970"/>
            <a:ext cx="57150" cy="57150"/>
          </a:xfrm>
          <a:prstGeom prst="rect">
            <a:avLst/>
          </a:prstGeom>
          <a:solidFill>
            <a:srgbClr val="000000"/>
          </a:solidFill>
          <a:ln/>
        </p:spPr>
      </p:sp>
      <p:sp>
        <p:nvSpPr>
          <p:cNvPr id="251" name="Shape 248"/>
          <p:cNvSpPr/>
          <p:nvPr/>
        </p:nvSpPr>
        <p:spPr>
          <a:xfrm>
            <a:off x="1123950" y="5093970"/>
            <a:ext cx="57150" cy="57150"/>
          </a:xfrm>
          <a:prstGeom prst="rect">
            <a:avLst/>
          </a:prstGeom>
          <a:solidFill>
            <a:srgbClr val="000000"/>
          </a:solidFill>
          <a:ln/>
        </p:spPr>
      </p:sp>
      <p:sp>
        <p:nvSpPr>
          <p:cNvPr id="252" name="Shape 249"/>
          <p:cNvSpPr/>
          <p:nvPr/>
        </p:nvSpPr>
        <p:spPr>
          <a:xfrm>
            <a:off x="1181100" y="5093970"/>
            <a:ext cx="57150" cy="57150"/>
          </a:xfrm>
          <a:prstGeom prst="rect">
            <a:avLst/>
          </a:prstGeom>
          <a:solidFill>
            <a:srgbClr val="000000"/>
          </a:solidFill>
          <a:ln/>
        </p:spPr>
      </p:sp>
      <p:sp>
        <p:nvSpPr>
          <p:cNvPr id="253" name="Shape 250"/>
          <p:cNvSpPr/>
          <p:nvPr/>
        </p:nvSpPr>
        <p:spPr>
          <a:xfrm>
            <a:off x="1238250" y="5093970"/>
            <a:ext cx="57150" cy="57150"/>
          </a:xfrm>
          <a:prstGeom prst="rect">
            <a:avLst/>
          </a:prstGeom>
          <a:solidFill>
            <a:srgbClr val="000000"/>
          </a:solidFill>
          <a:ln/>
        </p:spPr>
      </p:sp>
      <p:sp>
        <p:nvSpPr>
          <p:cNvPr id="254" name="Shape 251"/>
          <p:cNvSpPr/>
          <p:nvPr/>
        </p:nvSpPr>
        <p:spPr>
          <a:xfrm>
            <a:off x="1295400" y="5093970"/>
            <a:ext cx="57150" cy="57150"/>
          </a:xfrm>
          <a:prstGeom prst="rect">
            <a:avLst/>
          </a:prstGeom>
          <a:solidFill>
            <a:srgbClr val="000000"/>
          </a:solidFill>
          <a:ln/>
        </p:spPr>
      </p:sp>
      <p:sp>
        <p:nvSpPr>
          <p:cNvPr id="255" name="Shape 252"/>
          <p:cNvSpPr/>
          <p:nvPr/>
        </p:nvSpPr>
        <p:spPr>
          <a:xfrm>
            <a:off x="1352550" y="5093970"/>
            <a:ext cx="57150" cy="57150"/>
          </a:xfrm>
          <a:prstGeom prst="rect">
            <a:avLst/>
          </a:prstGeom>
          <a:solidFill>
            <a:srgbClr val="000000"/>
          </a:solidFill>
          <a:ln/>
        </p:spPr>
      </p:sp>
      <p:sp>
        <p:nvSpPr>
          <p:cNvPr id="256" name="Shape 253"/>
          <p:cNvSpPr/>
          <p:nvPr/>
        </p:nvSpPr>
        <p:spPr>
          <a:xfrm>
            <a:off x="1409700" y="5093970"/>
            <a:ext cx="57150" cy="57150"/>
          </a:xfrm>
          <a:prstGeom prst="rect">
            <a:avLst/>
          </a:prstGeom>
          <a:solidFill>
            <a:srgbClr val="000000"/>
          </a:solidFill>
          <a:ln/>
        </p:spPr>
      </p:sp>
      <p:sp>
        <p:nvSpPr>
          <p:cNvPr id="257" name="Shape 254"/>
          <p:cNvSpPr/>
          <p:nvPr/>
        </p:nvSpPr>
        <p:spPr>
          <a:xfrm>
            <a:off x="1524000" y="5093970"/>
            <a:ext cx="57150" cy="57150"/>
          </a:xfrm>
          <a:prstGeom prst="rect">
            <a:avLst/>
          </a:prstGeom>
          <a:solidFill>
            <a:srgbClr val="000000"/>
          </a:solidFill>
          <a:ln/>
        </p:spPr>
      </p:sp>
      <p:sp>
        <p:nvSpPr>
          <p:cNvPr id="258" name="Shape 255"/>
          <p:cNvSpPr/>
          <p:nvPr/>
        </p:nvSpPr>
        <p:spPr>
          <a:xfrm>
            <a:off x="1638300" y="5093970"/>
            <a:ext cx="57150" cy="57150"/>
          </a:xfrm>
          <a:prstGeom prst="rect">
            <a:avLst/>
          </a:prstGeom>
          <a:solidFill>
            <a:srgbClr val="000000"/>
          </a:solidFill>
          <a:ln/>
        </p:spPr>
      </p:sp>
      <p:sp>
        <p:nvSpPr>
          <p:cNvPr id="259" name="Shape 256"/>
          <p:cNvSpPr/>
          <p:nvPr/>
        </p:nvSpPr>
        <p:spPr>
          <a:xfrm>
            <a:off x="1695450" y="5093970"/>
            <a:ext cx="57150" cy="57150"/>
          </a:xfrm>
          <a:prstGeom prst="rect">
            <a:avLst/>
          </a:prstGeom>
          <a:solidFill>
            <a:srgbClr val="000000"/>
          </a:solidFill>
          <a:ln/>
        </p:spPr>
      </p:sp>
      <p:sp>
        <p:nvSpPr>
          <p:cNvPr id="260" name="Shape 257"/>
          <p:cNvSpPr/>
          <p:nvPr/>
        </p:nvSpPr>
        <p:spPr>
          <a:xfrm>
            <a:off x="1866900" y="5093970"/>
            <a:ext cx="57150" cy="57150"/>
          </a:xfrm>
          <a:prstGeom prst="rect">
            <a:avLst/>
          </a:prstGeom>
          <a:solidFill>
            <a:srgbClr val="000000"/>
          </a:solidFill>
          <a:ln/>
        </p:spPr>
      </p:sp>
      <p:sp>
        <p:nvSpPr>
          <p:cNvPr id="261" name="Shape 258"/>
          <p:cNvSpPr/>
          <p:nvPr/>
        </p:nvSpPr>
        <p:spPr>
          <a:xfrm>
            <a:off x="1981200" y="5093970"/>
            <a:ext cx="57150" cy="57150"/>
          </a:xfrm>
          <a:prstGeom prst="rect">
            <a:avLst/>
          </a:prstGeom>
          <a:solidFill>
            <a:srgbClr val="000000"/>
          </a:solidFill>
          <a:ln/>
        </p:spPr>
      </p:sp>
      <p:sp>
        <p:nvSpPr>
          <p:cNvPr id="262" name="Shape 259"/>
          <p:cNvSpPr/>
          <p:nvPr/>
        </p:nvSpPr>
        <p:spPr>
          <a:xfrm>
            <a:off x="2095500" y="5093970"/>
            <a:ext cx="57150" cy="57150"/>
          </a:xfrm>
          <a:prstGeom prst="rect">
            <a:avLst/>
          </a:prstGeom>
          <a:solidFill>
            <a:srgbClr val="000000"/>
          </a:solidFill>
          <a:ln/>
        </p:spPr>
      </p:sp>
      <p:sp>
        <p:nvSpPr>
          <p:cNvPr id="263" name="Shape 260"/>
          <p:cNvSpPr/>
          <p:nvPr/>
        </p:nvSpPr>
        <p:spPr>
          <a:xfrm>
            <a:off x="2209800" y="5093970"/>
            <a:ext cx="57150" cy="57150"/>
          </a:xfrm>
          <a:prstGeom prst="rect">
            <a:avLst/>
          </a:prstGeom>
          <a:solidFill>
            <a:srgbClr val="000000"/>
          </a:solidFill>
          <a:ln/>
        </p:spPr>
      </p:sp>
      <p:sp>
        <p:nvSpPr>
          <p:cNvPr id="264" name="Shape 261"/>
          <p:cNvSpPr/>
          <p:nvPr/>
        </p:nvSpPr>
        <p:spPr>
          <a:xfrm>
            <a:off x="2438400" y="5093970"/>
            <a:ext cx="57150" cy="57150"/>
          </a:xfrm>
          <a:prstGeom prst="rect">
            <a:avLst/>
          </a:prstGeom>
          <a:solidFill>
            <a:srgbClr val="000000"/>
          </a:solidFill>
          <a:ln/>
        </p:spPr>
      </p:sp>
      <p:sp>
        <p:nvSpPr>
          <p:cNvPr id="265" name="Shape 262"/>
          <p:cNvSpPr/>
          <p:nvPr/>
        </p:nvSpPr>
        <p:spPr>
          <a:xfrm>
            <a:off x="1066800" y="5151120"/>
            <a:ext cx="57150" cy="57150"/>
          </a:xfrm>
          <a:prstGeom prst="rect">
            <a:avLst/>
          </a:prstGeom>
          <a:solidFill>
            <a:srgbClr val="000000"/>
          </a:solidFill>
          <a:ln/>
        </p:spPr>
      </p:sp>
      <p:sp>
        <p:nvSpPr>
          <p:cNvPr id="266" name="Shape 263"/>
          <p:cNvSpPr/>
          <p:nvPr/>
        </p:nvSpPr>
        <p:spPr>
          <a:xfrm>
            <a:off x="1409700" y="5151120"/>
            <a:ext cx="57150" cy="57150"/>
          </a:xfrm>
          <a:prstGeom prst="rect">
            <a:avLst/>
          </a:prstGeom>
          <a:solidFill>
            <a:srgbClr val="000000"/>
          </a:solidFill>
          <a:ln/>
        </p:spPr>
      </p:sp>
      <p:sp>
        <p:nvSpPr>
          <p:cNvPr id="267" name="Shape 264"/>
          <p:cNvSpPr/>
          <p:nvPr/>
        </p:nvSpPr>
        <p:spPr>
          <a:xfrm>
            <a:off x="1638300" y="5151120"/>
            <a:ext cx="57150" cy="57150"/>
          </a:xfrm>
          <a:prstGeom prst="rect">
            <a:avLst/>
          </a:prstGeom>
          <a:solidFill>
            <a:srgbClr val="000000"/>
          </a:solidFill>
          <a:ln/>
        </p:spPr>
      </p:sp>
      <p:sp>
        <p:nvSpPr>
          <p:cNvPr id="268" name="Shape 265"/>
          <p:cNvSpPr/>
          <p:nvPr/>
        </p:nvSpPr>
        <p:spPr>
          <a:xfrm>
            <a:off x="1752600" y="5151120"/>
            <a:ext cx="57150" cy="57150"/>
          </a:xfrm>
          <a:prstGeom prst="rect">
            <a:avLst/>
          </a:prstGeom>
          <a:solidFill>
            <a:srgbClr val="000000"/>
          </a:solidFill>
          <a:ln/>
        </p:spPr>
      </p:sp>
      <p:sp>
        <p:nvSpPr>
          <p:cNvPr id="269" name="Shape 266"/>
          <p:cNvSpPr/>
          <p:nvPr/>
        </p:nvSpPr>
        <p:spPr>
          <a:xfrm>
            <a:off x="1809750" y="5151120"/>
            <a:ext cx="57150" cy="57150"/>
          </a:xfrm>
          <a:prstGeom prst="rect">
            <a:avLst/>
          </a:prstGeom>
          <a:solidFill>
            <a:srgbClr val="000000"/>
          </a:solidFill>
          <a:ln/>
        </p:spPr>
      </p:sp>
      <p:sp>
        <p:nvSpPr>
          <p:cNvPr id="270" name="Shape 267"/>
          <p:cNvSpPr/>
          <p:nvPr/>
        </p:nvSpPr>
        <p:spPr>
          <a:xfrm>
            <a:off x="1866900" y="5151120"/>
            <a:ext cx="57150" cy="57150"/>
          </a:xfrm>
          <a:prstGeom prst="rect">
            <a:avLst/>
          </a:prstGeom>
          <a:solidFill>
            <a:srgbClr val="000000"/>
          </a:solidFill>
          <a:ln/>
        </p:spPr>
      </p:sp>
      <p:sp>
        <p:nvSpPr>
          <p:cNvPr id="271" name="Shape 268"/>
          <p:cNvSpPr/>
          <p:nvPr/>
        </p:nvSpPr>
        <p:spPr>
          <a:xfrm>
            <a:off x="1981200" y="5151120"/>
            <a:ext cx="57150" cy="57150"/>
          </a:xfrm>
          <a:prstGeom prst="rect">
            <a:avLst/>
          </a:prstGeom>
          <a:solidFill>
            <a:srgbClr val="000000"/>
          </a:solidFill>
          <a:ln/>
        </p:spPr>
      </p:sp>
      <p:sp>
        <p:nvSpPr>
          <p:cNvPr id="272" name="Shape 269"/>
          <p:cNvSpPr/>
          <p:nvPr/>
        </p:nvSpPr>
        <p:spPr>
          <a:xfrm>
            <a:off x="2209800" y="5151120"/>
            <a:ext cx="57150" cy="57150"/>
          </a:xfrm>
          <a:prstGeom prst="rect">
            <a:avLst/>
          </a:prstGeom>
          <a:solidFill>
            <a:srgbClr val="000000"/>
          </a:solidFill>
          <a:ln/>
        </p:spPr>
      </p:sp>
      <p:sp>
        <p:nvSpPr>
          <p:cNvPr id="273" name="Shape 270"/>
          <p:cNvSpPr/>
          <p:nvPr/>
        </p:nvSpPr>
        <p:spPr>
          <a:xfrm>
            <a:off x="2381250" y="5151120"/>
            <a:ext cx="57150" cy="57150"/>
          </a:xfrm>
          <a:prstGeom prst="rect">
            <a:avLst/>
          </a:prstGeom>
          <a:solidFill>
            <a:srgbClr val="000000"/>
          </a:solidFill>
          <a:ln/>
        </p:spPr>
      </p:sp>
      <p:sp>
        <p:nvSpPr>
          <p:cNvPr id="274" name="Shape 271"/>
          <p:cNvSpPr/>
          <p:nvPr/>
        </p:nvSpPr>
        <p:spPr>
          <a:xfrm>
            <a:off x="2438400" y="5151120"/>
            <a:ext cx="57150" cy="57150"/>
          </a:xfrm>
          <a:prstGeom prst="rect">
            <a:avLst/>
          </a:prstGeom>
          <a:solidFill>
            <a:srgbClr val="000000"/>
          </a:solidFill>
          <a:ln/>
        </p:spPr>
      </p:sp>
      <p:sp>
        <p:nvSpPr>
          <p:cNvPr id="275" name="Shape 272"/>
          <p:cNvSpPr/>
          <p:nvPr/>
        </p:nvSpPr>
        <p:spPr>
          <a:xfrm>
            <a:off x="1066800" y="5208270"/>
            <a:ext cx="57150" cy="57150"/>
          </a:xfrm>
          <a:prstGeom prst="rect">
            <a:avLst/>
          </a:prstGeom>
          <a:solidFill>
            <a:srgbClr val="000000"/>
          </a:solidFill>
          <a:ln/>
        </p:spPr>
      </p:sp>
      <p:sp>
        <p:nvSpPr>
          <p:cNvPr id="276" name="Shape 273"/>
          <p:cNvSpPr/>
          <p:nvPr/>
        </p:nvSpPr>
        <p:spPr>
          <a:xfrm>
            <a:off x="1181100" y="5208270"/>
            <a:ext cx="57150" cy="57150"/>
          </a:xfrm>
          <a:prstGeom prst="rect">
            <a:avLst/>
          </a:prstGeom>
          <a:solidFill>
            <a:srgbClr val="000000"/>
          </a:solidFill>
          <a:ln/>
        </p:spPr>
      </p:sp>
      <p:sp>
        <p:nvSpPr>
          <p:cNvPr id="277" name="Shape 274"/>
          <p:cNvSpPr/>
          <p:nvPr/>
        </p:nvSpPr>
        <p:spPr>
          <a:xfrm>
            <a:off x="1238250" y="5208270"/>
            <a:ext cx="57150" cy="57150"/>
          </a:xfrm>
          <a:prstGeom prst="rect">
            <a:avLst/>
          </a:prstGeom>
          <a:solidFill>
            <a:srgbClr val="000000"/>
          </a:solidFill>
          <a:ln/>
        </p:spPr>
      </p:sp>
      <p:sp>
        <p:nvSpPr>
          <p:cNvPr id="278" name="Shape 275"/>
          <p:cNvSpPr/>
          <p:nvPr/>
        </p:nvSpPr>
        <p:spPr>
          <a:xfrm>
            <a:off x="1295400" y="5208270"/>
            <a:ext cx="57150" cy="57150"/>
          </a:xfrm>
          <a:prstGeom prst="rect">
            <a:avLst/>
          </a:prstGeom>
          <a:solidFill>
            <a:srgbClr val="000000"/>
          </a:solidFill>
          <a:ln/>
        </p:spPr>
      </p:sp>
      <p:sp>
        <p:nvSpPr>
          <p:cNvPr id="279" name="Shape 276"/>
          <p:cNvSpPr/>
          <p:nvPr/>
        </p:nvSpPr>
        <p:spPr>
          <a:xfrm>
            <a:off x="1409700" y="5208270"/>
            <a:ext cx="57150" cy="57150"/>
          </a:xfrm>
          <a:prstGeom prst="rect">
            <a:avLst/>
          </a:prstGeom>
          <a:solidFill>
            <a:srgbClr val="000000"/>
          </a:solidFill>
          <a:ln/>
        </p:spPr>
      </p:sp>
      <p:sp>
        <p:nvSpPr>
          <p:cNvPr id="280" name="Shape 277"/>
          <p:cNvSpPr/>
          <p:nvPr/>
        </p:nvSpPr>
        <p:spPr>
          <a:xfrm>
            <a:off x="1581150" y="5208270"/>
            <a:ext cx="57150" cy="57150"/>
          </a:xfrm>
          <a:prstGeom prst="rect">
            <a:avLst/>
          </a:prstGeom>
          <a:solidFill>
            <a:srgbClr val="000000"/>
          </a:solidFill>
          <a:ln/>
        </p:spPr>
      </p:sp>
      <p:sp>
        <p:nvSpPr>
          <p:cNvPr id="281" name="Shape 278"/>
          <p:cNvSpPr/>
          <p:nvPr/>
        </p:nvSpPr>
        <p:spPr>
          <a:xfrm>
            <a:off x="1638300" y="5208270"/>
            <a:ext cx="57150" cy="57150"/>
          </a:xfrm>
          <a:prstGeom prst="rect">
            <a:avLst/>
          </a:prstGeom>
          <a:solidFill>
            <a:srgbClr val="000000"/>
          </a:solidFill>
          <a:ln/>
        </p:spPr>
      </p:sp>
      <p:sp>
        <p:nvSpPr>
          <p:cNvPr id="282" name="Shape 279"/>
          <p:cNvSpPr/>
          <p:nvPr/>
        </p:nvSpPr>
        <p:spPr>
          <a:xfrm>
            <a:off x="1695450" y="5208270"/>
            <a:ext cx="57150" cy="57150"/>
          </a:xfrm>
          <a:prstGeom prst="rect">
            <a:avLst/>
          </a:prstGeom>
          <a:solidFill>
            <a:srgbClr val="000000"/>
          </a:solidFill>
          <a:ln/>
        </p:spPr>
      </p:sp>
      <p:sp>
        <p:nvSpPr>
          <p:cNvPr id="283" name="Shape 280"/>
          <p:cNvSpPr/>
          <p:nvPr/>
        </p:nvSpPr>
        <p:spPr>
          <a:xfrm>
            <a:off x="1866900" y="5208270"/>
            <a:ext cx="57150" cy="57150"/>
          </a:xfrm>
          <a:prstGeom prst="rect">
            <a:avLst/>
          </a:prstGeom>
          <a:solidFill>
            <a:srgbClr val="000000"/>
          </a:solidFill>
          <a:ln/>
        </p:spPr>
      </p:sp>
      <p:sp>
        <p:nvSpPr>
          <p:cNvPr id="284" name="Shape 281"/>
          <p:cNvSpPr/>
          <p:nvPr/>
        </p:nvSpPr>
        <p:spPr>
          <a:xfrm>
            <a:off x="1924050" y="5208270"/>
            <a:ext cx="57150" cy="57150"/>
          </a:xfrm>
          <a:prstGeom prst="rect">
            <a:avLst/>
          </a:prstGeom>
          <a:solidFill>
            <a:srgbClr val="000000"/>
          </a:solidFill>
          <a:ln/>
        </p:spPr>
      </p:sp>
      <p:sp>
        <p:nvSpPr>
          <p:cNvPr id="285" name="Shape 282"/>
          <p:cNvSpPr/>
          <p:nvPr/>
        </p:nvSpPr>
        <p:spPr>
          <a:xfrm>
            <a:off x="1981200" y="5208270"/>
            <a:ext cx="57150" cy="57150"/>
          </a:xfrm>
          <a:prstGeom prst="rect">
            <a:avLst/>
          </a:prstGeom>
          <a:solidFill>
            <a:srgbClr val="000000"/>
          </a:solidFill>
          <a:ln/>
        </p:spPr>
      </p:sp>
      <p:sp>
        <p:nvSpPr>
          <p:cNvPr id="286" name="Shape 283"/>
          <p:cNvSpPr/>
          <p:nvPr/>
        </p:nvSpPr>
        <p:spPr>
          <a:xfrm>
            <a:off x="2038350" y="5208270"/>
            <a:ext cx="57150" cy="57150"/>
          </a:xfrm>
          <a:prstGeom prst="rect">
            <a:avLst/>
          </a:prstGeom>
          <a:solidFill>
            <a:srgbClr val="000000"/>
          </a:solidFill>
          <a:ln/>
        </p:spPr>
      </p:sp>
      <p:sp>
        <p:nvSpPr>
          <p:cNvPr id="287" name="Shape 284"/>
          <p:cNvSpPr/>
          <p:nvPr/>
        </p:nvSpPr>
        <p:spPr>
          <a:xfrm>
            <a:off x="2095500" y="5208270"/>
            <a:ext cx="57150" cy="57150"/>
          </a:xfrm>
          <a:prstGeom prst="rect">
            <a:avLst/>
          </a:prstGeom>
          <a:solidFill>
            <a:srgbClr val="000000"/>
          </a:solidFill>
          <a:ln/>
        </p:spPr>
      </p:sp>
      <p:sp>
        <p:nvSpPr>
          <p:cNvPr id="288" name="Shape 285"/>
          <p:cNvSpPr/>
          <p:nvPr/>
        </p:nvSpPr>
        <p:spPr>
          <a:xfrm>
            <a:off x="2152650" y="5208270"/>
            <a:ext cx="57150" cy="57150"/>
          </a:xfrm>
          <a:prstGeom prst="rect">
            <a:avLst/>
          </a:prstGeom>
          <a:solidFill>
            <a:srgbClr val="000000"/>
          </a:solidFill>
          <a:ln/>
        </p:spPr>
      </p:sp>
      <p:sp>
        <p:nvSpPr>
          <p:cNvPr id="289" name="Shape 286"/>
          <p:cNvSpPr/>
          <p:nvPr/>
        </p:nvSpPr>
        <p:spPr>
          <a:xfrm>
            <a:off x="2209800" y="5208270"/>
            <a:ext cx="57150" cy="57150"/>
          </a:xfrm>
          <a:prstGeom prst="rect">
            <a:avLst/>
          </a:prstGeom>
          <a:solidFill>
            <a:srgbClr val="000000"/>
          </a:solidFill>
          <a:ln/>
        </p:spPr>
      </p:sp>
      <p:sp>
        <p:nvSpPr>
          <p:cNvPr id="290" name="Shape 287"/>
          <p:cNvSpPr/>
          <p:nvPr/>
        </p:nvSpPr>
        <p:spPr>
          <a:xfrm>
            <a:off x="2324100" y="5208270"/>
            <a:ext cx="57150" cy="57150"/>
          </a:xfrm>
          <a:prstGeom prst="rect">
            <a:avLst/>
          </a:prstGeom>
          <a:solidFill>
            <a:srgbClr val="000000"/>
          </a:solidFill>
          <a:ln/>
        </p:spPr>
      </p:sp>
      <p:sp>
        <p:nvSpPr>
          <p:cNvPr id="291" name="Shape 288"/>
          <p:cNvSpPr/>
          <p:nvPr/>
        </p:nvSpPr>
        <p:spPr>
          <a:xfrm>
            <a:off x="2438400" y="5208270"/>
            <a:ext cx="57150" cy="57150"/>
          </a:xfrm>
          <a:prstGeom prst="rect">
            <a:avLst/>
          </a:prstGeom>
          <a:solidFill>
            <a:srgbClr val="000000"/>
          </a:solidFill>
          <a:ln/>
        </p:spPr>
      </p:sp>
      <p:sp>
        <p:nvSpPr>
          <p:cNvPr id="292" name="Shape 289"/>
          <p:cNvSpPr/>
          <p:nvPr/>
        </p:nvSpPr>
        <p:spPr>
          <a:xfrm>
            <a:off x="1066800" y="5265420"/>
            <a:ext cx="57150" cy="57150"/>
          </a:xfrm>
          <a:prstGeom prst="rect">
            <a:avLst/>
          </a:prstGeom>
          <a:solidFill>
            <a:srgbClr val="000000"/>
          </a:solidFill>
          <a:ln/>
        </p:spPr>
      </p:sp>
      <p:sp>
        <p:nvSpPr>
          <p:cNvPr id="293" name="Shape 290"/>
          <p:cNvSpPr/>
          <p:nvPr/>
        </p:nvSpPr>
        <p:spPr>
          <a:xfrm>
            <a:off x="1181100" y="5265420"/>
            <a:ext cx="57150" cy="57150"/>
          </a:xfrm>
          <a:prstGeom prst="rect">
            <a:avLst/>
          </a:prstGeom>
          <a:solidFill>
            <a:srgbClr val="000000"/>
          </a:solidFill>
          <a:ln/>
        </p:spPr>
      </p:sp>
      <p:sp>
        <p:nvSpPr>
          <p:cNvPr id="294" name="Shape 291"/>
          <p:cNvSpPr/>
          <p:nvPr/>
        </p:nvSpPr>
        <p:spPr>
          <a:xfrm>
            <a:off x="1238250" y="5265420"/>
            <a:ext cx="57150" cy="57150"/>
          </a:xfrm>
          <a:prstGeom prst="rect">
            <a:avLst/>
          </a:prstGeom>
          <a:solidFill>
            <a:srgbClr val="000000"/>
          </a:solidFill>
          <a:ln/>
        </p:spPr>
      </p:sp>
      <p:sp>
        <p:nvSpPr>
          <p:cNvPr id="295" name="Shape 292"/>
          <p:cNvSpPr/>
          <p:nvPr/>
        </p:nvSpPr>
        <p:spPr>
          <a:xfrm>
            <a:off x="1295400" y="5265420"/>
            <a:ext cx="57150" cy="57150"/>
          </a:xfrm>
          <a:prstGeom prst="rect">
            <a:avLst/>
          </a:prstGeom>
          <a:solidFill>
            <a:srgbClr val="000000"/>
          </a:solidFill>
          <a:ln/>
        </p:spPr>
      </p:sp>
      <p:sp>
        <p:nvSpPr>
          <p:cNvPr id="296" name="Shape 293"/>
          <p:cNvSpPr/>
          <p:nvPr/>
        </p:nvSpPr>
        <p:spPr>
          <a:xfrm>
            <a:off x="1409700" y="5265420"/>
            <a:ext cx="57150" cy="57150"/>
          </a:xfrm>
          <a:prstGeom prst="rect">
            <a:avLst/>
          </a:prstGeom>
          <a:solidFill>
            <a:srgbClr val="000000"/>
          </a:solidFill>
          <a:ln/>
        </p:spPr>
      </p:sp>
      <p:sp>
        <p:nvSpPr>
          <p:cNvPr id="297" name="Shape 294"/>
          <p:cNvSpPr/>
          <p:nvPr/>
        </p:nvSpPr>
        <p:spPr>
          <a:xfrm>
            <a:off x="1581150" y="5265420"/>
            <a:ext cx="57150" cy="57150"/>
          </a:xfrm>
          <a:prstGeom prst="rect">
            <a:avLst/>
          </a:prstGeom>
          <a:solidFill>
            <a:srgbClr val="000000"/>
          </a:solidFill>
          <a:ln/>
        </p:spPr>
      </p:sp>
      <p:sp>
        <p:nvSpPr>
          <p:cNvPr id="298" name="Shape 295"/>
          <p:cNvSpPr/>
          <p:nvPr/>
        </p:nvSpPr>
        <p:spPr>
          <a:xfrm>
            <a:off x="1638300" y="5265420"/>
            <a:ext cx="57150" cy="57150"/>
          </a:xfrm>
          <a:prstGeom prst="rect">
            <a:avLst/>
          </a:prstGeom>
          <a:solidFill>
            <a:srgbClr val="000000"/>
          </a:solidFill>
          <a:ln/>
        </p:spPr>
      </p:sp>
      <p:sp>
        <p:nvSpPr>
          <p:cNvPr id="299" name="Shape 296"/>
          <p:cNvSpPr/>
          <p:nvPr/>
        </p:nvSpPr>
        <p:spPr>
          <a:xfrm>
            <a:off x="1809750" y="5265420"/>
            <a:ext cx="57150" cy="57150"/>
          </a:xfrm>
          <a:prstGeom prst="rect">
            <a:avLst/>
          </a:prstGeom>
          <a:solidFill>
            <a:srgbClr val="000000"/>
          </a:solidFill>
          <a:ln/>
        </p:spPr>
      </p:sp>
      <p:sp>
        <p:nvSpPr>
          <p:cNvPr id="300" name="Shape 297"/>
          <p:cNvSpPr/>
          <p:nvPr/>
        </p:nvSpPr>
        <p:spPr>
          <a:xfrm>
            <a:off x="1866900" y="5265420"/>
            <a:ext cx="57150" cy="57150"/>
          </a:xfrm>
          <a:prstGeom prst="rect">
            <a:avLst/>
          </a:prstGeom>
          <a:solidFill>
            <a:srgbClr val="000000"/>
          </a:solidFill>
          <a:ln/>
        </p:spPr>
      </p:sp>
      <p:sp>
        <p:nvSpPr>
          <p:cNvPr id="301" name="Shape 298"/>
          <p:cNvSpPr/>
          <p:nvPr/>
        </p:nvSpPr>
        <p:spPr>
          <a:xfrm>
            <a:off x="1924050" y="5265420"/>
            <a:ext cx="57150" cy="57150"/>
          </a:xfrm>
          <a:prstGeom prst="rect">
            <a:avLst/>
          </a:prstGeom>
          <a:solidFill>
            <a:srgbClr val="000000"/>
          </a:solidFill>
          <a:ln/>
        </p:spPr>
      </p:sp>
      <p:sp>
        <p:nvSpPr>
          <p:cNvPr id="302" name="Shape 299"/>
          <p:cNvSpPr/>
          <p:nvPr/>
        </p:nvSpPr>
        <p:spPr>
          <a:xfrm>
            <a:off x="1981200" y="5265420"/>
            <a:ext cx="57150" cy="57150"/>
          </a:xfrm>
          <a:prstGeom prst="rect">
            <a:avLst/>
          </a:prstGeom>
          <a:solidFill>
            <a:srgbClr val="000000"/>
          </a:solidFill>
          <a:ln/>
        </p:spPr>
      </p:sp>
      <p:sp>
        <p:nvSpPr>
          <p:cNvPr id="303" name="Shape 300"/>
          <p:cNvSpPr/>
          <p:nvPr/>
        </p:nvSpPr>
        <p:spPr>
          <a:xfrm>
            <a:off x="2038350" y="5265420"/>
            <a:ext cx="57150" cy="57150"/>
          </a:xfrm>
          <a:prstGeom prst="rect">
            <a:avLst/>
          </a:prstGeom>
          <a:solidFill>
            <a:srgbClr val="000000"/>
          </a:solidFill>
          <a:ln/>
        </p:spPr>
      </p:sp>
      <p:sp>
        <p:nvSpPr>
          <p:cNvPr id="304" name="Shape 301"/>
          <p:cNvSpPr/>
          <p:nvPr/>
        </p:nvSpPr>
        <p:spPr>
          <a:xfrm>
            <a:off x="2095500" y="5265420"/>
            <a:ext cx="57150" cy="57150"/>
          </a:xfrm>
          <a:prstGeom prst="rect">
            <a:avLst/>
          </a:prstGeom>
          <a:solidFill>
            <a:srgbClr val="000000"/>
          </a:solidFill>
          <a:ln/>
        </p:spPr>
      </p:sp>
      <p:sp>
        <p:nvSpPr>
          <p:cNvPr id="305" name="Shape 302"/>
          <p:cNvSpPr/>
          <p:nvPr/>
        </p:nvSpPr>
        <p:spPr>
          <a:xfrm>
            <a:off x="2381250" y="5265420"/>
            <a:ext cx="57150" cy="57150"/>
          </a:xfrm>
          <a:prstGeom prst="rect">
            <a:avLst/>
          </a:prstGeom>
          <a:solidFill>
            <a:srgbClr val="000000"/>
          </a:solidFill>
          <a:ln/>
        </p:spPr>
      </p:sp>
      <p:sp>
        <p:nvSpPr>
          <p:cNvPr id="306" name="Shape 303"/>
          <p:cNvSpPr/>
          <p:nvPr/>
        </p:nvSpPr>
        <p:spPr>
          <a:xfrm>
            <a:off x="2438400" y="5265420"/>
            <a:ext cx="57150" cy="57150"/>
          </a:xfrm>
          <a:prstGeom prst="rect">
            <a:avLst/>
          </a:prstGeom>
          <a:solidFill>
            <a:srgbClr val="000000"/>
          </a:solidFill>
          <a:ln/>
        </p:spPr>
      </p:sp>
      <p:sp>
        <p:nvSpPr>
          <p:cNvPr id="307" name="Shape 304"/>
          <p:cNvSpPr/>
          <p:nvPr/>
        </p:nvSpPr>
        <p:spPr>
          <a:xfrm>
            <a:off x="1066800" y="5322570"/>
            <a:ext cx="57150" cy="57150"/>
          </a:xfrm>
          <a:prstGeom prst="rect">
            <a:avLst/>
          </a:prstGeom>
          <a:solidFill>
            <a:srgbClr val="000000"/>
          </a:solidFill>
          <a:ln/>
        </p:spPr>
      </p:sp>
      <p:sp>
        <p:nvSpPr>
          <p:cNvPr id="308" name="Shape 305"/>
          <p:cNvSpPr/>
          <p:nvPr/>
        </p:nvSpPr>
        <p:spPr>
          <a:xfrm>
            <a:off x="1181100" y="5322570"/>
            <a:ext cx="57150" cy="57150"/>
          </a:xfrm>
          <a:prstGeom prst="rect">
            <a:avLst/>
          </a:prstGeom>
          <a:solidFill>
            <a:srgbClr val="000000"/>
          </a:solidFill>
          <a:ln/>
        </p:spPr>
      </p:sp>
      <p:sp>
        <p:nvSpPr>
          <p:cNvPr id="309" name="Shape 306"/>
          <p:cNvSpPr/>
          <p:nvPr/>
        </p:nvSpPr>
        <p:spPr>
          <a:xfrm>
            <a:off x="1238250" y="5322570"/>
            <a:ext cx="57150" cy="57150"/>
          </a:xfrm>
          <a:prstGeom prst="rect">
            <a:avLst/>
          </a:prstGeom>
          <a:solidFill>
            <a:srgbClr val="000000"/>
          </a:solidFill>
          <a:ln/>
        </p:spPr>
      </p:sp>
      <p:sp>
        <p:nvSpPr>
          <p:cNvPr id="310" name="Shape 307"/>
          <p:cNvSpPr/>
          <p:nvPr/>
        </p:nvSpPr>
        <p:spPr>
          <a:xfrm>
            <a:off x="1295400" y="5322570"/>
            <a:ext cx="57150" cy="57150"/>
          </a:xfrm>
          <a:prstGeom prst="rect">
            <a:avLst/>
          </a:prstGeom>
          <a:solidFill>
            <a:srgbClr val="000000"/>
          </a:solidFill>
          <a:ln/>
        </p:spPr>
      </p:sp>
      <p:sp>
        <p:nvSpPr>
          <p:cNvPr id="311" name="Shape 308"/>
          <p:cNvSpPr/>
          <p:nvPr/>
        </p:nvSpPr>
        <p:spPr>
          <a:xfrm>
            <a:off x="1409700" y="5322570"/>
            <a:ext cx="57150" cy="57150"/>
          </a:xfrm>
          <a:prstGeom prst="rect">
            <a:avLst/>
          </a:prstGeom>
          <a:solidFill>
            <a:srgbClr val="000000"/>
          </a:solidFill>
          <a:ln/>
        </p:spPr>
      </p:sp>
      <p:sp>
        <p:nvSpPr>
          <p:cNvPr id="312" name="Shape 309"/>
          <p:cNvSpPr/>
          <p:nvPr/>
        </p:nvSpPr>
        <p:spPr>
          <a:xfrm>
            <a:off x="1581150" y="5322570"/>
            <a:ext cx="57150" cy="57150"/>
          </a:xfrm>
          <a:prstGeom prst="rect">
            <a:avLst/>
          </a:prstGeom>
          <a:solidFill>
            <a:srgbClr val="000000"/>
          </a:solidFill>
          <a:ln/>
        </p:spPr>
      </p:sp>
      <p:sp>
        <p:nvSpPr>
          <p:cNvPr id="313" name="Shape 310"/>
          <p:cNvSpPr/>
          <p:nvPr/>
        </p:nvSpPr>
        <p:spPr>
          <a:xfrm>
            <a:off x="1638300" y="5322570"/>
            <a:ext cx="57150" cy="57150"/>
          </a:xfrm>
          <a:prstGeom prst="rect">
            <a:avLst/>
          </a:prstGeom>
          <a:solidFill>
            <a:srgbClr val="000000"/>
          </a:solidFill>
          <a:ln/>
        </p:spPr>
      </p:sp>
      <p:sp>
        <p:nvSpPr>
          <p:cNvPr id="314" name="Shape 311"/>
          <p:cNvSpPr/>
          <p:nvPr/>
        </p:nvSpPr>
        <p:spPr>
          <a:xfrm>
            <a:off x="1695450" y="5322570"/>
            <a:ext cx="57150" cy="57150"/>
          </a:xfrm>
          <a:prstGeom prst="rect">
            <a:avLst/>
          </a:prstGeom>
          <a:solidFill>
            <a:srgbClr val="000000"/>
          </a:solidFill>
          <a:ln/>
        </p:spPr>
      </p:sp>
      <p:sp>
        <p:nvSpPr>
          <p:cNvPr id="315" name="Shape 312"/>
          <p:cNvSpPr/>
          <p:nvPr/>
        </p:nvSpPr>
        <p:spPr>
          <a:xfrm>
            <a:off x="1809750" y="5322570"/>
            <a:ext cx="57150" cy="57150"/>
          </a:xfrm>
          <a:prstGeom prst="rect">
            <a:avLst/>
          </a:prstGeom>
          <a:solidFill>
            <a:srgbClr val="000000"/>
          </a:solidFill>
          <a:ln/>
        </p:spPr>
      </p:sp>
      <p:sp>
        <p:nvSpPr>
          <p:cNvPr id="316" name="Shape 313"/>
          <p:cNvSpPr/>
          <p:nvPr/>
        </p:nvSpPr>
        <p:spPr>
          <a:xfrm>
            <a:off x="1924050" y="5322570"/>
            <a:ext cx="57150" cy="57150"/>
          </a:xfrm>
          <a:prstGeom prst="rect">
            <a:avLst/>
          </a:prstGeom>
          <a:solidFill>
            <a:srgbClr val="000000"/>
          </a:solidFill>
          <a:ln/>
        </p:spPr>
      </p:sp>
      <p:sp>
        <p:nvSpPr>
          <p:cNvPr id="317" name="Shape 314"/>
          <p:cNvSpPr/>
          <p:nvPr/>
        </p:nvSpPr>
        <p:spPr>
          <a:xfrm>
            <a:off x="1981200" y="5322570"/>
            <a:ext cx="57150" cy="57150"/>
          </a:xfrm>
          <a:prstGeom prst="rect">
            <a:avLst/>
          </a:prstGeom>
          <a:solidFill>
            <a:srgbClr val="000000"/>
          </a:solidFill>
          <a:ln/>
        </p:spPr>
      </p:sp>
      <p:sp>
        <p:nvSpPr>
          <p:cNvPr id="318" name="Shape 315"/>
          <p:cNvSpPr/>
          <p:nvPr/>
        </p:nvSpPr>
        <p:spPr>
          <a:xfrm>
            <a:off x="2266950" y="5322570"/>
            <a:ext cx="57150" cy="57150"/>
          </a:xfrm>
          <a:prstGeom prst="rect">
            <a:avLst/>
          </a:prstGeom>
          <a:solidFill>
            <a:srgbClr val="000000"/>
          </a:solidFill>
          <a:ln/>
        </p:spPr>
      </p:sp>
      <p:sp>
        <p:nvSpPr>
          <p:cNvPr id="319" name="Shape 316"/>
          <p:cNvSpPr/>
          <p:nvPr/>
        </p:nvSpPr>
        <p:spPr>
          <a:xfrm>
            <a:off x="2324100" y="5322570"/>
            <a:ext cx="57150" cy="57150"/>
          </a:xfrm>
          <a:prstGeom prst="rect">
            <a:avLst/>
          </a:prstGeom>
          <a:solidFill>
            <a:srgbClr val="000000"/>
          </a:solidFill>
          <a:ln/>
        </p:spPr>
      </p:sp>
      <p:sp>
        <p:nvSpPr>
          <p:cNvPr id="320" name="Shape 317"/>
          <p:cNvSpPr/>
          <p:nvPr/>
        </p:nvSpPr>
        <p:spPr>
          <a:xfrm>
            <a:off x="2438400" y="5322570"/>
            <a:ext cx="57150" cy="57150"/>
          </a:xfrm>
          <a:prstGeom prst="rect">
            <a:avLst/>
          </a:prstGeom>
          <a:solidFill>
            <a:srgbClr val="000000"/>
          </a:solidFill>
          <a:ln/>
        </p:spPr>
      </p:sp>
      <p:sp>
        <p:nvSpPr>
          <p:cNvPr id="321" name="Shape 318"/>
          <p:cNvSpPr/>
          <p:nvPr/>
        </p:nvSpPr>
        <p:spPr>
          <a:xfrm>
            <a:off x="1066800" y="5379720"/>
            <a:ext cx="57150" cy="57150"/>
          </a:xfrm>
          <a:prstGeom prst="rect">
            <a:avLst/>
          </a:prstGeom>
          <a:solidFill>
            <a:srgbClr val="000000"/>
          </a:solidFill>
          <a:ln/>
        </p:spPr>
      </p:sp>
      <p:sp>
        <p:nvSpPr>
          <p:cNvPr id="322" name="Shape 319"/>
          <p:cNvSpPr/>
          <p:nvPr/>
        </p:nvSpPr>
        <p:spPr>
          <a:xfrm>
            <a:off x="1409700" y="5379720"/>
            <a:ext cx="57150" cy="57150"/>
          </a:xfrm>
          <a:prstGeom prst="rect">
            <a:avLst/>
          </a:prstGeom>
          <a:solidFill>
            <a:srgbClr val="000000"/>
          </a:solidFill>
          <a:ln/>
        </p:spPr>
      </p:sp>
      <p:sp>
        <p:nvSpPr>
          <p:cNvPr id="323" name="Shape 320"/>
          <p:cNvSpPr/>
          <p:nvPr/>
        </p:nvSpPr>
        <p:spPr>
          <a:xfrm>
            <a:off x="1524000" y="5379720"/>
            <a:ext cx="57150" cy="57150"/>
          </a:xfrm>
          <a:prstGeom prst="rect">
            <a:avLst/>
          </a:prstGeom>
          <a:solidFill>
            <a:srgbClr val="000000"/>
          </a:solidFill>
          <a:ln/>
        </p:spPr>
      </p:sp>
      <p:sp>
        <p:nvSpPr>
          <p:cNvPr id="324" name="Shape 321"/>
          <p:cNvSpPr/>
          <p:nvPr/>
        </p:nvSpPr>
        <p:spPr>
          <a:xfrm>
            <a:off x="1981200" y="5379720"/>
            <a:ext cx="57150" cy="57150"/>
          </a:xfrm>
          <a:prstGeom prst="rect">
            <a:avLst/>
          </a:prstGeom>
          <a:solidFill>
            <a:srgbClr val="000000"/>
          </a:solidFill>
          <a:ln/>
        </p:spPr>
      </p:sp>
      <p:sp>
        <p:nvSpPr>
          <p:cNvPr id="325" name="Shape 322"/>
          <p:cNvSpPr/>
          <p:nvPr/>
        </p:nvSpPr>
        <p:spPr>
          <a:xfrm>
            <a:off x="2095500" y="5379720"/>
            <a:ext cx="57150" cy="57150"/>
          </a:xfrm>
          <a:prstGeom prst="rect">
            <a:avLst/>
          </a:prstGeom>
          <a:solidFill>
            <a:srgbClr val="000000"/>
          </a:solidFill>
          <a:ln/>
        </p:spPr>
      </p:sp>
      <p:sp>
        <p:nvSpPr>
          <p:cNvPr id="326" name="Shape 323"/>
          <p:cNvSpPr/>
          <p:nvPr/>
        </p:nvSpPr>
        <p:spPr>
          <a:xfrm>
            <a:off x="2152650" y="5379720"/>
            <a:ext cx="57150" cy="57150"/>
          </a:xfrm>
          <a:prstGeom prst="rect">
            <a:avLst/>
          </a:prstGeom>
          <a:solidFill>
            <a:srgbClr val="000000"/>
          </a:solidFill>
          <a:ln/>
        </p:spPr>
      </p:sp>
      <p:sp>
        <p:nvSpPr>
          <p:cNvPr id="327" name="Shape 324"/>
          <p:cNvSpPr/>
          <p:nvPr/>
        </p:nvSpPr>
        <p:spPr>
          <a:xfrm>
            <a:off x="2209800" y="5379720"/>
            <a:ext cx="57150" cy="57150"/>
          </a:xfrm>
          <a:prstGeom prst="rect">
            <a:avLst/>
          </a:prstGeom>
          <a:solidFill>
            <a:srgbClr val="000000"/>
          </a:solidFill>
          <a:ln/>
        </p:spPr>
      </p:sp>
      <p:sp>
        <p:nvSpPr>
          <p:cNvPr id="328" name="Shape 325"/>
          <p:cNvSpPr/>
          <p:nvPr/>
        </p:nvSpPr>
        <p:spPr>
          <a:xfrm>
            <a:off x="2438400" y="5379720"/>
            <a:ext cx="57150" cy="57150"/>
          </a:xfrm>
          <a:prstGeom prst="rect">
            <a:avLst/>
          </a:prstGeom>
          <a:solidFill>
            <a:srgbClr val="000000"/>
          </a:solidFill>
          <a:ln/>
        </p:spPr>
      </p:sp>
      <p:sp>
        <p:nvSpPr>
          <p:cNvPr id="329" name="Shape 326"/>
          <p:cNvSpPr/>
          <p:nvPr/>
        </p:nvSpPr>
        <p:spPr>
          <a:xfrm>
            <a:off x="1066800" y="5436870"/>
            <a:ext cx="57150" cy="57150"/>
          </a:xfrm>
          <a:prstGeom prst="rect">
            <a:avLst/>
          </a:prstGeom>
          <a:solidFill>
            <a:srgbClr val="000000"/>
          </a:solidFill>
          <a:ln/>
        </p:spPr>
      </p:sp>
      <p:sp>
        <p:nvSpPr>
          <p:cNvPr id="330" name="Shape 327"/>
          <p:cNvSpPr/>
          <p:nvPr/>
        </p:nvSpPr>
        <p:spPr>
          <a:xfrm>
            <a:off x="1123950" y="5436870"/>
            <a:ext cx="57150" cy="57150"/>
          </a:xfrm>
          <a:prstGeom prst="rect">
            <a:avLst/>
          </a:prstGeom>
          <a:solidFill>
            <a:srgbClr val="000000"/>
          </a:solidFill>
          <a:ln/>
        </p:spPr>
      </p:sp>
      <p:sp>
        <p:nvSpPr>
          <p:cNvPr id="331" name="Shape 328"/>
          <p:cNvSpPr/>
          <p:nvPr/>
        </p:nvSpPr>
        <p:spPr>
          <a:xfrm>
            <a:off x="1181100" y="5436870"/>
            <a:ext cx="57150" cy="57150"/>
          </a:xfrm>
          <a:prstGeom prst="rect">
            <a:avLst/>
          </a:prstGeom>
          <a:solidFill>
            <a:srgbClr val="000000"/>
          </a:solidFill>
          <a:ln/>
        </p:spPr>
      </p:sp>
      <p:sp>
        <p:nvSpPr>
          <p:cNvPr id="332" name="Shape 329"/>
          <p:cNvSpPr/>
          <p:nvPr/>
        </p:nvSpPr>
        <p:spPr>
          <a:xfrm>
            <a:off x="1238250" y="5436870"/>
            <a:ext cx="57150" cy="57150"/>
          </a:xfrm>
          <a:prstGeom prst="rect">
            <a:avLst/>
          </a:prstGeom>
          <a:solidFill>
            <a:srgbClr val="000000"/>
          </a:solidFill>
          <a:ln/>
        </p:spPr>
      </p:sp>
      <p:sp>
        <p:nvSpPr>
          <p:cNvPr id="333" name="Shape 330"/>
          <p:cNvSpPr/>
          <p:nvPr/>
        </p:nvSpPr>
        <p:spPr>
          <a:xfrm>
            <a:off x="1295400" y="5436870"/>
            <a:ext cx="57150" cy="57150"/>
          </a:xfrm>
          <a:prstGeom prst="rect">
            <a:avLst/>
          </a:prstGeom>
          <a:solidFill>
            <a:srgbClr val="000000"/>
          </a:solidFill>
          <a:ln/>
        </p:spPr>
      </p:sp>
      <p:sp>
        <p:nvSpPr>
          <p:cNvPr id="334" name="Shape 331"/>
          <p:cNvSpPr/>
          <p:nvPr/>
        </p:nvSpPr>
        <p:spPr>
          <a:xfrm>
            <a:off x="1352550" y="5436870"/>
            <a:ext cx="57150" cy="57150"/>
          </a:xfrm>
          <a:prstGeom prst="rect">
            <a:avLst/>
          </a:prstGeom>
          <a:solidFill>
            <a:srgbClr val="000000"/>
          </a:solidFill>
          <a:ln/>
        </p:spPr>
      </p:sp>
      <p:sp>
        <p:nvSpPr>
          <p:cNvPr id="335" name="Shape 332"/>
          <p:cNvSpPr/>
          <p:nvPr/>
        </p:nvSpPr>
        <p:spPr>
          <a:xfrm>
            <a:off x="1409700" y="5436870"/>
            <a:ext cx="57150" cy="57150"/>
          </a:xfrm>
          <a:prstGeom prst="rect">
            <a:avLst/>
          </a:prstGeom>
          <a:solidFill>
            <a:srgbClr val="000000"/>
          </a:solidFill>
          <a:ln/>
        </p:spPr>
      </p:sp>
      <p:sp>
        <p:nvSpPr>
          <p:cNvPr id="336" name="Shape 333"/>
          <p:cNvSpPr/>
          <p:nvPr/>
        </p:nvSpPr>
        <p:spPr>
          <a:xfrm>
            <a:off x="1638300" y="5436870"/>
            <a:ext cx="57150" cy="57150"/>
          </a:xfrm>
          <a:prstGeom prst="rect">
            <a:avLst/>
          </a:prstGeom>
          <a:solidFill>
            <a:srgbClr val="000000"/>
          </a:solidFill>
          <a:ln/>
        </p:spPr>
      </p:sp>
      <p:sp>
        <p:nvSpPr>
          <p:cNvPr id="337" name="Shape 334"/>
          <p:cNvSpPr/>
          <p:nvPr/>
        </p:nvSpPr>
        <p:spPr>
          <a:xfrm>
            <a:off x="1809750" y="5436870"/>
            <a:ext cx="57150" cy="57150"/>
          </a:xfrm>
          <a:prstGeom prst="rect">
            <a:avLst/>
          </a:prstGeom>
          <a:solidFill>
            <a:srgbClr val="000000"/>
          </a:solidFill>
          <a:ln/>
        </p:spPr>
      </p:sp>
      <p:sp>
        <p:nvSpPr>
          <p:cNvPr id="338" name="Shape 335"/>
          <p:cNvSpPr/>
          <p:nvPr/>
        </p:nvSpPr>
        <p:spPr>
          <a:xfrm>
            <a:off x="1866900" y="5436870"/>
            <a:ext cx="57150" cy="57150"/>
          </a:xfrm>
          <a:prstGeom prst="rect">
            <a:avLst/>
          </a:prstGeom>
          <a:solidFill>
            <a:srgbClr val="000000"/>
          </a:solidFill>
          <a:ln/>
        </p:spPr>
      </p:sp>
      <p:sp>
        <p:nvSpPr>
          <p:cNvPr id="339" name="Shape 336"/>
          <p:cNvSpPr/>
          <p:nvPr/>
        </p:nvSpPr>
        <p:spPr>
          <a:xfrm>
            <a:off x="1981200" y="5436870"/>
            <a:ext cx="57150" cy="57150"/>
          </a:xfrm>
          <a:prstGeom prst="rect">
            <a:avLst/>
          </a:prstGeom>
          <a:solidFill>
            <a:srgbClr val="000000"/>
          </a:solidFill>
          <a:ln/>
        </p:spPr>
      </p:sp>
      <p:sp>
        <p:nvSpPr>
          <p:cNvPr id="340" name="Shape 337"/>
          <p:cNvSpPr/>
          <p:nvPr/>
        </p:nvSpPr>
        <p:spPr>
          <a:xfrm>
            <a:off x="2266950" y="5436870"/>
            <a:ext cx="57150" cy="57150"/>
          </a:xfrm>
          <a:prstGeom prst="rect">
            <a:avLst/>
          </a:prstGeom>
          <a:solidFill>
            <a:srgbClr val="000000"/>
          </a:solidFill>
          <a:ln/>
        </p:spPr>
      </p:sp>
      <p:sp>
        <p:nvSpPr>
          <p:cNvPr id="341" name="Shape 338"/>
          <p:cNvSpPr/>
          <p:nvPr/>
        </p:nvSpPr>
        <p:spPr>
          <a:xfrm>
            <a:off x="2438400" y="5436870"/>
            <a:ext cx="57150" cy="57150"/>
          </a:xfrm>
          <a:prstGeom prst="rect">
            <a:avLst/>
          </a:prstGeom>
          <a:solidFill>
            <a:srgbClr val="000000"/>
          </a:solidFill>
          <a:ln/>
        </p:spPr>
      </p:sp>
      <p:sp>
        <p:nvSpPr>
          <p:cNvPr id="342" name="Text 339"/>
          <p:cNvSpPr txBox="1"/>
          <p:nvPr/>
        </p:nvSpPr>
        <p:spPr>
          <a:xfrm>
            <a:off x="2971800" y="4764405"/>
            <a:ext cx="1769745" cy="247650"/>
          </a:xfrm>
          <a:prstGeom prst="rect">
            <a:avLst/>
          </a:prstGeom>
          <a:noFill/>
          <a:ln/>
        </p:spPr>
        <p:txBody>
          <a:bodyPr wrap="none" lIns="0" tIns="0" rIns="0" bIns="0" rtlCol="0" anchor="t"/>
          <a:lstStyle/>
          <a:p>
            <a:pPr algn="l" indent="0" marL="0">
              <a:buNone/>
            </a:pPr>
            <a:r>
              <a:rPr lang="en-US" sz="1500" b="1" dirty="0">
                <a:solidFill>
                  <a:schemeClr val="tx1"/>
                </a:solidFill>
                <a:latin typeface="Arial" pitchFamily="34" charset="0"/>
                <a:ea typeface="Arial" pitchFamily="34" charset="-122"/>
                <a:cs typeface="Arial" pitchFamily="34" charset="-120"/>
              </a:rPr>
              <a:t>Install Floci</a:t>
            </a:r>
            <a:endParaRPr lang="en-US" sz="1500" dirty="0"/>
          </a:p>
        </p:txBody>
      </p:sp>
      <p:sp>
        <p:nvSpPr>
          <p:cNvPr id="343" name="Text 340"/>
          <p:cNvSpPr txBox="1"/>
          <p:nvPr/>
        </p:nvSpPr>
        <p:spPr>
          <a:xfrm>
            <a:off x="2971800" y="5084254"/>
            <a:ext cx="1817370" cy="173355"/>
          </a:xfrm>
          <a:prstGeom prst="rect">
            <a:avLst/>
          </a:prstGeom>
          <a:noFill/>
          <a:ln/>
        </p:spPr>
        <p:txBody>
          <a:bodyPr wrap="none" lIns="0" tIns="0" rIns="0" bIns="0" rtlCol="0" anchor="t"/>
          <a:lstStyle/>
          <a:p>
            <a:pPr algn="l" indent="0" marL="0">
              <a:buNone/>
            </a:pPr>
            <a:r>
              <a:rPr lang="en-US" sz="1050" dirty="0">
                <a:solidFill>
                  <a:schemeClr val="tx1"/>
                </a:solidFill>
                <a:latin typeface="Courier New" pitchFamily="34" charset="0"/>
                <a:ea typeface="Courier New" pitchFamily="34" charset="-122"/>
                <a:cs typeface="Courier New" pitchFamily="34" charset="-120"/>
              </a:rPr>
              <a:t>https://floci.io/</a:t>
            </a:r>
            <a:endParaRPr lang="en-US" sz="1050" dirty="0"/>
          </a:p>
        </p:txBody>
      </p:sp>
      <p:sp>
        <p:nvSpPr>
          <p:cNvPr id="344" name="Text 341"/>
          <p:cNvSpPr txBox="1"/>
          <p:nvPr/>
        </p:nvSpPr>
        <p:spPr>
          <a:xfrm>
            <a:off x="2971800" y="5342096"/>
            <a:ext cx="278892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Scan for installation instructions</a:t>
            </a:r>
            <a:endParaRPr lang="en-US" sz="11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ROAD AHEAD</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Four apps we'll deploy</a:t>
            </a:r>
            <a:endParaRPr lang="en-US" sz="3600" dirty="0"/>
          </a:p>
        </p:txBody>
      </p:sp>
      <p:sp>
        <p:nvSpPr>
          <p:cNvPr id="5" name="Lede"/>
          <p:cNvSpPr txBox="1"/>
          <p:nvPr/>
        </p:nvSpPr>
        <p:spPr>
          <a:xfrm>
            <a:off x="685800" y="1645920"/>
            <a:ext cx="8001000" cy="64008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We'll look at what each application needs to run, then create it on the laptop.</a:t>
            </a:r>
            <a:endParaRPr lang="en-US" sz="2100" dirty="0"/>
          </a:p>
        </p:txBody>
      </p:sp>
      <p:sp>
        <p:nvSpPr>
          <p:cNvPr id="6" name="Step number"/>
          <p:cNvSpPr txBox="1"/>
          <p:nvPr/>
        </p:nvSpPr>
        <p:spPr>
          <a:xfrm>
            <a:off x="685800" y="2523744"/>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1</a:t>
            </a:r>
            <a:endParaRPr lang="en-US" sz="1100" dirty="0"/>
          </a:p>
        </p:txBody>
      </p:sp>
      <p:sp>
        <p:nvSpPr>
          <p:cNvPr id="7" name="Step"/>
          <p:cNvSpPr txBox="1"/>
          <p:nvPr/>
        </p:nvSpPr>
        <p:spPr>
          <a:xfrm>
            <a:off x="1143000" y="2514600"/>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static site.</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HTML, CSS, and JavaScript files for the browser.</a:t>
            </a:r>
            <a:endParaRPr lang="en-US" sz="1800" dirty="0"/>
          </a:p>
        </p:txBody>
      </p:sp>
      <p:sp>
        <p:nvSpPr>
          <p:cNvPr id="8" name="Step number"/>
          <p:cNvSpPr txBox="1"/>
          <p:nvPr/>
        </p:nvSpPr>
        <p:spPr>
          <a:xfrm>
            <a:off x="685800" y="2971800"/>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9" name="Step"/>
          <p:cNvSpPr txBox="1"/>
          <p:nvPr/>
        </p:nvSpPr>
        <p:spPr>
          <a:xfrm>
            <a:off x="1143000" y="2962656"/>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function API.</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A Node handler that stores and retrieves records when a request arrives.</a:t>
            </a:r>
            <a:endParaRPr lang="en-US" sz="1800" dirty="0"/>
          </a:p>
        </p:txBody>
      </p:sp>
      <p:sp>
        <p:nvSpPr>
          <p:cNvPr id="10" name="Step number"/>
          <p:cNvSpPr txBox="1"/>
          <p:nvPr/>
        </p:nvSpPr>
        <p:spPr>
          <a:xfrm>
            <a:off x="685800" y="3419856"/>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11" name="Step"/>
          <p:cNvSpPr txBox="1"/>
          <p:nvPr/>
        </p:nvSpPr>
        <p:spPr>
          <a:xfrm>
            <a:off x="1143000" y="3410712"/>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server application.</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Rails with Postgres and file uploads.</a:t>
            </a:r>
            <a:endParaRPr lang="en-US" sz="1800" dirty="0"/>
          </a:p>
        </p:txBody>
      </p:sp>
      <p:sp>
        <p:nvSpPr>
          <p:cNvPr id="12" name="Step number"/>
          <p:cNvSpPr txBox="1"/>
          <p:nvPr/>
        </p:nvSpPr>
        <p:spPr>
          <a:xfrm>
            <a:off x="685800" y="3867912"/>
            <a:ext cx="274320" cy="274320"/>
          </a:xfrm>
          <a:prstGeom prst="roundRect">
            <a:avLst>
              <a:gd name="adj" fmla="val 13333"/>
            </a:avLst>
          </a:prstGeom>
          <a:solidFill>
            <a:schemeClr val="tx1"/>
          </a:solidFill>
          <a:ln/>
        </p:spPr>
        <p:txBody>
          <a:bodyPr wrap="square" lIns="0" tIns="0" rIns="0" bIns="0" rtlCol="0" anchor="ctr"/>
          <a:lstStyle/>
          <a:p>
            <a:pPr algn="ctr" indent="0" marL="0">
              <a:buNone/>
            </a:pPr>
            <a:r>
              <a:rPr lang="en-US" sz="1100" b="1"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13" name="Step"/>
          <p:cNvSpPr txBox="1"/>
          <p:nvPr/>
        </p:nvSpPr>
        <p:spPr>
          <a:xfrm>
            <a:off x="1143000" y="3858768"/>
            <a:ext cx="10363200" cy="310896"/>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 full-stack JavaScript app.</a:t>
            </a:r>
            <a:pPr indent="0" marL="0">
              <a:buNone/>
            </a:pPr>
            <a:r>
              <a:rPr lang="en-US" sz="1800" dirty="0">
                <a:solidFill>
                  <a:schemeClr val="tx1"/>
                </a:solidFill>
                <a:latin typeface="Arial" pitchFamily="34" charset="0"/>
                <a:ea typeface="Arial" pitchFamily="34" charset="-122"/>
                <a:cs typeface="Arial" pitchFamily="34" charset="-120"/>
              </a:rPr>
              <a:t> </a:t>
            </a:r>
            <a:pPr indent="0" marL="0">
              <a:buNone/>
            </a:pPr>
            <a:r>
              <a:rPr lang="en-US" sz="1800" dirty="0">
                <a:solidFill>
                  <a:schemeClr val="tx2"/>
                </a:solidFill>
                <a:latin typeface="Arial" pitchFamily="34" charset="0"/>
                <a:ea typeface="Arial" pitchFamily="34" charset="-122"/>
                <a:cs typeface="Arial" pitchFamily="34" charset="-120"/>
              </a:rPr>
              <a:t>TanStack Start with server-rendered pages and browser assets.</a:t>
            </a:r>
            <a:endParaRPr lang="en-US" sz="18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TERRAFORM IN ONE MINUTE</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State connects the config to what exists</a:t>
            </a:r>
            <a:endParaRPr lang="en-US" sz="3600" dirty="0"/>
          </a:p>
        </p:txBody>
      </p:sp>
      <p:sp>
        <p:nvSpPr>
          <p:cNvPr id="5" name="Shape 2"/>
          <p:cNvSpPr/>
          <p:nvPr/>
        </p:nvSpPr>
        <p:spPr>
          <a:xfrm>
            <a:off x="685800" y="1645920"/>
            <a:ext cx="10820400" cy="0"/>
          </a:xfrm>
          <a:prstGeom prst="line">
            <a:avLst/>
          </a:prstGeom>
          <a:noFill/>
          <a:ln w="9525">
            <a:solidFill>
              <a:srgbClr val="D3D9D2"/>
            </a:solidFill>
            <a:prstDash val="solid"/>
          </a:ln>
        </p:spPr>
      </p:sp>
      <p:sp>
        <p:nvSpPr>
          <p:cNvPr id="6" name="Fact label"/>
          <p:cNvSpPr txBox="1"/>
          <p:nvPr/>
        </p:nvSpPr>
        <p:spPr>
          <a:xfrm>
            <a:off x="685800" y="180136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CONFIG</a:t>
            </a:r>
            <a:endParaRPr lang="en-US" sz="1050" dirty="0"/>
          </a:p>
        </p:txBody>
      </p:sp>
      <p:sp>
        <p:nvSpPr>
          <p:cNvPr id="7" name="Fact"/>
          <p:cNvSpPr txBox="1"/>
          <p:nvPr/>
        </p:nvSpPr>
        <p:spPr>
          <a:xfrm>
            <a:off x="2286000" y="1773936"/>
            <a:ext cx="9220200" cy="2743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The resources and relationships you describe in code.</a:t>
            </a:r>
            <a:endParaRPr lang="en-US" sz="1650" dirty="0"/>
          </a:p>
        </p:txBody>
      </p:sp>
      <p:sp>
        <p:nvSpPr>
          <p:cNvPr id="8" name="Shape 5"/>
          <p:cNvSpPr/>
          <p:nvPr/>
        </p:nvSpPr>
        <p:spPr>
          <a:xfrm>
            <a:off x="685800" y="2258568"/>
            <a:ext cx="10820400" cy="0"/>
          </a:xfrm>
          <a:prstGeom prst="line">
            <a:avLst/>
          </a:prstGeom>
          <a:noFill/>
          <a:ln w="9525">
            <a:solidFill>
              <a:srgbClr val="D3D9D2"/>
            </a:solidFill>
            <a:prstDash val="solid"/>
          </a:ln>
        </p:spPr>
      </p:sp>
      <p:sp>
        <p:nvSpPr>
          <p:cNvPr id="9" name="Fact label"/>
          <p:cNvSpPr txBox="1"/>
          <p:nvPr/>
        </p:nvSpPr>
        <p:spPr>
          <a:xfrm>
            <a:off x="685800" y="2414016"/>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STATE</a:t>
            </a:r>
            <a:endParaRPr lang="en-US" sz="1050" dirty="0"/>
          </a:p>
        </p:txBody>
      </p:sp>
      <p:sp>
        <p:nvSpPr>
          <p:cNvPr id="10" name="Fact"/>
          <p:cNvSpPr txBox="1"/>
          <p:nvPr/>
        </p:nvSpPr>
        <p:spPr>
          <a:xfrm>
            <a:off x="2286000" y="2386584"/>
            <a:ext cx="9220200" cy="2743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Terraform's record linking those resource names to the IDs it manages.</a:t>
            </a:r>
            <a:endParaRPr lang="en-US" sz="1650" dirty="0"/>
          </a:p>
        </p:txBody>
      </p:sp>
      <p:sp>
        <p:nvSpPr>
          <p:cNvPr id="11" name="Shape 8"/>
          <p:cNvSpPr/>
          <p:nvPr/>
        </p:nvSpPr>
        <p:spPr>
          <a:xfrm>
            <a:off x="685800" y="2871216"/>
            <a:ext cx="10820400" cy="0"/>
          </a:xfrm>
          <a:prstGeom prst="line">
            <a:avLst/>
          </a:prstGeom>
          <a:noFill/>
          <a:ln w="9525">
            <a:solidFill>
              <a:srgbClr val="D3D9D2"/>
            </a:solidFill>
            <a:prstDash val="solid"/>
          </a:ln>
        </p:spPr>
      </p:sp>
      <p:sp>
        <p:nvSpPr>
          <p:cNvPr id="12" name="Fact label"/>
          <p:cNvSpPr txBox="1"/>
          <p:nvPr/>
        </p:nvSpPr>
        <p:spPr>
          <a:xfrm>
            <a:off x="685800" y="3026664"/>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PLAN</a:t>
            </a:r>
            <a:endParaRPr lang="en-US" sz="1050" dirty="0"/>
          </a:p>
        </p:txBody>
      </p:sp>
      <p:sp>
        <p:nvSpPr>
          <p:cNvPr id="13" name="Fact"/>
          <p:cNvSpPr txBox="1"/>
          <p:nvPr/>
        </p:nvSpPr>
        <p:spPr>
          <a:xfrm>
            <a:off x="2286000" y="2999232"/>
            <a:ext cx="9220200" cy="2743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Compare the configuration with the refreshed resource information and preview changes.</a:t>
            </a:r>
            <a:endParaRPr lang="en-US" sz="1650" dirty="0"/>
          </a:p>
        </p:txBody>
      </p:sp>
      <p:sp>
        <p:nvSpPr>
          <p:cNvPr id="14" name="Shape 11"/>
          <p:cNvSpPr/>
          <p:nvPr/>
        </p:nvSpPr>
        <p:spPr>
          <a:xfrm>
            <a:off x="685800" y="3483864"/>
            <a:ext cx="10820400" cy="0"/>
          </a:xfrm>
          <a:prstGeom prst="line">
            <a:avLst/>
          </a:prstGeom>
          <a:noFill/>
          <a:ln w="9525">
            <a:solidFill>
              <a:srgbClr val="D3D9D2"/>
            </a:solidFill>
            <a:prstDash val="solid"/>
          </a:ln>
        </p:spPr>
      </p:sp>
      <p:sp>
        <p:nvSpPr>
          <p:cNvPr id="15" name="Fact label"/>
          <p:cNvSpPr txBox="1"/>
          <p:nvPr/>
        </p:nvSpPr>
        <p:spPr>
          <a:xfrm>
            <a:off x="685800" y="363931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APPLY</a:t>
            </a:r>
            <a:endParaRPr lang="en-US" sz="1050" dirty="0"/>
          </a:p>
        </p:txBody>
      </p:sp>
      <p:sp>
        <p:nvSpPr>
          <p:cNvPr id="16" name="Fact"/>
          <p:cNvSpPr txBox="1"/>
          <p:nvPr/>
        </p:nvSpPr>
        <p:spPr>
          <a:xfrm>
            <a:off x="2286000" y="3611880"/>
            <a:ext cx="9220200" cy="2743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Make the planned API calls and record the result in state.</a:t>
            </a:r>
            <a:endParaRPr lang="en-US" sz="1650" dirty="0"/>
          </a:p>
        </p:txBody>
      </p:sp>
      <p:sp>
        <p:nvSpPr>
          <p:cNvPr id="17" name="Lede"/>
          <p:cNvSpPr txBox="1"/>
          <p:nvPr/>
        </p:nvSpPr>
        <p:spPr>
          <a:xfrm>
            <a:off x="685800" y="4141470"/>
            <a:ext cx="8001000" cy="64008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References connect resources. Outputs pass values to the tools that deploy the app.</a:t>
            </a:r>
            <a:endParaRPr lang="en-US" sz="21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APP TYPE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Static site</a:t>
            </a:r>
            <a:endParaRPr lang="en-US" sz="3600" dirty="0"/>
          </a:p>
        </p:txBody>
      </p:sp>
      <p:sp>
        <p:nvSpPr>
          <p:cNvPr id="6" name="Lede"/>
          <p:cNvSpPr txBox="1"/>
          <p:nvPr/>
        </p:nvSpPr>
        <p:spPr>
          <a:xfrm>
            <a:off x="685800" y="1645920"/>
            <a:ext cx="5461428" cy="96012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Files built ahead of time and served as-is. Nothing runs on the server when a request arrives.</a:t>
            </a:r>
            <a:endParaRPr lang="en-US" sz="2100" dirty="0"/>
          </a:p>
        </p:txBody>
      </p:sp>
      <p:sp>
        <p:nvSpPr>
          <p:cNvPr id="7" name="Chip"/>
          <p:cNvSpPr txBox="1"/>
          <p:nvPr/>
        </p:nvSpPr>
        <p:spPr>
          <a:xfrm>
            <a:off x="685800" y="2852928"/>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docs &amp; marketing</a:t>
            </a:r>
            <a:endParaRPr lang="en-US" sz="1200" dirty="0"/>
          </a:p>
        </p:txBody>
      </p:sp>
      <p:sp>
        <p:nvSpPr>
          <p:cNvPr id="8" name="Chip"/>
          <p:cNvSpPr txBox="1"/>
          <p:nvPr/>
        </p:nvSpPr>
        <p:spPr>
          <a:xfrm>
            <a:off x="2482596" y="2852928"/>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Vite / React SPA</a:t>
            </a:r>
            <a:endParaRPr lang="en-US" sz="1200" dirty="0"/>
          </a:p>
        </p:txBody>
      </p:sp>
      <p:sp>
        <p:nvSpPr>
          <p:cNvPr id="9" name="Chip"/>
          <p:cNvSpPr txBox="1"/>
          <p:nvPr/>
        </p:nvSpPr>
        <p:spPr>
          <a:xfrm>
            <a:off x="4279392" y="2852928"/>
            <a:ext cx="69494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Astro</a:t>
            </a:r>
            <a:endParaRPr lang="en-US" sz="1200" dirty="0"/>
          </a:p>
        </p:txBody>
      </p:sp>
      <p:sp>
        <p:nvSpPr>
          <p:cNvPr id="10" name="Chip"/>
          <p:cNvSpPr txBox="1"/>
          <p:nvPr/>
        </p:nvSpPr>
        <p:spPr>
          <a:xfrm>
            <a:off x="5070348" y="2852928"/>
            <a:ext cx="6035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Hugo</a:t>
            </a:r>
            <a:endParaRPr lang="en-US" sz="1200" dirty="0"/>
          </a:p>
        </p:txBody>
      </p:sp>
      <p:sp>
        <p:nvSpPr>
          <p:cNvPr id="11" name="Chip"/>
          <p:cNvSpPr txBox="1"/>
          <p:nvPr/>
        </p:nvSpPr>
        <p:spPr>
          <a:xfrm>
            <a:off x="685800" y="3259836"/>
            <a:ext cx="10607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Storybook</a:t>
            </a:r>
            <a:endParaRPr lang="en-US" sz="1200" dirty="0"/>
          </a:p>
        </p:txBody>
      </p:sp>
      <p:sp>
        <p:nvSpPr>
          <p:cNvPr id="12" name="Chip label"/>
          <p:cNvSpPr txBox="1"/>
          <p:nvPr/>
        </p:nvSpPr>
        <p:spPr>
          <a:xfrm>
            <a:off x="685800" y="3739896"/>
            <a:ext cx="2438400" cy="201168"/>
          </a:xfrm>
          <a:prstGeom prst="rect">
            <a:avLst/>
          </a:prstGeom>
          <a:noFill/>
          <a:ln/>
        </p:spPr>
        <p:txBody>
          <a:bodyPr wrap="none" lIns="0" tIns="0" rIns="0" bIns="0" rtlCol="0" anchor="t"/>
          <a:lstStyle/>
          <a:p>
            <a:pPr indent="0" marL="0">
              <a:buNone/>
            </a:pPr>
            <a:r>
              <a:rPr lang="en-US" sz="1000" spc="100" kern="0" dirty="0">
                <a:solidFill>
                  <a:schemeClr val="tx1"/>
                </a:solidFill>
                <a:latin typeface="Courier New" pitchFamily="34" charset="0"/>
                <a:ea typeface="Courier New" pitchFamily="34" charset="-122"/>
                <a:cs typeface="Courier New" pitchFamily="34" charset="-120"/>
              </a:rPr>
              <a:t>YOU MAY HAVE HOSTED ONE ON</a:t>
            </a:r>
            <a:endParaRPr lang="en-US" sz="1000" dirty="0"/>
          </a:p>
        </p:txBody>
      </p:sp>
      <p:sp>
        <p:nvSpPr>
          <p:cNvPr id="13" name="Chip"/>
          <p:cNvSpPr txBox="1"/>
          <p:nvPr/>
        </p:nvSpPr>
        <p:spPr>
          <a:xfrm>
            <a:off x="3220212" y="3685032"/>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Firebase Hosting</a:t>
            </a:r>
            <a:endParaRPr lang="en-US" sz="1200" dirty="0"/>
          </a:p>
        </p:txBody>
      </p:sp>
      <p:sp>
        <p:nvSpPr>
          <p:cNvPr id="14" name="Chip"/>
          <p:cNvSpPr txBox="1"/>
          <p:nvPr/>
        </p:nvSpPr>
        <p:spPr>
          <a:xfrm>
            <a:off x="5017008" y="3685032"/>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Netlify</a:t>
            </a:r>
            <a:endParaRPr lang="en-US" sz="1200" dirty="0"/>
          </a:p>
        </p:txBody>
      </p:sp>
      <p:sp>
        <p:nvSpPr>
          <p:cNvPr id="15" name="Chip"/>
          <p:cNvSpPr txBox="1"/>
          <p:nvPr/>
        </p:nvSpPr>
        <p:spPr>
          <a:xfrm>
            <a:off x="685800" y="4091940"/>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Vercel</a:t>
            </a:r>
            <a:endParaRPr lang="en-US" sz="1200" dirty="0"/>
          </a:p>
        </p:txBody>
      </p:sp>
      <p:sp>
        <p:nvSpPr>
          <p:cNvPr id="16" name="Chip"/>
          <p:cNvSpPr txBox="1"/>
          <p:nvPr/>
        </p:nvSpPr>
        <p:spPr>
          <a:xfrm>
            <a:off x="1568196" y="4091940"/>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Cloudflare Pages</a:t>
            </a:r>
            <a:endParaRPr lang="en-US" sz="1200" dirty="0"/>
          </a:p>
        </p:txBody>
      </p:sp>
      <p:sp>
        <p:nvSpPr>
          <p:cNvPr id="17" name="Chip"/>
          <p:cNvSpPr txBox="1"/>
          <p:nvPr/>
        </p:nvSpPr>
        <p:spPr>
          <a:xfrm>
            <a:off x="3364992" y="4091940"/>
            <a:ext cx="13350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GitHub Pages</a:t>
            </a:r>
            <a:endParaRPr lang="en-US" sz="1200" dirty="0"/>
          </a:p>
        </p:txBody>
      </p:sp>
      <p:sp>
        <p:nvSpPr>
          <p:cNvPr id="18" name="Shape 15"/>
          <p:cNvSpPr/>
          <p:nvPr/>
        </p:nvSpPr>
        <p:spPr>
          <a:xfrm>
            <a:off x="6757132" y="1645920"/>
            <a:ext cx="4749068" cy="0"/>
          </a:xfrm>
          <a:prstGeom prst="line">
            <a:avLst/>
          </a:prstGeom>
          <a:noFill/>
          <a:ln w="9525">
            <a:solidFill>
              <a:srgbClr val="D3D9D2"/>
            </a:solidFill>
            <a:prstDash val="solid"/>
          </a:ln>
        </p:spPr>
      </p:sp>
      <p:sp>
        <p:nvSpPr>
          <p:cNvPr id="19" name="Fact label"/>
          <p:cNvSpPr txBox="1"/>
          <p:nvPr/>
        </p:nvSpPr>
        <p:spPr>
          <a:xfrm>
            <a:off x="6757132" y="180136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RUNS</a:t>
            </a:r>
            <a:endParaRPr lang="en-US" sz="1050" dirty="0"/>
          </a:p>
        </p:txBody>
      </p:sp>
      <p:sp>
        <p:nvSpPr>
          <p:cNvPr id="20" name="Fact"/>
          <p:cNvSpPr txBox="1"/>
          <p:nvPr/>
        </p:nvSpPr>
        <p:spPr>
          <a:xfrm>
            <a:off x="8357332" y="1773936"/>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In the visitor's browser. The server only hands over files.</a:t>
            </a:r>
            <a:endParaRPr lang="en-US" sz="1650" dirty="0"/>
          </a:p>
        </p:txBody>
      </p:sp>
      <p:sp>
        <p:nvSpPr>
          <p:cNvPr id="21" name="Shape 18"/>
          <p:cNvSpPr/>
          <p:nvPr/>
        </p:nvSpPr>
        <p:spPr>
          <a:xfrm>
            <a:off x="6757132" y="2487168"/>
            <a:ext cx="4749068" cy="0"/>
          </a:xfrm>
          <a:prstGeom prst="line">
            <a:avLst/>
          </a:prstGeom>
          <a:noFill/>
          <a:ln w="9525">
            <a:solidFill>
              <a:srgbClr val="D3D9D2"/>
            </a:solidFill>
            <a:prstDash val="solid"/>
          </a:ln>
        </p:spPr>
      </p:sp>
      <p:sp>
        <p:nvSpPr>
          <p:cNvPr id="22" name="Fact label"/>
          <p:cNvSpPr txBox="1"/>
          <p:nvPr/>
        </p:nvSpPr>
        <p:spPr>
          <a:xfrm>
            <a:off x="6757132" y="2642616"/>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STATE</a:t>
            </a:r>
            <a:endParaRPr lang="en-US" sz="1050" dirty="0"/>
          </a:p>
        </p:txBody>
      </p:sp>
      <p:sp>
        <p:nvSpPr>
          <p:cNvPr id="23" name="Fact"/>
          <p:cNvSpPr txBox="1"/>
          <p:nvPr/>
        </p:nvSpPr>
        <p:spPr>
          <a:xfrm>
            <a:off x="8357332" y="2615184"/>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None of its own. Any data comes from someone else's API.</a:t>
            </a:r>
            <a:endParaRPr lang="en-US" sz="1650" dirty="0"/>
          </a:p>
        </p:txBody>
      </p:sp>
      <p:sp>
        <p:nvSpPr>
          <p:cNvPr id="24" name="Shape 21"/>
          <p:cNvSpPr/>
          <p:nvPr/>
        </p:nvSpPr>
        <p:spPr>
          <a:xfrm>
            <a:off x="6757132" y="3328416"/>
            <a:ext cx="4749068" cy="0"/>
          </a:xfrm>
          <a:prstGeom prst="line">
            <a:avLst/>
          </a:prstGeom>
          <a:noFill/>
          <a:ln w="9525">
            <a:solidFill>
              <a:srgbClr val="D3D9D2"/>
            </a:solidFill>
            <a:prstDash val="solid"/>
          </a:ln>
        </p:spPr>
      </p:sp>
      <p:sp>
        <p:nvSpPr>
          <p:cNvPr id="25" name="Fact label"/>
          <p:cNvSpPr txBox="1"/>
          <p:nvPr/>
        </p:nvSpPr>
        <p:spPr>
          <a:xfrm>
            <a:off x="6757132" y="3483864"/>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NEEDS</a:t>
            </a:r>
            <a:endParaRPr lang="en-US" sz="1050" dirty="0"/>
          </a:p>
        </p:txBody>
      </p:sp>
      <p:sp>
        <p:nvSpPr>
          <p:cNvPr id="26" name="Fact"/>
          <p:cNvSpPr txBox="1"/>
          <p:nvPr/>
        </p:nvSpPr>
        <p:spPr>
          <a:xfrm>
            <a:off x="8357332" y="3456432"/>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Somewhere to keep files, and something fast in front of them.</a:t>
            </a:r>
            <a:endParaRPr lang="en-US" sz="1650" dirty="0"/>
          </a:p>
        </p:txBody>
      </p:sp>
      <p:sp>
        <p:nvSpPr>
          <p:cNvPr id="27" name="Shape 24"/>
          <p:cNvSpPr/>
          <p:nvPr/>
        </p:nvSpPr>
        <p:spPr>
          <a:xfrm>
            <a:off x="6757132" y="4421124"/>
            <a:ext cx="4749068" cy="0"/>
          </a:xfrm>
          <a:prstGeom prst="line">
            <a:avLst/>
          </a:prstGeom>
          <a:noFill/>
          <a:ln w="9525">
            <a:solidFill>
              <a:srgbClr val="D3D9D2"/>
            </a:solidFill>
            <a:prstDash val="solid"/>
          </a:ln>
        </p:spPr>
      </p:sp>
      <p:sp>
        <p:nvSpPr>
          <p:cNvPr id="28" name="Fact label"/>
          <p:cNvSpPr txBox="1"/>
          <p:nvPr/>
        </p:nvSpPr>
        <p:spPr>
          <a:xfrm>
            <a:off x="6757132" y="457657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PICK IT WHEN</a:t>
            </a:r>
            <a:endParaRPr lang="en-US" sz="1050" dirty="0"/>
          </a:p>
        </p:txBody>
      </p:sp>
      <p:sp>
        <p:nvSpPr>
          <p:cNvPr id="29" name="Fact"/>
          <p:cNvSpPr txBox="1"/>
          <p:nvPr/>
        </p:nvSpPr>
        <p:spPr>
          <a:xfrm>
            <a:off x="8357332" y="4549140"/>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Every visitor gets the same page, or the page fetches what differs.</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STRUCTURE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 private bucket behind a CDN</a:t>
            </a:r>
            <a:endParaRPr lang="en-US" sz="3600" dirty="0"/>
          </a:p>
        </p:txBody>
      </p:sp>
      <p:sp>
        <p:nvSpPr>
          <p:cNvPr id="6" name="Shape 3"/>
          <p:cNvSpPr/>
          <p:nvPr/>
        </p:nvSpPr>
        <p:spPr>
          <a:xfrm>
            <a:off x="685800" y="3074670"/>
            <a:ext cx="1714500" cy="857250"/>
          </a:xfrm>
          <a:prstGeom prst="roundRect">
            <a:avLst>
              <a:gd name="adj" fmla="val 6667"/>
            </a:avLst>
          </a:prstGeom>
          <a:solidFill>
            <a:schemeClr val="bg1"/>
          </a:solidFill>
          <a:ln w="19050">
            <a:solidFill>
              <a:schemeClr val="tx2"/>
            </a:solidFill>
            <a:prstDash val="solid"/>
          </a:ln>
        </p:spPr>
      </p:sp>
      <p:sp>
        <p:nvSpPr>
          <p:cNvPr id="7" name="Text 4"/>
          <p:cNvSpPr txBox="1"/>
          <p:nvPr/>
        </p:nvSpPr>
        <p:spPr>
          <a:xfrm>
            <a:off x="961073" y="3278505"/>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Browser</a:t>
            </a:r>
            <a:endParaRPr lang="en-US" sz="1500" dirty="0"/>
          </a:p>
        </p:txBody>
      </p:sp>
      <p:sp>
        <p:nvSpPr>
          <p:cNvPr id="8" name="Text 5"/>
          <p:cNvSpPr txBox="1"/>
          <p:nvPr/>
        </p:nvSpPr>
        <p:spPr>
          <a:xfrm>
            <a:off x="1143000" y="3551396"/>
            <a:ext cx="8001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GET /</a:t>
            </a:r>
            <a:endParaRPr lang="en-US" sz="1125" dirty="0"/>
          </a:p>
        </p:txBody>
      </p:sp>
      <p:sp>
        <p:nvSpPr>
          <p:cNvPr id="9" name="Shape 6"/>
          <p:cNvSpPr/>
          <p:nvPr/>
        </p:nvSpPr>
        <p:spPr>
          <a:xfrm>
            <a:off x="2400300" y="3455670"/>
            <a:ext cx="1485900" cy="0"/>
          </a:xfrm>
          <a:prstGeom prst="line">
            <a:avLst/>
          </a:prstGeom>
          <a:noFill/>
          <a:ln w="19050">
            <a:solidFill>
              <a:schemeClr val="tx1"/>
            </a:solidFill>
            <a:prstDash val="solid"/>
            <a:tailEnd type="triangle"/>
          </a:ln>
        </p:spPr>
      </p:sp>
      <p:sp>
        <p:nvSpPr>
          <p:cNvPr id="10" name="Text 7"/>
          <p:cNvSpPr txBox="1"/>
          <p:nvPr/>
        </p:nvSpPr>
        <p:spPr>
          <a:xfrm>
            <a:off x="2714625" y="3217355"/>
            <a:ext cx="85725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HTTPS</a:t>
            </a:r>
            <a:endParaRPr lang="en-US" sz="1050" dirty="0"/>
          </a:p>
        </p:txBody>
      </p:sp>
      <p:sp>
        <p:nvSpPr>
          <p:cNvPr id="11" name="Shape 8"/>
          <p:cNvSpPr/>
          <p:nvPr/>
        </p:nvSpPr>
        <p:spPr>
          <a:xfrm>
            <a:off x="3924300" y="2884170"/>
            <a:ext cx="2667000" cy="1238250"/>
          </a:xfrm>
          <a:prstGeom prst="roundRect">
            <a:avLst>
              <a:gd name="adj" fmla="val 4615"/>
            </a:avLst>
          </a:prstGeom>
          <a:solidFill>
            <a:schemeClr val="accent2">
              <a:alpha val="10000"/>
            </a:schemeClr>
          </a:solidFill>
          <a:ln w="19050">
            <a:solidFill>
              <a:schemeClr val="accent2"/>
            </a:solidFill>
            <a:prstDash val="solid"/>
          </a:ln>
        </p:spPr>
      </p:sp>
      <p:sp>
        <p:nvSpPr>
          <p:cNvPr id="12" name="Text 9"/>
          <p:cNvSpPr txBox="1"/>
          <p:nvPr/>
        </p:nvSpPr>
        <p:spPr>
          <a:xfrm>
            <a:off x="4524375" y="3164205"/>
            <a:ext cx="146685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CloudFront</a:t>
            </a:r>
            <a:endParaRPr lang="en-US" sz="1500" dirty="0"/>
          </a:p>
        </p:txBody>
      </p:sp>
      <p:sp>
        <p:nvSpPr>
          <p:cNvPr id="13" name="Text 10"/>
          <p:cNvSpPr txBox="1"/>
          <p:nvPr/>
        </p:nvSpPr>
        <p:spPr>
          <a:xfrm>
            <a:off x="4377690" y="3456146"/>
            <a:ext cx="17602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&lt;id&gt;.cloudfront.net</a:t>
            </a:r>
            <a:endParaRPr lang="en-US" sz="1125" dirty="0"/>
          </a:p>
        </p:txBody>
      </p:sp>
      <p:sp>
        <p:nvSpPr>
          <p:cNvPr id="14" name="Text 11"/>
          <p:cNvSpPr txBox="1"/>
          <p:nvPr/>
        </p:nvSpPr>
        <p:spPr>
          <a:xfrm>
            <a:off x="4240530" y="3684746"/>
            <a:ext cx="20345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root object: index.html</a:t>
            </a:r>
            <a:endParaRPr lang="en-US" sz="1125" dirty="0"/>
          </a:p>
        </p:txBody>
      </p:sp>
      <p:sp>
        <p:nvSpPr>
          <p:cNvPr id="15" name="Shape 12"/>
          <p:cNvSpPr/>
          <p:nvPr/>
        </p:nvSpPr>
        <p:spPr>
          <a:xfrm>
            <a:off x="6591300" y="3455670"/>
            <a:ext cx="1485900" cy="0"/>
          </a:xfrm>
          <a:prstGeom prst="line">
            <a:avLst/>
          </a:prstGeom>
          <a:noFill/>
          <a:ln w="19050">
            <a:solidFill>
              <a:schemeClr val="tx1"/>
            </a:solidFill>
            <a:prstDash val="solid"/>
            <a:tailEnd type="triangle"/>
          </a:ln>
        </p:spPr>
      </p:sp>
      <p:sp>
        <p:nvSpPr>
          <p:cNvPr id="16" name="Text 13"/>
          <p:cNvSpPr txBox="1"/>
          <p:nvPr/>
        </p:nvSpPr>
        <p:spPr>
          <a:xfrm>
            <a:off x="6625590" y="3217355"/>
            <a:ext cx="141732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signed (OAC)</a:t>
            </a:r>
            <a:endParaRPr lang="en-US" sz="1050" dirty="0"/>
          </a:p>
        </p:txBody>
      </p:sp>
      <p:sp>
        <p:nvSpPr>
          <p:cNvPr id="17" name="Shape 14"/>
          <p:cNvSpPr/>
          <p:nvPr/>
        </p:nvSpPr>
        <p:spPr>
          <a:xfrm>
            <a:off x="8115300" y="2884170"/>
            <a:ext cx="2857500" cy="1238250"/>
          </a:xfrm>
          <a:prstGeom prst="roundRect">
            <a:avLst>
              <a:gd name="adj" fmla="val 4615"/>
            </a:avLst>
          </a:prstGeom>
          <a:solidFill>
            <a:schemeClr val="accent4">
              <a:alpha val="10000"/>
            </a:schemeClr>
          </a:solidFill>
          <a:ln w="19050">
            <a:solidFill>
              <a:schemeClr val="accent4"/>
            </a:solidFill>
            <a:prstDash val="solid"/>
          </a:ln>
        </p:spPr>
      </p:sp>
      <p:sp>
        <p:nvSpPr>
          <p:cNvPr id="18" name="Text 15"/>
          <p:cNvSpPr txBox="1"/>
          <p:nvPr/>
        </p:nvSpPr>
        <p:spPr>
          <a:xfrm>
            <a:off x="8861108" y="3164205"/>
            <a:ext cx="136588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S3 bucket</a:t>
            </a:r>
            <a:endParaRPr lang="en-US" sz="1500" dirty="0"/>
          </a:p>
        </p:txBody>
      </p:sp>
      <p:sp>
        <p:nvSpPr>
          <p:cNvPr id="19" name="Text 16"/>
          <p:cNvSpPr txBox="1"/>
          <p:nvPr/>
        </p:nvSpPr>
        <p:spPr>
          <a:xfrm>
            <a:off x="8252460" y="3456146"/>
            <a:ext cx="25831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private · public access blocked</a:t>
            </a:r>
            <a:endParaRPr lang="en-US" sz="1125" dirty="0"/>
          </a:p>
        </p:txBody>
      </p:sp>
      <p:sp>
        <p:nvSpPr>
          <p:cNvPr id="20" name="Text 17"/>
          <p:cNvSpPr txBox="1"/>
          <p:nvPr/>
        </p:nvSpPr>
        <p:spPr>
          <a:xfrm>
            <a:off x="8732520" y="3684746"/>
            <a:ext cx="162306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no website config</a:t>
            </a:r>
            <a:endParaRPr lang="en-US" sz="1125" dirty="0"/>
          </a:p>
        </p:txBody>
      </p:sp>
      <p:sp>
        <p:nvSpPr>
          <p:cNvPr id="21" name="Shape 18"/>
          <p:cNvSpPr/>
          <p:nvPr/>
        </p:nvSpPr>
        <p:spPr>
          <a:xfrm>
            <a:off x="8115300" y="4598670"/>
            <a:ext cx="2857500" cy="800100"/>
          </a:xfrm>
          <a:prstGeom prst="roundRect">
            <a:avLst>
              <a:gd name="adj" fmla="val 7143"/>
            </a:avLst>
          </a:prstGeom>
          <a:solidFill>
            <a:schemeClr val="accent5">
              <a:alpha val="10000"/>
            </a:schemeClr>
          </a:solidFill>
          <a:ln w="19050">
            <a:solidFill>
              <a:schemeClr val="accent5"/>
            </a:solidFill>
            <a:prstDash val="solid"/>
          </a:ln>
        </p:spPr>
      </p:sp>
      <p:sp>
        <p:nvSpPr>
          <p:cNvPr id="22" name="Text 19"/>
          <p:cNvSpPr txBox="1"/>
          <p:nvPr/>
        </p:nvSpPr>
        <p:spPr>
          <a:xfrm>
            <a:off x="8659178" y="4754880"/>
            <a:ext cx="176974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Bucket policy</a:t>
            </a:r>
            <a:endParaRPr lang="en-US" sz="1500" dirty="0"/>
          </a:p>
        </p:txBody>
      </p:sp>
      <p:sp>
        <p:nvSpPr>
          <p:cNvPr id="23" name="Text 20"/>
          <p:cNvSpPr txBox="1"/>
          <p:nvPr/>
        </p:nvSpPr>
        <p:spPr>
          <a:xfrm>
            <a:off x="8115300" y="5046821"/>
            <a:ext cx="28575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allow only AWS:SourceArn = this CDN</a:t>
            </a:r>
            <a:endParaRPr lang="en-US" sz="1125" dirty="0"/>
          </a:p>
        </p:txBody>
      </p:sp>
      <p:sp>
        <p:nvSpPr>
          <p:cNvPr id="24" name="Shape 21"/>
          <p:cNvSpPr/>
          <p:nvPr/>
        </p:nvSpPr>
        <p:spPr>
          <a:xfrm flipV="1">
            <a:off x="9544050" y="4160520"/>
            <a:ext cx="0" cy="438150"/>
          </a:xfrm>
          <a:prstGeom prst="line">
            <a:avLst/>
          </a:prstGeom>
          <a:noFill/>
          <a:ln w="19050">
            <a:solidFill>
              <a:schemeClr val="tx2"/>
            </a:solidFill>
            <a:prstDash val="dash"/>
          </a:ln>
        </p:spPr>
      </p:sp>
      <p:sp>
        <p:nvSpPr>
          <p:cNvPr id="25" name="Text 22"/>
          <p:cNvSpPr txBox="1"/>
          <p:nvPr/>
        </p:nvSpPr>
        <p:spPr>
          <a:xfrm>
            <a:off x="9658350" y="4303205"/>
            <a:ext cx="93726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guards</a:t>
            </a:r>
            <a:endParaRPr lang="en-US" sz="1050" dirty="0"/>
          </a:p>
        </p:txBody>
      </p:sp>
      <p:sp>
        <p:nvSpPr>
          <p:cNvPr id="26" name="Shape 23"/>
          <p:cNvSpPr/>
          <p:nvPr/>
        </p:nvSpPr>
        <p:spPr>
          <a:xfrm>
            <a:off x="8115300" y="1645920"/>
            <a:ext cx="2857500" cy="666750"/>
          </a:xfrm>
          <a:prstGeom prst="roundRect">
            <a:avLst>
              <a:gd name="adj" fmla="val 8571"/>
            </a:avLst>
          </a:prstGeom>
          <a:ln w="19050">
            <a:solidFill>
              <a:schemeClr val="tx2"/>
            </a:solidFill>
            <a:prstDash val="dash"/>
          </a:ln>
        </p:spPr>
      </p:sp>
      <p:sp>
        <p:nvSpPr>
          <p:cNvPr id="27" name="Text 24"/>
          <p:cNvSpPr txBox="1"/>
          <p:nvPr/>
        </p:nvSpPr>
        <p:spPr>
          <a:xfrm>
            <a:off x="8595360" y="1921954"/>
            <a:ext cx="189738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aws s3 sync ./site</a:t>
            </a:r>
            <a:endParaRPr lang="en-US" sz="1050" dirty="0"/>
          </a:p>
        </p:txBody>
      </p:sp>
      <p:sp>
        <p:nvSpPr>
          <p:cNvPr id="28" name="Shape 25"/>
          <p:cNvSpPr/>
          <p:nvPr/>
        </p:nvSpPr>
        <p:spPr>
          <a:xfrm>
            <a:off x="9544050" y="2312670"/>
            <a:ext cx="0" cy="533400"/>
          </a:xfrm>
          <a:prstGeom prst="line">
            <a:avLst/>
          </a:prstGeom>
          <a:noFill/>
          <a:ln w="19050">
            <a:solidFill>
              <a:schemeClr val="tx2"/>
            </a:solidFill>
            <a:prstDash val="dash"/>
            <a:tailEnd type="triangle"/>
          </a:ln>
        </p:spPr>
      </p:sp>
      <p:sp>
        <p:nvSpPr>
          <p:cNvPr id="29" name="Text 26"/>
          <p:cNvSpPr txBox="1"/>
          <p:nvPr/>
        </p:nvSpPr>
        <p:spPr>
          <a:xfrm>
            <a:off x="9658350" y="2512505"/>
            <a:ext cx="93726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deploy</a:t>
            </a:r>
            <a:endParaRPr lang="en-US" sz="1050" dirty="0"/>
          </a:p>
        </p:txBody>
      </p:sp>
      <p:sp>
        <p:nvSpPr>
          <p:cNvPr id="30" name="Shape 27"/>
          <p:cNvSpPr/>
          <p:nvPr/>
        </p:nvSpPr>
        <p:spPr>
          <a:xfrm>
            <a:off x="1543050" y="3931920"/>
            <a:ext cx="0" cy="1524000"/>
          </a:xfrm>
          <a:prstGeom prst="line">
            <a:avLst/>
          </a:prstGeom>
          <a:noFill/>
          <a:ln w="19050">
            <a:solidFill>
              <a:schemeClr val="accent5"/>
            </a:solidFill>
            <a:prstDash val="dash"/>
          </a:ln>
        </p:spPr>
      </p:sp>
      <p:sp>
        <p:nvSpPr>
          <p:cNvPr id="31" name="Shape 28"/>
          <p:cNvSpPr/>
          <p:nvPr/>
        </p:nvSpPr>
        <p:spPr>
          <a:xfrm>
            <a:off x="1543050" y="5455920"/>
            <a:ext cx="5810250" cy="0"/>
          </a:xfrm>
          <a:prstGeom prst="line">
            <a:avLst/>
          </a:prstGeom>
          <a:noFill/>
          <a:ln w="19050">
            <a:solidFill>
              <a:schemeClr val="accent5"/>
            </a:solidFill>
            <a:prstDash val="dash"/>
          </a:ln>
        </p:spPr>
      </p:sp>
      <p:sp>
        <p:nvSpPr>
          <p:cNvPr id="32" name="Shape 29"/>
          <p:cNvSpPr/>
          <p:nvPr/>
        </p:nvSpPr>
        <p:spPr>
          <a:xfrm flipV="1">
            <a:off x="7353300" y="3931920"/>
            <a:ext cx="0" cy="1524000"/>
          </a:xfrm>
          <a:prstGeom prst="line">
            <a:avLst/>
          </a:prstGeom>
          <a:noFill/>
          <a:ln w="19050">
            <a:solidFill>
              <a:schemeClr val="accent5"/>
            </a:solidFill>
            <a:prstDash val="dash"/>
          </a:ln>
        </p:spPr>
      </p:sp>
      <p:sp>
        <p:nvSpPr>
          <p:cNvPr id="33" name="Shape 30"/>
          <p:cNvSpPr/>
          <p:nvPr/>
        </p:nvSpPr>
        <p:spPr>
          <a:xfrm>
            <a:off x="7353300" y="3931920"/>
            <a:ext cx="723900" cy="0"/>
          </a:xfrm>
          <a:prstGeom prst="line">
            <a:avLst/>
          </a:prstGeom>
          <a:noFill/>
          <a:ln w="19050">
            <a:solidFill>
              <a:schemeClr val="accent5"/>
            </a:solidFill>
            <a:prstDash val="dash"/>
            <a:tailEnd type="triangle"/>
          </a:ln>
        </p:spPr>
      </p:sp>
      <p:sp>
        <p:nvSpPr>
          <p:cNvPr id="34" name="Text 31"/>
          <p:cNvSpPr txBox="1"/>
          <p:nvPr/>
        </p:nvSpPr>
        <p:spPr>
          <a:xfrm>
            <a:off x="3179445" y="5236655"/>
            <a:ext cx="253746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direct to the bucket → 403</a:t>
            </a:r>
            <a:endParaRPr lang="en-US" sz="1050" dirty="0"/>
          </a:p>
        </p:txBody>
      </p:sp>
      <p:sp>
        <p:nvSpPr>
          <p:cNvPr id="35" name="Caption"/>
          <p:cNvSpPr txBox="1"/>
          <p:nvPr/>
        </p:nvSpPr>
        <p:spPr>
          <a:xfrm>
            <a:off x="685800" y="5783580"/>
            <a:ext cx="10058400" cy="21717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Five resources. The CDN is the only way in: the bucket is private, and its policy trusts exactly one distribution.</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BY HAND FIRST</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 bucket and a file in two commands</a:t>
            </a:r>
            <a:endParaRPr lang="en-US" sz="3600" dirty="0"/>
          </a:p>
        </p:txBody>
      </p:sp>
      <p:sp>
        <p:nvSpPr>
          <p:cNvPr id="6" name="Terminal"/>
          <p:cNvSpPr txBox="1"/>
          <p:nvPr/>
        </p:nvSpPr>
        <p:spPr>
          <a:xfrm>
            <a:off x="685800" y="1645920"/>
            <a:ext cx="5143652" cy="2508722"/>
          </a:xfrm>
          <a:prstGeom prst="roundRect">
            <a:avLst>
              <a:gd name="adj" fmla="val 2187"/>
            </a:avLst>
          </a:prstGeom>
          <a:solidFill>
            <a:schemeClr val="tx1"/>
          </a:solidFill>
          <a:ln/>
        </p:spPr>
        <p:txBody>
          <a:bodyPr wrap="square" lIns="246888" tIns="246888" rIns="246888" bIns="246888" rtlCol="0" anchor="t"/>
          <a:lstStyle/>
          <a:p>
            <a:pPr indent="0" marL="0">
              <a:lnSpc>
                <a:spcPct val="105000"/>
              </a:lnSpc>
              <a:buNone/>
            </a:pPr>
            <a:r>
              <a:rPr lang="en-US" sz="1356"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aws --endpoint-url http://localhost:4566 \</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s3 mb s3://done-by-hand</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make_bucket: done-by-hand</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a:t>
            </a:r>
            <a:endParaRPr lang="en-US" sz="1356" dirty="0"/>
          </a:p>
          <a:p>
            <a:pPr indent="0" marL="0">
              <a:lnSpc>
                <a:spcPct val="105000"/>
              </a:lnSpc>
              <a:buNone/>
            </a:pPr>
            <a:r>
              <a:rPr lang="en-US" sz="1356"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aws --endpoint-url http://localhost:4566 \</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s3 cp index.html s3://done-by-hand/</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upload: ./index.html</a:t>
            </a:r>
            <a:endParaRPr lang="en-US" sz="1356" dirty="0"/>
          </a:p>
          <a:p>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a:t>
            </a:r>
            <a:endParaRPr lang="en-US" sz="1356" dirty="0"/>
          </a:p>
          <a:p>
            <a:pPr indent="0" marL="0">
              <a:lnSpc>
                <a:spcPct val="105000"/>
              </a:lnSpc>
              <a:buNone/>
            </a:pPr>
            <a:r>
              <a:rPr lang="en-US" sz="1356" dirty="0">
                <a:solidFill>
                  <a:srgbClr val="8FD0A8"/>
                </a:solidFill>
                <a:latin typeface="Courier New" pitchFamily="34" charset="0"/>
                <a:ea typeface="Courier New" pitchFamily="34" charset="-122"/>
                <a:cs typeface="Courier New" pitchFamily="34" charset="-120"/>
              </a:rPr>
              <a:t>The file is stored.</a:t>
            </a:r>
            <a:pPr indent="0" marL="0">
              <a:lnSpc>
                <a:spcPct val="105000"/>
              </a:lnSpc>
              <a:buNone/>
            </a:pPr>
            <a:r>
              <a:rPr lang="en-US" sz="1356" dirty="0">
                <a:solidFill>
                  <a:schemeClr val="bg2"/>
                </a:solidFill>
                <a:latin typeface="Courier New" pitchFamily="34" charset="0"/>
                <a:ea typeface="Courier New" pitchFamily="34" charset="-122"/>
                <a:cs typeface="Courier New" pitchFamily="34" charset="-120"/>
              </a:rPr>
              <a:t>        </a:t>
            </a:r>
            <a:pPr indent="0" marL="0">
              <a:lnSpc>
                <a:spcPct val="105000"/>
              </a:lnSpc>
              <a:buNone/>
            </a:pPr>
            <a:r>
              <a:rPr lang="en-US" sz="1356" dirty="0">
                <a:solidFill>
                  <a:srgbClr val="9AA39E"/>
                </a:solidFill>
                <a:latin typeface="Courier New" pitchFamily="34" charset="0"/>
                <a:ea typeface="Courier New" pitchFamily="34" charset="-122"/>
                <a:cs typeface="Courier New" pitchFamily="34" charset="-120"/>
              </a:rPr>
              <a:t># about 30 seconds</a:t>
            </a:r>
            <a:endParaRPr lang="en-US" sz="1356" dirty="0"/>
          </a:p>
        </p:txBody>
      </p:sp>
      <p:sp>
        <p:nvSpPr>
          <p:cNvPr id="7" name="Bullets"/>
          <p:cNvSpPr txBox="1"/>
          <p:nvPr/>
        </p:nvSpPr>
        <p:spPr>
          <a:xfrm>
            <a:off x="6362548" y="1645920"/>
            <a:ext cx="5143652" cy="2121408"/>
          </a:xfrm>
          <a:prstGeom prst="rect">
            <a:avLst/>
          </a:prstGeom>
          <a:noFill/>
          <a:ln/>
        </p:spPr>
        <p:txBody>
          <a:bodyPr wrap="square" lIns="0" tIns="0" rIns="0" bIns="0" rtlCol="0" anchor="t"/>
          <a:lstStyle/>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The AWS CLI points at Floci on </a:t>
            </a:r>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localhost:4566</a:t>
            </a:r>
            <a:pPr indent="0" marL="0">
              <a:lnSpc>
                <a:spcPct val="100000"/>
              </a:lnSpc>
              <a:buNone/>
            </a:pPr>
            <a:r>
              <a:rPr lang="en-US" sz="1650" dirty="0">
                <a:solidFill>
                  <a:schemeClr val="tx1"/>
                </a:solidFill>
                <a:latin typeface="Arial" pitchFamily="34" charset="0"/>
                <a:ea typeface="Arial" pitchFamily="34" charset="-122"/>
                <a:cs typeface="Arial" pitchFamily="34" charset="-120"/>
              </a:rPr>
              <a:t>.</a:t>
            </a:r>
            <a:endParaRPr lang="en-US" sz="1650" dirty="0"/>
          </a:p>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No Terraform. No apply. No HCL.</a:t>
            </a:r>
            <a:endParaRPr lang="en-US" sz="1650" dirty="0"/>
          </a:p>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This is how most of us started, and it is not wrong.</a:t>
            </a:r>
            <a:endParaRPr lang="en-US" sz="1650" dirty="0"/>
          </a:p>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That is one box of the diagram. Terraform builds the rest.</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TRY IT</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Run Stack 1 and open the site</a:t>
            </a:r>
            <a:endParaRPr lang="en-US" sz="3600" dirty="0"/>
          </a:p>
        </p:txBody>
      </p:sp>
      <p:sp>
        <p:nvSpPr>
          <p:cNvPr id="6" name="Lede"/>
          <p:cNvSpPr txBox="1"/>
          <p:nvPr/>
        </p:nvSpPr>
        <p:spPr>
          <a:xfrm>
            <a:off x="685800" y="1645920"/>
            <a:ext cx="8001000" cy="32004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From the repository root, run:</a:t>
            </a:r>
            <a:endParaRPr lang="en-US" sz="2100" dirty="0"/>
          </a:p>
        </p:txBody>
      </p:sp>
      <p:sp>
        <p:nvSpPr>
          <p:cNvPr id="7" name="Terminal"/>
          <p:cNvSpPr txBox="1"/>
          <p:nvPr/>
        </p:nvSpPr>
        <p:spPr>
          <a:xfrm>
            <a:off x="685800" y="2137410"/>
            <a:ext cx="10820400" cy="2140649"/>
          </a:xfrm>
          <a:prstGeom prst="roundRect">
            <a:avLst>
              <a:gd name="adj" fmla="val 2563"/>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site</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Preflight passed.</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distribution_id = "E23QVEUMXAS598"</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t>
            </a:r>
            <a:endParaRPr lang="en-US" sz="1425" dirty="0"/>
          </a:p>
          <a:p>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HTTP 200, 722 bytes</a:t>
            </a:r>
            <a:endParaRPr lang="en-US" sz="1425" dirty="0"/>
          </a:p>
        </p:txBody>
      </p:sp>
      <p:sp>
        <p:nvSpPr>
          <p:cNvPr id="8" name="Text 5"/>
          <p:cNvSpPr txBox="1"/>
          <p:nvPr/>
        </p:nvSpPr>
        <p:spPr>
          <a:xfrm>
            <a:off x="685800" y="4449509"/>
            <a:ext cx="10820400" cy="20574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Output above is an example. Use your printed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distribution_id</a:t>
            </a:r>
            <a:pPr indent="0" marL="0">
              <a:lnSpc>
                <a:spcPct val="100000"/>
              </a:lnSpc>
              <a:buNone/>
            </a:pPr>
            <a:r>
              <a:rPr lang="en-US" sz="1350" dirty="0">
                <a:solidFill>
                  <a:schemeClr val="tx2"/>
                </a:solidFill>
                <a:latin typeface="Arial" pitchFamily="34" charset="0"/>
                <a:ea typeface="Arial" pitchFamily="34" charset="-122"/>
                <a:cs typeface="Arial" pitchFamily="34" charset="-120"/>
              </a:rPr>
              <a:t> in this browser URL:</a:t>
            </a:r>
            <a:endParaRPr lang="en-US" sz="1350" dirty="0"/>
          </a:p>
        </p:txBody>
      </p:sp>
      <p:sp>
        <p:nvSpPr>
          <p:cNvPr id="9" name="Code"/>
          <p:cNvSpPr txBox="1"/>
          <p:nvPr/>
        </p:nvSpPr>
        <p:spPr>
          <a:xfrm>
            <a:off x="685800" y="4838129"/>
            <a:ext cx="10820400" cy="704279"/>
          </a:xfrm>
          <a:prstGeom prst="roundRect">
            <a:avLst>
              <a:gd name="adj" fmla="val 7790"/>
            </a:avLst>
          </a:prstGeom>
          <a:solidFill>
            <a:srgbClr val="E6EAE4"/>
          </a:solidFill>
          <a:ln/>
        </p:spPr>
        <p:txBody>
          <a:bodyPr wrap="square" lIns="246888" tIns="246888" rIns="246888" bIns="246888" rtlCol="0" anchor="t"/>
          <a:lstStyle/>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http://&lt;your-distribution-id&gt;.cloudfront.localhost:4566/</a:t>
            </a:r>
            <a:endParaRPr lang="en-US" sz="1275" dirty="0"/>
          </a:p>
        </p:txBody>
      </p:sp>
      <p:sp>
        <p:nvSpPr>
          <p:cNvPr id="10" name="Text 7"/>
          <p:cNvSpPr txBox="1"/>
          <p:nvPr/>
        </p:nvSpPr>
        <p:spPr>
          <a:xfrm>
            <a:off x="685800" y="5675757"/>
            <a:ext cx="10820400" cy="205740"/>
          </a:xfrm>
          <a:prstGeom prst="rect">
            <a:avLst/>
          </a:prstGeom>
          <a:noFill/>
          <a:ln/>
        </p:spPr>
        <p:txBody>
          <a:bodyPr wrap="square" lIns="0" tIns="0" rIns="0" bIns="0" rtlCol="0" anchor="t"/>
          <a:lstStyle/>
          <a:p>
            <a:pPr indent="0" marL="0">
              <a:lnSpc>
                <a:spcPct val="100000"/>
              </a:lnSpc>
              <a:buNone/>
            </a:pPr>
            <a:r>
              <a:rPr lang="en-US" sz="1350" b="1" dirty="0">
                <a:solidFill>
                  <a:schemeClr val="tx2"/>
                </a:solidFill>
                <a:latin typeface="Arial" pitchFamily="34" charset="0"/>
                <a:ea typeface="Arial" pitchFamily="34" charset="-122"/>
                <a:cs typeface="Arial" pitchFamily="34" charset="-120"/>
              </a:rPr>
              <a:t>Expected page:</a:t>
            </a:r>
            <a:pPr indent="0" marL="0">
              <a:lnSpc>
                <a:spcPct val="100000"/>
              </a:lnSpc>
              <a:buNone/>
            </a:pPr>
            <a:r>
              <a:rPr lang="en-US" sz="1350" dirty="0">
                <a:solidFill>
                  <a:schemeClr val="tx2"/>
                </a:solidFill>
                <a:latin typeface="Arial" pitchFamily="34" charset="0"/>
                <a:ea typeface="Arial" pitchFamily="34" charset="-122"/>
                <a:cs typeface="Arial" pitchFamily="34" charset="-120"/>
              </a:rPr>
              <a:t> “Served by a CDN that does not exist”. No hosts-file edits needed.</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TRY IT</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Inspect Stack 1 with the AWS CLI</a:t>
            </a:r>
            <a:endParaRPr lang="en-US" sz="3600" dirty="0"/>
          </a:p>
        </p:txBody>
      </p:sp>
      <p:sp>
        <p:nvSpPr>
          <p:cNvPr id="6" name="Text 3"/>
          <p:cNvSpPr txBox="1"/>
          <p:nvPr/>
        </p:nvSpPr>
        <p:spPr>
          <a:xfrm>
            <a:off x="685800" y="1645920"/>
            <a:ext cx="10820400" cy="20574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After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make site</a:t>
            </a:r>
            <a:pPr indent="0" marL="0">
              <a:lnSpc>
                <a:spcPct val="100000"/>
              </a:lnSpc>
              <a:buNone/>
            </a:pPr>
            <a:r>
              <a:rPr lang="en-US" sz="1350" dirty="0">
                <a:solidFill>
                  <a:schemeClr val="tx2"/>
                </a:solidFill>
                <a:latin typeface="Arial" pitchFamily="34" charset="0"/>
                <a:ea typeface="Arial" pitchFamily="34" charset="-122"/>
                <a:cs typeface="Arial" pitchFamily="34" charset="-120"/>
              </a:rPr>
              <a:t>, set demo credentials in your terminal:</a:t>
            </a:r>
            <a:endParaRPr lang="en-US" sz="1350" dirty="0"/>
          </a:p>
        </p:txBody>
      </p:sp>
      <p:sp>
        <p:nvSpPr>
          <p:cNvPr id="7" name="Code"/>
          <p:cNvSpPr txBox="1"/>
          <p:nvPr/>
        </p:nvSpPr>
        <p:spPr>
          <a:xfrm>
            <a:off x="685800" y="1965960"/>
            <a:ext cx="10820400" cy="914781"/>
          </a:xfrm>
          <a:prstGeom prst="roundRect">
            <a:avLst>
              <a:gd name="adj" fmla="val 5998"/>
            </a:avLst>
          </a:prstGeom>
          <a:solidFill>
            <a:srgbClr val="E6EAE4"/>
          </a:solidFill>
          <a:ln/>
        </p:spPr>
        <p:txBody>
          <a:bodyPr wrap="square" lIns="246888" tIns="246888" rIns="246888" bIns="246888" rtlCol="0" anchor="t"/>
          <a:lstStyle/>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export AWS_ACCESS_KEY_ID=test AWS_SECRET_ACCESS_KEY=test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export AWS_DEFAULT_REGION=us-east-1 AWS_PAGER=""</a:t>
            </a:r>
            <a:endParaRPr lang="en-US" sz="1275" dirty="0"/>
          </a:p>
        </p:txBody>
      </p:sp>
      <p:sp>
        <p:nvSpPr>
          <p:cNvPr id="8" name="Text 5"/>
          <p:cNvSpPr txBox="1"/>
          <p:nvPr/>
        </p:nvSpPr>
        <p:spPr>
          <a:xfrm>
            <a:off x="685800" y="3063621"/>
            <a:ext cx="5143652" cy="320040"/>
          </a:xfrm>
          <a:prstGeom prst="rect">
            <a:avLst/>
          </a:prstGeom>
          <a:noFill/>
          <a:ln/>
        </p:spPr>
        <p:txBody>
          <a:bodyPr wrap="square" lIns="0" tIns="0" rIns="0" bIns="0" rtlCol="0" anchor="t"/>
          <a:lstStyle/>
          <a:p>
            <a:pPr indent="0" marL="0">
              <a:lnSpc>
                <a:spcPct val="100000"/>
              </a:lnSpc>
              <a:buNone/>
            </a:pPr>
            <a:r>
              <a:rPr lang="en-US" sz="2100" b="1" dirty="0">
                <a:solidFill>
                  <a:schemeClr val="tx1"/>
                </a:solidFill>
                <a:latin typeface="Arial" pitchFamily="34" charset="0"/>
                <a:ea typeface="Arial" pitchFamily="34" charset="-122"/>
                <a:cs typeface="Arial" pitchFamily="34" charset="-120"/>
              </a:rPr>
              <a:t>List the deployed files</a:t>
            </a:r>
            <a:endParaRPr lang="en-US" sz="2100" dirty="0"/>
          </a:p>
        </p:txBody>
      </p:sp>
      <p:sp>
        <p:nvSpPr>
          <p:cNvPr id="9" name="Terminal"/>
          <p:cNvSpPr txBox="1"/>
          <p:nvPr/>
        </p:nvSpPr>
        <p:spPr>
          <a:xfrm>
            <a:off x="685800" y="3639693"/>
            <a:ext cx="5143652" cy="951718"/>
          </a:xfrm>
          <a:prstGeom prst="roundRect">
            <a:avLst>
              <a:gd name="adj" fmla="val 5765"/>
            </a:avLst>
          </a:prstGeom>
          <a:solidFill>
            <a:schemeClr val="tx1"/>
          </a:solidFill>
          <a:ln/>
        </p:spPr>
        <p:txBody>
          <a:bodyPr wrap="square" lIns="246888" tIns="246888" rIns="246888" bIns="246888" rtlCol="0" anchor="t"/>
          <a:lstStyle/>
          <a:p>
            <a:pPr indent="0" marL="0">
              <a:lnSpc>
                <a:spcPct val="105000"/>
              </a:lnSpc>
              <a:buNone/>
            </a:pPr>
            <a:r>
              <a:rPr lang="en-US" sz="1387"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387" dirty="0">
                <a:solidFill>
                  <a:schemeClr val="bg2"/>
                </a:solidFill>
                <a:latin typeface="Courier New" pitchFamily="34" charset="0"/>
                <a:ea typeface="Courier New" pitchFamily="34" charset="-122"/>
                <a:cs typeface="Courier New" pitchFamily="34" charset="-120"/>
              </a:rPr>
              <a:t> aws --endpoint-url http://localhost:4566 \</a:t>
            </a:r>
            <a:endParaRPr lang="en-US" sz="1387" dirty="0"/>
          </a:p>
          <a:p>
            <a:pPr indent="0" marL="0">
              <a:lnSpc>
                <a:spcPct val="105000"/>
              </a:lnSpc>
              <a:buNone/>
            </a:pPr>
            <a:r>
              <a:rPr lang="en-US" sz="1387" dirty="0">
                <a:solidFill>
                  <a:schemeClr val="bg2"/>
                </a:solidFill>
                <a:latin typeface="Courier New" pitchFamily="34" charset="0"/>
                <a:ea typeface="Courier New" pitchFamily="34" charset="-122"/>
                <a:cs typeface="Courier New" pitchFamily="34" charset="-120"/>
              </a:rPr>
              <a:t>  s3 ls s3://sacjs-static-site/</a:t>
            </a:r>
            <a:endParaRPr lang="en-US" sz="1387" dirty="0"/>
          </a:p>
        </p:txBody>
      </p:sp>
      <p:sp>
        <p:nvSpPr>
          <p:cNvPr id="10" name="Text 7"/>
          <p:cNvSpPr txBox="1"/>
          <p:nvPr/>
        </p:nvSpPr>
        <p:spPr>
          <a:xfrm>
            <a:off x="685800" y="4724761"/>
            <a:ext cx="5143652" cy="205740"/>
          </a:xfrm>
          <a:prstGeom prst="rect">
            <a:avLst/>
          </a:prstGeom>
          <a:noFill/>
          <a:ln/>
        </p:spPr>
        <p:txBody>
          <a:bodyPr wrap="square" lIns="0" tIns="0" rIns="0" bIns="0" rtlCol="0" anchor="t"/>
          <a:lstStyle/>
          <a:p>
            <a:pPr indent="0" marL="0">
              <a:lnSpc>
                <a:spcPct val="100000"/>
              </a:lnSpc>
              <a:buNone/>
            </a:pPr>
            <a:r>
              <a:rPr lang="en-US" sz="1350" b="1" dirty="0">
                <a:solidFill>
                  <a:schemeClr val="tx2"/>
                </a:solidFill>
                <a:latin typeface="Arial" pitchFamily="34" charset="0"/>
                <a:ea typeface="Arial" pitchFamily="34" charset="-122"/>
                <a:cs typeface="Arial" pitchFamily="34" charset="-120"/>
              </a:rPr>
              <a:t>Expect:</a:t>
            </a:r>
            <a:pPr indent="0" marL="0">
              <a:lnSpc>
                <a:spcPct val="100000"/>
              </a:lnSpc>
              <a:buNone/>
            </a:pPr>
            <a:r>
              <a:rPr lang="en-US" sz="1350" dirty="0">
                <a:solidFill>
                  <a:schemeClr val="tx2"/>
                </a:solidFill>
                <a:latin typeface="Arial" pitchFamily="34" charset="0"/>
                <a:ea typeface="Arial" pitchFamily="34" charset="-122"/>
                <a:cs typeface="Arial" pitchFamily="34" charset="-120"/>
              </a:rPr>
              <a:t>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index.html</a:t>
            </a:r>
            <a:pPr indent="0" marL="0">
              <a:lnSpc>
                <a:spcPct val="100000"/>
              </a:lnSpc>
              <a:buNone/>
            </a:pPr>
            <a:r>
              <a:rPr lang="en-US" sz="1350" dirty="0">
                <a:solidFill>
                  <a:schemeClr val="tx2"/>
                </a:solidFill>
                <a:latin typeface="Arial" pitchFamily="34" charset="0"/>
                <a:ea typeface="Arial" pitchFamily="34" charset="-122"/>
                <a:cs typeface="Arial" pitchFamily="34" charset="-120"/>
              </a:rPr>
              <a:t> with its upload time and size.</a:t>
            </a:r>
            <a:endParaRPr lang="en-US" sz="1350" dirty="0"/>
          </a:p>
        </p:txBody>
      </p:sp>
      <p:sp>
        <p:nvSpPr>
          <p:cNvPr id="11" name="Text 8"/>
          <p:cNvSpPr txBox="1"/>
          <p:nvPr/>
        </p:nvSpPr>
        <p:spPr>
          <a:xfrm>
            <a:off x="6362548" y="3063621"/>
            <a:ext cx="5143652" cy="320040"/>
          </a:xfrm>
          <a:prstGeom prst="rect">
            <a:avLst/>
          </a:prstGeom>
          <a:noFill/>
          <a:ln/>
        </p:spPr>
        <p:txBody>
          <a:bodyPr wrap="square" lIns="0" tIns="0" rIns="0" bIns="0" rtlCol="0" anchor="t"/>
          <a:lstStyle/>
          <a:p>
            <a:pPr indent="0" marL="0">
              <a:lnSpc>
                <a:spcPct val="100000"/>
              </a:lnSpc>
              <a:buNone/>
            </a:pPr>
            <a:r>
              <a:rPr lang="en-US" sz="2100" b="1" dirty="0">
                <a:solidFill>
                  <a:schemeClr val="tx1"/>
                </a:solidFill>
                <a:latin typeface="Arial" pitchFamily="34" charset="0"/>
                <a:ea typeface="Arial" pitchFamily="34" charset="-122"/>
                <a:cs typeface="Arial" pitchFamily="34" charset="-120"/>
              </a:rPr>
              <a:t>List the CDN distributions</a:t>
            </a:r>
            <a:endParaRPr lang="en-US" sz="2100" dirty="0"/>
          </a:p>
        </p:txBody>
      </p:sp>
      <p:sp>
        <p:nvSpPr>
          <p:cNvPr id="12" name="Terminal"/>
          <p:cNvSpPr txBox="1"/>
          <p:nvPr/>
        </p:nvSpPr>
        <p:spPr>
          <a:xfrm>
            <a:off x="6362548" y="3639693"/>
            <a:ext cx="5143652" cy="1187196"/>
          </a:xfrm>
          <a:prstGeom prst="roundRect">
            <a:avLst>
              <a:gd name="adj" fmla="val 4621"/>
            </a:avLst>
          </a:prstGeom>
          <a:solidFill>
            <a:schemeClr val="tx1"/>
          </a:solidFill>
          <a:ln/>
        </p:spPr>
        <p:txBody>
          <a:bodyPr wrap="square" lIns="246888" tIns="246888" rIns="246888" bIns="246888" rtlCol="0" anchor="t"/>
          <a:lstStyle/>
          <a:p>
            <a:pPr indent="0" marL="0">
              <a:lnSpc>
                <a:spcPct val="105000"/>
              </a:lnSpc>
              <a:buNone/>
            </a:pPr>
            <a:r>
              <a:rPr lang="en-US" sz="1050"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050" dirty="0">
                <a:solidFill>
                  <a:schemeClr val="bg2"/>
                </a:solidFill>
                <a:latin typeface="Courier New" pitchFamily="34" charset="0"/>
                <a:ea typeface="Courier New" pitchFamily="34" charset="-122"/>
                <a:cs typeface="Courier New" pitchFamily="34" charset="-120"/>
              </a:rPr>
              <a:t> aws --endpoint-url http://localhost:4566 \</a:t>
            </a:r>
            <a:endParaRPr lang="en-US" sz="1050" dirty="0"/>
          </a:p>
          <a:p>
            <a:pPr indent="0" marL="0">
              <a:lnSpc>
                <a:spcPct val="105000"/>
              </a:lnSpc>
              <a:buNone/>
            </a:pPr>
            <a:r>
              <a:rPr lang="en-US" sz="1050" dirty="0">
                <a:solidFill>
                  <a:schemeClr val="bg2"/>
                </a:solidFill>
                <a:latin typeface="Courier New" pitchFamily="34" charset="0"/>
                <a:ea typeface="Courier New" pitchFamily="34" charset="-122"/>
                <a:cs typeface="Courier New" pitchFamily="34" charset="-120"/>
              </a:rPr>
              <a:t>  cloudfront list-distributions \</a:t>
            </a:r>
            <a:endParaRPr lang="en-US" sz="1050" dirty="0"/>
          </a:p>
          <a:p>
            <a:pPr indent="0" marL="0">
              <a:lnSpc>
                <a:spcPct val="105000"/>
              </a:lnSpc>
              <a:buNone/>
            </a:pPr>
            <a:r>
              <a:rPr lang="en-US" sz="1050" dirty="0">
                <a:solidFill>
                  <a:schemeClr val="bg2"/>
                </a:solidFill>
                <a:latin typeface="Courier New" pitchFamily="34" charset="0"/>
                <a:ea typeface="Courier New" pitchFamily="34" charset="-122"/>
                <a:cs typeface="Courier New" pitchFamily="34" charset="-120"/>
              </a:rPr>
              <a:t>  --query 'DistributionList.Items[].{ID:Id,Status:Status}' \</a:t>
            </a:r>
            <a:endParaRPr lang="en-US" sz="1050" dirty="0"/>
          </a:p>
          <a:p>
            <a:pPr indent="0" marL="0">
              <a:lnSpc>
                <a:spcPct val="105000"/>
              </a:lnSpc>
              <a:buNone/>
            </a:pPr>
            <a:r>
              <a:rPr lang="en-US" sz="1050" dirty="0">
                <a:solidFill>
                  <a:schemeClr val="bg2"/>
                </a:solidFill>
                <a:latin typeface="Courier New" pitchFamily="34" charset="0"/>
                <a:ea typeface="Courier New" pitchFamily="34" charset="-122"/>
                <a:cs typeface="Courier New" pitchFamily="34" charset="-120"/>
              </a:rPr>
              <a:t>  --output table</a:t>
            </a:r>
            <a:endParaRPr lang="en-US" sz="1050" dirty="0"/>
          </a:p>
        </p:txBody>
      </p:sp>
      <p:sp>
        <p:nvSpPr>
          <p:cNvPr id="13" name="Text 10"/>
          <p:cNvSpPr txBox="1"/>
          <p:nvPr/>
        </p:nvSpPr>
        <p:spPr>
          <a:xfrm>
            <a:off x="6362548" y="4960239"/>
            <a:ext cx="5143652" cy="411480"/>
          </a:xfrm>
          <a:prstGeom prst="rect">
            <a:avLst/>
          </a:prstGeom>
          <a:noFill/>
          <a:ln/>
        </p:spPr>
        <p:txBody>
          <a:bodyPr wrap="square" lIns="0" tIns="0" rIns="0" bIns="0" rtlCol="0" anchor="t"/>
          <a:lstStyle/>
          <a:p>
            <a:pPr indent="0" marL="0">
              <a:lnSpc>
                <a:spcPct val="100000"/>
              </a:lnSpc>
              <a:buNone/>
            </a:pPr>
            <a:r>
              <a:rPr lang="en-US" sz="1350" b="1" dirty="0">
                <a:solidFill>
                  <a:schemeClr val="tx2"/>
                </a:solidFill>
                <a:latin typeface="Arial" pitchFamily="34" charset="0"/>
                <a:ea typeface="Arial" pitchFamily="34" charset="-122"/>
                <a:cs typeface="Arial" pitchFamily="34" charset="-120"/>
              </a:rPr>
              <a:t>Expect:</a:t>
            </a:r>
            <a:pPr indent="0" marL="0">
              <a:lnSpc>
                <a:spcPct val="100000"/>
              </a:lnSpc>
              <a:buNone/>
            </a:pPr>
            <a:r>
              <a:rPr lang="en-US" sz="1350" dirty="0">
                <a:solidFill>
                  <a:schemeClr val="tx2"/>
                </a:solidFill>
                <a:latin typeface="Arial" pitchFamily="34" charset="0"/>
                <a:ea typeface="Arial" pitchFamily="34" charset="-122"/>
                <a:cs typeface="Arial" pitchFamily="34" charset="-120"/>
              </a:rPr>
              <a:t> a table with your distribution ID and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Deployed</a:t>
            </a:r>
            <a:pPr indent="0" marL="0">
              <a:lnSpc>
                <a:spcPct val="100000"/>
              </a:lnSpc>
              <a:buNone/>
            </a:pPr>
            <a:r>
              <a:rPr lang="en-US" sz="1350" dirty="0">
                <a:solidFill>
                  <a:schemeClr val="tx2"/>
                </a:solidFill>
                <a:latin typeface="Arial" pitchFamily="34" charset="0"/>
                <a:ea typeface="Arial" pitchFamily="34" charset="-122"/>
                <a:cs typeface="Arial" pitchFamily="34" charset="-120"/>
              </a:rPr>
              <a:t> status.</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TERRAFORM PLAN</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ledger</a:t>
            </a:r>
            <a:endParaRPr lang="en-US" sz="3600" dirty="0"/>
          </a:p>
        </p:txBody>
      </p:sp>
      <p:sp>
        <p:nvSpPr>
          <p:cNvPr id="6" name="Shape 3"/>
          <p:cNvSpPr/>
          <p:nvPr/>
        </p:nvSpPr>
        <p:spPr>
          <a:xfrm>
            <a:off x="685800" y="1801368"/>
            <a:ext cx="114300" cy="114300"/>
          </a:xfrm>
          <a:prstGeom prst="roundRect">
            <a:avLst>
              <a:gd name="adj" fmla="val 16000"/>
            </a:avLst>
          </a:prstGeom>
          <a:solidFill>
            <a:schemeClr val="accent4"/>
          </a:solidFill>
          <a:ln/>
        </p:spPr>
      </p:sp>
      <p:sp>
        <p:nvSpPr>
          <p:cNvPr id="7" name="Ledger group"/>
          <p:cNvSpPr txBox="1"/>
          <p:nvPr/>
        </p:nvSpPr>
        <p:spPr>
          <a:xfrm>
            <a:off x="886968" y="1755648"/>
            <a:ext cx="4980432" cy="219456"/>
          </a:xfrm>
          <a:prstGeom prst="rect">
            <a:avLst/>
          </a:prstGeom>
          <a:noFill/>
          <a:ln/>
        </p:spPr>
        <p:txBody>
          <a:bodyPr wrap="square" lIns="0" tIns="0" rIns="0" bIns="0" rtlCol="0" anchor="t"/>
          <a:lstStyle/>
          <a:p>
            <a:pPr indent="0" marL="0">
              <a:buNone/>
            </a:pPr>
            <a:r>
              <a:rPr lang="en-US" sz="1050" spc="100" kern="0" dirty="0">
                <a:solidFill>
                  <a:schemeClr val="accent4"/>
                </a:solidFill>
                <a:latin typeface="Courier New" pitchFamily="34" charset="0"/>
                <a:ea typeface="Courier New" pitchFamily="34" charset="-122"/>
                <a:cs typeface="Courier New" pitchFamily="34" charset="-120"/>
              </a:rPr>
              <a:t>DATA</a:t>
            </a:r>
            <a:endParaRPr lang="en-US" sz="1050" dirty="0"/>
          </a:p>
        </p:txBody>
      </p:sp>
      <p:sp>
        <p:nvSpPr>
          <p:cNvPr id="8" name="Text 5"/>
          <p:cNvSpPr txBox="1"/>
          <p:nvPr/>
        </p:nvSpPr>
        <p:spPr>
          <a:xfrm>
            <a:off x="685800" y="20299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9" name="Ledger resource"/>
          <p:cNvSpPr txBox="1"/>
          <p:nvPr/>
        </p:nvSpPr>
        <p:spPr>
          <a:xfrm>
            <a:off x="896112" y="20299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aws_s3_bucket.site</a:t>
            </a:r>
            <a:endParaRPr lang="en-US" sz="1350" dirty="0"/>
          </a:p>
        </p:txBody>
      </p:sp>
      <p:sp>
        <p:nvSpPr>
          <p:cNvPr id="10" name="Text 7"/>
          <p:cNvSpPr txBox="1"/>
          <p:nvPr/>
        </p:nvSpPr>
        <p:spPr>
          <a:xfrm>
            <a:off x="896112" y="227685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Holds the built files</a:t>
            </a:r>
            <a:endParaRPr lang="en-US" sz="1200" dirty="0"/>
          </a:p>
        </p:txBody>
      </p:sp>
      <p:sp>
        <p:nvSpPr>
          <p:cNvPr id="11" name="Text 8"/>
          <p:cNvSpPr txBox="1"/>
          <p:nvPr/>
        </p:nvSpPr>
        <p:spPr>
          <a:xfrm>
            <a:off x="685800" y="253288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2" name="Ledger resource"/>
          <p:cNvSpPr txBox="1"/>
          <p:nvPr/>
        </p:nvSpPr>
        <p:spPr>
          <a:xfrm>
            <a:off x="896112" y="253288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aws_s3_bucket_public_access_block.site</a:t>
            </a:r>
            <a:endParaRPr lang="en-US" sz="1350" dirty="0"/>
          </a:p>
        </p:txBody>
      </p:sp>
      <p:sp>
        <p:nvSpPr>
          <p:cNvPr id="13" name="Text 10"/>
          <p:cNvSpPr txBox="1"/>
          <p:nvPr/>
        </p:nvSpPr>
        <p:spPr>
          <a:xfrm>
            <a:off x="896112" y="277977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Locks the bucket against public ACLs and policies</a:t>
            </a:r>
            <a:endParaRPr lang="en-US" sz="1200" dirty="0"/>
          </a:p>
        </p:txBody>
      </p:sp>
      <p:sp>
        <p:nvSpPr>
          <p:cNvPr id="14" name="Shape 11"/>
          <p:cNvSpPr/>
          <p:nvPr/>
        </p:nvSpPr>
        <p:spPr>
          <a:xfrm>
            <a:off x="685800" y="3191256"/>
            <a:ext cx="114300" cy="114300"/>
          </a:xfrm>
          <a:prstGeom prst="roundRect">
            <a:avLst>
              <a:gd name="adj" fmla="val 16000"/>
            </a:avLst>
          </a:prstGeom>
          <a:solidFill>
            <a:schemeClr val="accent2"/>
          </a:solidFill>
          <a:ln/>
        </p:spPr>
      </p:sp>
      <p:sp>
        <p:nvSpPr>
          <p:cNvPr id="15" name="Ledger group"/>
          <p:cNvSpPr txBox="1"/>
          <p:nvPr/>
        </p:nvSpPr>
        <p:spPr>
          <a:xfrm>
            <a:off x="886968" y="3145536"/>
            <a:ext cx="4980432" cy="219456"/>
          </a:xfrm>
          <a:prstGeom prst="rect">
            <a:avLst/>
          </a:prstGeom>
          <a:noFill/>
          <a:ln/>
        </p:spPr>
        <p:txBody>
          <a:bodyPr wrap="square" lIns="0" tIns="0" rIns="0" bIns="0" rtlCol="0" anchor="t"/>
          <a:lstStyle/>
          <a:p>
            <a:pPr indent="0" marL="0">
              <a:buNone/>
            </a:pPr>
            <a:r>
              <a:rPr lang="en-US" sz="1050" spc="100" kern="0" dirty="0">
                <a:solidFill>
                  <a:schemeClr val="accent2"/>
                </a:solidFill>
                <a:latin typeface="Courier New" pitchFamily="34" charset="0"/>
                <a:ea typeface="Courier New" pitchFamily="34" charset="-122"/>
                <a:cs typeface="Courier New" pitchFamily="34" charset="-120"/>
              </a:rPr>
              <a:t>EDGE</a:t>
            </a:r>
            <a:endParaRPr lang="en-US" sz="1050" dirty="0"/>
          </a:p>
        </p:txBody>
      </p:sp>
      <p:sp>
        <p:nvSpPr>
          <p:cNvPr id="16" name="Text 13"/>
          <p:cNvSpPr txBox="1"/>
          <p:nvPr/>
        </p:nvSpPr>
        <p:spPr>
          <a:xfrm>
            <a:off x="685800" y="3419856"/>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7" name="Ledger resource"/>
          <p:cNvSpPr txBox="1"/>
          <p:nvPr/>
        </p:nvSpPr>
        <p:spPr>
          <a:xfrm>
            <a:off x="896112" y="3419856"/>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aws_cloudfront_origin_access_control.site</a:t>
            </a:r>
            <a:endParaRPr lang="en-US" sz="1350" dirty="0"/>
          </a:p>
        </p:txBody>
      </p:sp>
      <p:sp>
        <p:nvSpPr>
          <p:cNvPr id="18" name="Text 15"/>
          <p:cNvSpPr txBox="1"/>
          <p:nvPr/>
        </p:nvSpPr>
        <p:spPr>
          <a:xfrm>
            <a:off x="896112" y="3666744"/>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How the CDN proves who it is when it reads S3</a:t>
            </a:r>
            <a:endParaRPr lang="en-US" sz="1200" dirty="0"/>
          </a:p>
        </p:txBody>
      </p:sp>
      <p:sp>
        <p:nvSpPr>
          <p:cNvPr id="19" name="Text 16"/>
          <p:cNvSpPr txBox="1"/>
          <p:nvPr/>
        </p:nvSpPr>
        <p:spPr>
          <a:xfrm>
            <a:off x="685800" y="3922776"/>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0" name="Ledger resource"/>
          <p:cNvSpPr txBox="1"/>
          <p:nvPr/>
        </p:nvSpPr>
        <p:spPr>
          <a:xfrm>
            <a:off x="896112" y="3922776"/>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aws_cloudfront_distribution.site</a:t>
            </a:r>
            <a:endParaRPr lang="en-US" sz="1350" dirty="0"/>
          </a:p>
        </p:txBody>
      </p:sp>
      <p:sp>
        <p:nvSpPr>
          <p:cNvPr id="21" name="Text 18"/>
          <p:cNvSpPr txBox="1"/>
          <p:nvPr/>
        </p:nvSpPr>
        <p:spPr>
          <a:xfrm>
            <a:off x="896112" y="4169664"/>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The CDN: HTTPS, caching, index.html at /</a:t>
            </a:r>
            <a:endParaRPr lang="en-US" sz="1200" dirty="0"/>
          </a:p>
        </p:txBody>
      </p:sp>
      <p:sp>
        <p:nvSpPr>
          <p:cNvPr id="22" name="Shape 19"/>
          <p:cNvSpPr/>
          <p:nvPr/>
        </p:nvSpPr>
        <p:spPr>
          <a:xfrm>
            <a:off x="685800" y="4581144"/>
            <a:ext cx="114300" cy="114300"/>
          </a:xfrm>
          <a:prstGeom prst="roundRect">
            <a:avLst>
              <a:gd name="adj" fmla="val 16000"/>
            </a:avLst>
          </a:prstGeom>
          <a:solidFill>
            <a:schemeClr val="accent5"/>
          </a:solidFill>
          <a:ln/>
        </p:spPr>
      </p:sp>
      <p:sp>
        <p:nvSpPr>
          <p:cNvPr id="23" name="Ledger group"/>
          <p:cNvSpPr txBox="1"/>
          <p:nvPr/>
        </p:nvSpPr>
        <p:spPr>
          <a:xfrm>
            <a:off x="886968" y="4535424"/>
            <a:ext cx="4980432" cy="219456"/>
          </a:xfrm>
          <a:prstGeom prst="rect">
            <a:avLst/>
          </a:prstGeom>
          <a:noFill/>
          <a:ln/>
        </p:spPr>
        <p:txBody>
          <a:bodyPr wrap="square" lIns="0" tIns="0" rIns="0" bIns="0" rtlCol="0" anchor="t"/>
          <a:lstStyle/>
          <a:p>
            <a:pPr indent="0" marL="0">
              <a:buNone/>
            </a:pPr>
            <a:r>
              <a:rPr lang="en-US" sz="1050" spc="100" kern="0" dirty="0">
                <a:solidFill>
                  <a:schemeClr val="accent5"/>
                </a:solidFill>
                <a:latin typeface="Courier New" pitchFamily="34" charset="0"/>
                <a:ea typeface="Courier New" pitchFamily="34" charset="-122"/>
                <a:cs typeface="Courier New" pitchFamily="34" charset="-120"/>
              </a:rPr>
              <a:t>ACCESS</a:t>
            </a:r>
            <a:endParaRPr lang="en-US" sz="1050" dirty="0"/>
          </a:p>
        </p:txBody>
      </p:sp>
      <p:sp>
        <p:nvSpPr>
          <p:cNvPr id="24" name="Text 21"/>
          <p:cNvSpPr txBox="1"/>
          <p:nvPr/>
        </p:nvSpPr>
        <p:spPr>
          <a:xfrm>
            <a:off x="685800" y="480974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5" name="Ledger resource"/>
          <p:cNvSpPr txBox="1"/>
          <p:nvPr/>
        </p:nvSpPr>
        <p:spPr>
          <a:xfrm>
            <a:off x="896112" y="480974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aws_s3_bucket_policy.site</a:t>
            </a:r>
            <a:endParaRPr lang="en-US" sz="1350" dirty="0"/>
          </a:p>
        </p:txBody>
      </p:sp>
      <p:sp>
        <p:nvSpPr>
          <p:cNvPr id="26" name="Text 23"/>
          <p:cNvSpPr txBox="1"/>
          <p:nvPr/>
        </p:nvSpPr>
        <p:spPr>
          <a:xfrm>
            <a:off x="896112" y="5056632"/>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The one line of trust between them</a:t>
            </a:r>
            <a:endParaRPr lang="en-US" sz="1200" dirty="0"/>
          </a:p>
        </p:txBody>
      </p:sp>
      <p:sp>
        <p:nvSpPr>
          <p:cNvPr id="27" name="Shape 24"/>
          <p:cNvSpPr/>
          <p:nvPr/>
        </p:nvSpPr>
        <p:spPr>
          <a:xfrm>
            <a:off x="685800" y="5836920"/>
            <a:ext cx="10820400" cy="0"/>
          </a:xfrm>
          <a:prstGeom prst="line">
            <a:avLst/>
          </a:prstGeom>
          <a:noFill/>
          <a:ln w="9525">
            <a:solidFill>
              <a:srgbClr val="D3D9D2"/>
            </a:solidFill>
            <a:prstDash val="solid"/>
          </a:ln>
        </p:spPr>
      </p:sp>
      <p:sp>
        <p:nvSpPr>
          <p:cNvPr id="28" name="Plan summary"/>
          <p:cNvSpPr txBox="1"/>
          <p:nvPr/>
        </p:nvSpPr>
        <p:spPr>
          <a:xfrm>
            <a:off x="685800" y="5928360"/>
            <a:ext cx="10820400" cy="274320"/>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Plan: 5 to add</a:t>
            </a:r>
            <a:pPr indent="0" marL="0">
              <a:buNone/>
            </a:pPr>
            <a:r>
              <a:rPr lang="en-US" sz="1350" dirty="0">
                <a:solidFill>
                  <a:schemeClr val="tx1"/>
                </a:solidFill>
                <a:latin typeface="Courier New" pitchFamily="34" charset="0"/>
                <a:ea typeface="Courier New" pitchFamily="34" charset="-122"/>
                <a:cs typeface="Courier New" pitchFamily="34" charset="-120"/>
              </a:rPr>
              <a:t>, 0 to change, 0 to destroy.</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main.tf · 143 lines</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network resources · 0</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CODE THAT MATTERS</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One line of trust</a:t>
            </a:r>
            <a:endParaRPr lang="en-US" sz="3600" dirty="0"/>
          </a:p>
        </p:txBody>
      </p:sp>
      <p:sp>
        <p:nvSpPr>
          <p:cNvPr id="6" name="Code"/>
          <p:cNvSpPr txBox="1"/>
          <p:nvPr/>
        </p:nvSpPr>
        <p:spPr>
          <a:xfrm>
            <a:off x="685800" y="1645920"/>
            <a:ext cx="5975390" cy="3558764"/>
          </a:xfrm>
          <a:prstGeom prst="roundRect">
            <a:avLst>
              <a:gd name="adj" fmla="val 1542"/>
            </a:avLst>
          </a:prstGeom>
          <a:solidFill>
            <a:srgbClr val="E6EAE4"/>
          </a:solidFill>
          <a:ln/>
        </p:spPr>
        <p:txBody>
          <a:bodyPr wrap="square" lIns="246888" tIns="246888" rIns="246888" bIns="246888" rtlCol="0" anchor="t"/>
          <a:lstStyle/>
          <a:p>
            <a:pPr indent="0" marL="0">
              <a:lnSpc>
                <a:spcPct val="105000"/>
              </a:lnSpc>
              <a:buNone/>
            </a:pPr>
            <a:r>
              <a:rPr lang="en-US" sz="1160"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"aws_s3_bucket_policy"</a:t>
            </a:r>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"site"</a:t>
            </a:r>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bucket = aws_s3_bucket.site.id</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policy = jsonencode({</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Statement =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Effect    =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"Allow"</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Principal = { Service =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"cloudfront.amazonaws.com"</a:t>
            </a:r>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Action    =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"s3:GetObject"</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Resource  = </a:t>
            </a:r>
            <a:pPr indent="0" marL="0">
              <a:lnSpc>
                <a:spcPct val="105000"/>
              </a:lnSpc>
              <a:buNone/>
            </a:pPr>
            <a:r>
              <a:rPr lang="en-US" sz="1160" dirty="0">
                <a:solidFill>
                  <a:schemeClr val="accent4"/>
                </a:solidFill>
                <a:latin typeface="Courier New" pitchFamily="34" charset="0"/>
                <a:ea typeface="Courier New" pitchFamily="34" charset="-122"/>
                <a:cs typeface="Courier New" pitchFamily="34" charset="-120"/>
              </a:rPr>
              <a:t>"${aws_s3_bucket.site.arn}/*"</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Condition =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StringEquals =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160" dirty="0">
                <a:solidFill>
                  <a:schemeClr val="accent4"/>
                </a:solidFill>
                <a:highlight>
                  <a:srgbClr val="CBE3D3"/>
                </a:highlight>
                <a:latin typeface="Courier New" pitchFamily="34" charset="0"/>
                <a:ea typeface="Courier New" pitchFamily="34" charset="-122"/>
                <a:cs typeface="Courier New" pitchFamily="34" charset="-120"/>
              </a:rPr>
              <a:t>"AWS:SourceArn"</a:t>
            </a:r>
            <a:pPr indent="0" marL="0">
              <a:lnSpc>
                <a:spcPct val="105000"/>
              </a:lnSpc>
              <a:buNone/>
            </a:pPr>
            <a:r>
              <a:rPr lang="en-US" sz="1160" dirty="0">
                <a:solidFill>
                  <a:schemeClr val="tx1"/>
                </a:solidFill>
                <a:highlight>
                  <a:srgbClr val="CBE3D3"/>
                </a:highlight>
                <a:latin typeface="Courier New" pitchFamily="34" charset="0"/>
                <a:ea typeface="Courier New" pitchFamily="34" charset="-122"/>
                <a:cs typeface="Courier New" pitchFamily="34" charset="-120"/>
              </a:rPr>
              <a:t> = aws_cloudfront_distribution.site.arn</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  }]</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a:t>
            </a:r>
            <a:endParaRPr lang="en-US" sz="1160" dirty="0"/>
          </a:p>
          <a:p>
            <a:pPr indent="0" marL="0">
              <a:lnSpc>
                <a:spcPct val="105000"/>
              </a:lnSpc>
              <a:buNone/>
            </a:pPr>
            <a:r>
              <a:rPr lang="en-US" sz="1160" dirty="0">
                <a:solidFill>
                  <a:schemeClr val="tx1"/>
                </a:solidFill>
                <a:latin typeface="Courier New" pitchFamily="34" charset="0"/>
                <a:ea typeface="Courier New" pitchFamily="34" charset="-122"/>
                <a:cs typeface="Courier New" pitchFamily="34" charset="-120"/>
              </a:rPr>
              <a:t>}</a:t>
            </a:r>
            <a:endParaRPr lang="en-US" sz="1160" dirty="0"/>
          </a:p>
        </p:txBody>
      </p:sp>
      <p:sp>
        <p:nvSpPr>
          <p:cNvPr id="7" name="Text 4"/>
          <p:cNvSpPr txBox="1"/>
          <p:nvPr/>
        </p:nvSpPr>
        <p:spPr>
          <a:xfrm>
            <a:off x="7079985" y="1645920"/>
            <a:ext cx="4426215"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WHY IT MATTERS</a:t>
            </a:r>
            <a:endParaRPr lang="en-US" sz="1050" dirty="0"/>
          </a:p>
        </p:txBody>
      </p:sp>
      <p:sp>
        <p:nvSpPr>
          <p:cNvPr id="8" name="Callout"/>
          <p:cNvSpPr txBox="1"/>
          <p:nvPr/>
        </p:nvSpPr>
        <p:spPr>
          <a:xfrm>
            <a:off x="7079985" y="2039112"/>
            <a:ext cx="4426215" cy="100584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"CloudFront may read" would let </a:t>
            </a:r>
            <a:pPr indent="0" marL="0">
              <a:lnSpc>
                <a:spcPct val="100000"/>
              </a:lnSpc>
              <a:buNone/>
            </a:pPr>
            <a:r>
              <a:rPr lang="en-US" sz="1650" i="1" dirty="0">
                <a:solidFill>
                  <a:schemeClr val="tx1"/>
                </a:solidFill>
                <a:latin typeface="Arial" pitchFamily="34" charset="0"/>
                <a:ea typeface="Arial" pitchFamily="34" charset="-122"/>
                <a:cs typeface="Arial" pitchFamily="34" charset="-120"/>
              </a:rPr>
              <a:t>any</a:t>
            </a:r>
            <a:pPr indent="0" marL="0">
              <a:lnSpc>
                <a:spcPct val="100000"/>
              </a:lnSpc>
              <a:buNone/>
            </a:pPr>
            <a:r>
              <a:rPr lang="en-US" sz="1650" dirty="0">
                <a:solidFill>
                  <a:schemeClr val="tx1"/>
                </a:solidFill>
                <a:latin typeface="Arial" pitchFamily="34" charset="0"/>
                <a:ea typeface="Arial" pitchFamily="34" charset="-122"/>
                <a:cs typeface="Arial" pitchFamily="34" charset="-120"/>
              </a:rPr>
              <a:t> distribution in any account read your bucket. The condition narrows it to this one.</a:t>
            </a:r>
            <a:endParaRPr lang="en-US" sz="1650" dirty="0"/>
          </a:p>
        </p:txBody>
      </p:sp>
      <p:sp>
        <p:nvSpPr>
          <p:cNvPr id="9" name="Callout"/>
          <p:cNvSpPr txBox="1"/>
          <p:nvPr/>
        </p:nvSpPr>
        <p:spPr>
          <a:xfrm>
            <a:off x="7079985" y="3236976"/>
            <a:ext cx="4426215" cy="75438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No ID is typed. Terraform wires the distribution's ARN in, so the policy can't point at last month's CDN.</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1</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DEMO</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Where provisioning ends and deployment begins</a:t>
            </a:r>
            <a:endParaRPr lang="en-US" sz="3600" dirty="0"/>
          </a:p>
        </p:txBody>
      </p:sp>
      <p:sp>
        <p:nvSpPr>
          <p:cNvPr id="6" name="Terminal"/>
          <p:cNvSpPr txBox="1"/>
          <p:nvPr/>
        </p:nvSpPr>
        <p:spPr>
          <a:xfrm>
            <a:off x="685800" y="2176272"/>
            <a:ext cx="5143652" cy="3081719"/>
          </a:xfrm>
          <a:prstGeom prst="roundRect">
            <a:avLst>
              <a:gd name="adj" fmla="val 1780"/>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site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is these two:</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terraform apply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provision</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bucket_name     = "sacjs-static-site"</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distribution_id = "ENR6K826BATSPY"</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./scripts/awslocal s3 sync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site/ s3://sacjs-static-site</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upload: site/index.html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deploy</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HTTP 200, 722 bytes</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~50s</a:t>
            </a:r>
            <a:endParaRPr lang="en-US" sz="1425" dirty="0"/>
          </a:p>
        </p:txBody>
      </p:sp>
      <p:sp>
        <p:nvSpPr>
          <p:cNvPr id="7" name="Tag"/>
          <p:cNvSpPr txBox="1"/>
          <p:nvPr/>
        </p:nvSpPr>
        <p:spPr>
          <a:xfrm>
            <a:off x="6362548" y="2203704"/>
            <a:ext cx="960120" cy="237744"/>
          </a:xfrm>
          <a:prstGeom prst="roundRect">
            <a:avLst>
              <a:gd name="adj" fmla="val 11538"/>
            </a:avLst>
          </a:prstGeom>
          <a:noFill/>
          <a:ln w="12700">
            <a:solidFill>
              <a:schemeClr val="accent6"/>
            </a:solidFill>
          </a:ln>
        </p:spPr>
        <p:txBody>
          <a:bodyPr wrap="square" lIns="0" tIns="0" rIns="0" bIns="0" rtlCol="0" anchor="ctr"/>
          <a:lstStyle/>
          <a:p>
            <a:pPr algn="ctr" indent="0" marL="0">
              <a:buNone/>
            </a:pPr>
            <a:r>
              <a:rPr lang="en-US" sz="1000" spc="50" kern="0" dirty="0">
                <a:solidFill>
                  <a:schemeClr val="accent6"/>
                </a:solidFill>
                <a:latin typeface="Courier New" pitchFamily="34" charset="0"/>
                <a:ea typeface="Courier New" pitchFamily="34" charset="-122"/>
                <a:cs typeface="Courier New" pitchFamily="34" charset="-120"/>
              </a:rPr>
              <a:t>REAL</a:t>
            </a:r>
            <a:endParaRPr lang="en-US" sz="1000" dirty="0"/>
          </a:p>
        </p:txBody>
      </p:sp>
      <p:sp>
        <p:nvSpPr>
          <p:cNvPr id="8" name="Note"/>
          <p:cNvSpPr txBox="1"/>
          <p:nvPr/>
        </p:nvSpPr>
        <p:spPr>
          <a:xfrm>
            <a:off x="7505548" y="2176272"/>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Deleting a distribution means disabling it first. The provider does it for you, and it takes a minute.</a:t>
            </a:r>
            <a:endParaRPr lang="en-US" sz="1500" dirty="0"/>
          </a:p>
        </p:txBody>
      </p:sp>
      <p:sp>
        <p:nvSpPr>
          <p:cNvPr id="9" name="Tag"/>
          <p:cNvSpPr txBox="1"/>
          <p:nvPr/>
        </p:nvSpPr>
        <p:spPr>
          <a:xfrm>
            <a:off x="6362548" y="3044952"/>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0" name="Note"/>
          <p:cNvSpPr txBox="1"/>
          <p:nvPr/>
        </p:nvSpPr>
        <p:spPr>
          <a:xfrm>
            <a:off x="7505548" y="3017520"/>
            <a:ext cx="4000652"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Delete the bucket policy and the site still loads. Floci stores the policy but doesn't evaluate it unless enforcement flags are on.</a:t>
            </a:r>
            <a:endParaRPr lang="en-US" sz="1500" dirty="0"/>
          </a:p>
        </p:txBody>
      </p:sp>
      <p:sp>
        <p:nvSpPr>
          <p:cNvPr id="11" name="Tag"/>
          <p:cNvSpPr txBox="1"/>
          <p:nvPr/>
        </p:nvSpPr>
        <p:spPr>
          <a:xfrm>
            <a:off x="6362548" y="4114800"/>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2" name="Note"/>
          <p:cNvSpPr txBox="1"/>
          <p:nvPr/>
        </p:nvSpPr>
        <p:spPr>
          <a:xfrm>
            <a:off x="7505548" y="4087368"/>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AWS provider 5.x crashes on this stack against Floci; 6.x doesn't. Emulators have edges.</a:t>
            </a:r>
            <a:endParaRPr lang="en-US" sz="15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APP TYPE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Function API</a:t>
            </a:r>
            <a:endParaRPr lang="en-US" sz="3600" dirty="0"/>
          </a:p>
        </p:txBody>
      </p:sp>
      <p:sp>
        <p:nvSpPr>
          <p:cNvPr id="6" name="Lede"/>
          <p:cNvSpPr txBox="1"/>
          <p:nvPr/>
        </p:nvSpPr>
        <p:spPr>
          <a:xfrm>
            <a:off x="685800" y="1645920"/>
            <a:ext cx="5461428" cy="128016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A handler invoked when a request arrives. The platform manages its execution environment; you do not keep an application server running.</a:t>
            </a:r>
            <a:endParaRPr lang="en-US" sz="2100" dirty="0"/>
          </a:p>
        </p:txBody>
      </p:sp>
      <p:sp>
        <p:nvSpPr>
          <p:cNvPr id="7" name="Chip"/>
          <p:cNvSpPr txBox="1"/>
          <p:nvPr/>
        </p:nvSpPr>
        <p:spPr>
          <a:xfrm>
            <a:off x="685800" y="3172968"/>
            <a:ext cx="96926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webhooks</a:t>
            </a:r>
            <a:endParaRPr lang="en-US" sz="1200" dirty="0"/>
          </a:p>
        </p:txBody>
      </p:sp>
      <p:sp>
        <p:nvSpPr>
          <p:cNvPr id="8" name="Chip"/>
          <p:cNvSpPr txBox="1"/>
          <p:nvPr/>
        </p:nvSpPr>
        <p:spPr>
          <a:xfrm>
            <a:off x="1751076" y="3172968"/>
            <a:ext cx="10607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JSON APIs</a:t>
            </a:r>
            <a:endParaRPr lang="en-US" sz="1200" dirty="0"/>
          </a:p>
        </p:txBody>
      </p:sp>
      <p:sp>
        <p:nvSpPr>
          <p:cNvPr id="9" name="Chip"/>
          <p:cNvSpPr txBox="1"/>
          <p:nvPr/>
        </p:nvSpPr>
        <p:spPr>
          <a:xfrm>
            <a:off x="2907792" y="3172968"/>
            <a:ext cx="142646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form handlers</a:t>
            </a:r>
            <a:endParaRPr lang="en-US" sz="1200" dirty="0"/>
          </a:p>
        </p:txBody>
      </p:sp>
      <p:sp>
        <p:nvSpPr>
          <p:cNvPr id="10" name="Chip"/>
          <p:cNvSpPr txBox="1"/>
          <p:nvPr/>
        </p:nvSpPr>
        <p:spPr>
          <a:xfrm>
            <a:off x="4430268" y="3172968"/>
            <a:ext cx="10607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cron jobs</a:t>
            </a:r>
            <a:endParaRPr lang="en-US" sz="1200" dirty="0"/>
          </a:p>
        </p:txBody>
      </p:sp>
      <p:sp>
        <p:nvSpPr>
          <p:cNvPr id="11" name="Chip"/>
          <p:cNvSpPr txBox="1"/>
          <p:nvPr/>
        </p:nvSpPr>
        <p:spPr>
          <a:xfrm>
            <a:off x="685800" y="3579876"/>
            <a:ext cx="21579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glue between services</a:t>
            </a:r>
            <a:endParaRPr lang="en-US" sz="1200" dirty="0"/>
          </a:p>
        </p:txBody>
      </p:sp>
      <p:sp>
        <p:nvSpPr>
          <p:cNvPr id="12" name="Chip label"/>
          <p:cNvSpPr txBox="1"/>
          <p:nvPr/>
        </p:nvSpPr>
        <p:spPr>
          <a:xfrm>
            <a:off x="685800" y="4059936"/>
            <a:ext cx="1828800" cy="201168"/>
          </a:xfrm>
          <a:prstGeom prst="rect">
            <a:avLst/>
          </a:prstGeom>
          <a:noFill/>
          <a:ln/>
        </p:spPr>
        <p:txBody>
          <a:bodyPr wrap="none" lIns="0" tIns="0" rIns="0" bIns="0" rtlCol="0" anchor="t"/>
          <a:lstStyle/>
          <a:p>
            <a:pPr indent="0" marL="0">
              <a:buNone/>
            </a:pPr>
            <a:r>
              <a:rPr lang="en-US" sz="1000" spc="100" kern="0" dirty="0">
                <a:solidFill>
                  <a:schemeClr val="tx1"/>
                </a:solidFill>
                <a:latin typeface="Courier New" pitchFamily="34" charset="0"/>
                <a:ea typeface="Courier New" pitchFamily="34" charset="-122"/>
                <a:cs typeface="Courier New" pitchFamily="34" charset="-120"/>
              </a:rPr>
              <a:t>YOU MAY KNOW IT AS</a:t>
            </a:r>
            <a:endParaRPr lang="en-US" sz="1000" dirty="0"/>
          </a:p>
        </p:txBody>
      </p:sp>
      <p:sp>
        <p:nvSpPr>
          <p:cNvPr id="13" name="Chip"/>
          <p:cNvSpPr txBox="1"/>
          <p:nvPr/>
        </p:nvSpPr>
        <p:spPr>
          <a:xfrm>
            <a:off x="2610612" y="4005072"/>
            <a:ext cx="188366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Cloudflare Workers</a:t>
            </a:r>
            <a:endParaRPr lang="en-US" sz="1200" dirty="0"/>
          </a:p>
        </p:txBody>
      </p:sp>
      <p:sp>
        <p:nvSpPr>
          <p:cNvPr id="14" name="Chip"/>
          <p:cNvSpPr txBox="1"/>
          <p:nvPr/>
        </p:nvSpPr>
        <p:spPr>
          <a:xfrm>
            <a:off x="685800" y="4411980"/>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Vercel Functions</a:t>
            </a:r>
            <a:endParaRPr lang="en-US" sz="1200" dirty="0"/>
          </a:p>
        </p:txBody>
      </p:sp>
      <p:sp>
        <p:nvSpPr>
          <p:cNvPr id="15" name="Chip"/>
          <p:cNvSpPr txBox="1"/>
          <p:nvPr/>
        </p:nvSpPr>
        <p:spPr>
          <a:xfrm>
            <a:off x="2482596" y="4411980"/>
            <a:ext cx="17922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Netlify Functions</a:t>
            </a:r>
            <a:endParaRPr lang="en-US" sz="1200" dirty="0"/>
          </a:p>
        </p:txBody>
      </p:sp>
      <p:sp>
        <p:nvSpPr>
          <p:cNvPr id="16" name="Chip"/>
          <p:cNvSpPr txBox="1"/>
          <p:nvPr/>
        </p:nvSpPr>
        <p:spPr>
          <a:xfrm>
            <a:off x="685800" y="4818888"/>
            <a:ext cx="234086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Supabase Edge Functions</a:t>
            </a:r>
            <a:endParaRPr lang="en-US" sz="1200" dirty="0"/>
          </a:p>
        </p:txBody>
      </p:sp>
      <p:sp>
        <p:nvSpPr>
          <p:cNvPr id="17" name="Shape 14"/>
          <p:cNvSpPr/>
          <p:nvPr/>
        </p:nvSpPr>
        <p:spPr>
          <a:xfrm>
            <a:off x="6757132" y="1645920"/>
            <a:ext cx="4749068" cy="0"/>
          </a:xfrm>
          <a:prstGeom prst="line">
            <a:avLst/>
          </a:prstGeom>
          <a:noFill/>
          <a:ln w="9525">
            <a:solidFill>
              <a:srgbClr val="D3D9D2"/>
            </a:solidFill>
            <a:prstDash val="solid"/>
          </a:ln>
        </p:spPr>
      </p:sp>
      <p:sp>
        <p:nvSpPr>
          <p:cNvPr id="18" name="Fact label"/>
          <p:cNvSpPr txBox="1"/>
          <p:nvPr/>
        </p:nvSpPr>
        <p:spPr>
          <a:xfrm>
            <a:off x="6757132" y="180136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RUNS</a:t>
            </a:r>
            <a:endParaRPr lang="en-US" sz="1050" dirty="0"/>
          </a:p>
        </p:txBody>
      </p:sp>
      <p:sp>
        <p:nvSpPr>
          <p:cNvPr id="19" name="Fact"/>
          <p:cNvSpPr txBox="1"/>
          <p:nvPr/>
        </p:nvSpPr>
        <p:spPr>
          <a:xfrm>
            <a:off x="8357332" y="1773936"/>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Per request, in a container AWS starts and stops for you.</a:t>
            </a:r>
            <a:endParaRPr lang="en-US" sz="1650" dirty="0"/>
          </a:p>
        </p:txBody>
      </p:sp>
      <p:sp>
        <p:nvSpPr>
          <p:cNvPr id="20" name="Shape 17"/>
          <p:cNvSpPr/>
          <p:nvPr/>
        </p:nvSpPr>
        <p:spPr>
          <a:xfrm>
            <a:off x="6757132" y="2487168"/>
            <a:ext cx="4749068" cy="0"/>
          </a:xfrm>
          <a:prstGeom prst="line">
            <a:avLst/>
          </a:prstGeom>
          <a:noFill/>
          <a:ln w="9525">
            <a:solidFill>
              <a:srgbClr val="D3D9D2"/>
            </a:solidFill>
            <a:prstDash val="solid"/>
          </a:ln>
        </p:spPr>
      </p:sp>
      <p:sp>
        <p:nvSpPr>
          <p:cNvPr id="21" name="Fact label"/>
          <p:cNvSpPr txBox="1"/>
          <p:nvPr/>
        </p:nvSpPr>
        <p:spPr>
          <a:xfrm>
            <a:off x="6757132" y="2642616"/>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STATE</a:t>
            </a:r>
            <a:endParaRPr lang="en-US" sz="1050" dirty="0"/>
          </a:p>
        </p:txBody>
      </p:sp>
      <p:sp>
        <p:nvSpPr>
          <p:cNvPr id="22" name="Fact"/>
          <p:cNvSpPr txBox="1"/>
          <p:nvPr/>
        </p:nvSpPr>
        <p:spPr>
          <a:xfrm>
            <a:off x="8357332" y="2615184"/>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Nowhere in the function. A key-value table holds it.</a:t>
            </a:r>
            <a:endParaRPr lang="en-US" sz="1650" dirty="0"/>
          </a:p>
        </p:txBody>
      </p:sp>
      <p:sp>
        <p:nvSpPr>
          <p:cNvPr id="23" name="Shape 20"/>
          <p:cNvSpPr/>
          <p:nvPr/>
        </p:nvSpPr>
        <p:spPr>
          <a:xfrm>
            <a:off x="6757132" y="3328416"/>
            <a:ext cx="4749068" cy="0"/>
          </a:xfrm>
          <a:prstGeom prst="line">
            <a:avLst/>
          </a:prstGeom>
          <a:noFill/>
          <a:ln w="9525">
            <a:solidFill>
              <a:srgbClr val="D3D9D2"/>
            </a:solidFill>
            <a:prstDash val="solid"/>
          </a:ln>
        </p:spPr>
      </p:sp>
      <p:sp>
        <p:nvSpPr>
          <p:cNvPr id="24" name="Fact label"/>
          <p:cNvSpPr txBox="1"/>
          <p:nvPr/>
        </p:nvSpPr>
        <p:spPr>
          <a:xfrm>
            <a:off x="6757132" y="3483864"/>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NEEDS</a:t>
            </a:r>
            <a:endParaRPr lang="en-US" sz="1050" dirty="0"/>
          </a:p>
        </p:txBody>
      </p:sp>
      <p:sp>
        <p:nvSpPr>
          <p:cNvPr id="25" name="Fact"/>
          <p:cNvSpPr txBox="1"/>
          <p:nvPr/>
        </p:nvSpPr>
        <p:spPr>
          <a:xfrm>
            <a:off x="8357332" y="3456432"/>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A function, a table, a URL, and permission for each to touch the next.</a:t>
            </a:r>
            <a:endParaRPr lang="en-US" sz="1650" dirty="0"/>
          </a:p>
        </p:txBody>
      </p:sp>
      <p:sp>
        <p:nvSpPr>
          <p:cNvPr id="26" name="Shape 23"/>
          <p:cNvSpPr/>
          <p:nvPr/>
        </p:nvSpPr>
        <p:spPr>
          <a:xfrm>
            <a:off x="6757132" y="4421124"/>
            <a:ext cx="4749068" cy="0"/>
          </a:xfrm>
          <a:prstGeom prst="line">
            <a:avLst/>
          </a:prstGeom>
          <a:noFill/>
          <a:ln w="9525">
            <a:solidFill>
              <a:srgbClr val="D3D9D2"/>
            </a:solidFill>
            <a:prstDash val="solid"/>
          </a:ln>
        </p:spPr>
      </p:sp>
      <p:sp>
        <p:nvSpPr>
          <p:cNvPr id="27" name="Fact label"/>
          <p:cNvSpPr txBox="1"/>
          <p:nvPr/>
        </p:nvSpPr>
        <p:spPr>
          <a:xfrm>
            <a:off x="6757132" y="457657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PICK IT WHEN</a:t>
            </a:r>
            <a:endParaRPr lang="en-US" sz="1050" dirty="0"/>
          </a:p>
        </p:txBody>
      </p:sp>
      <p:sp>
        <p:nvSpPr>
          <p:cNvPr id="28" name="Fact"/>
          <p:cNvSpPr txBox="1"/>
          <p:nvPr/>
        </p:nvSpPr>
        <p:spPr>
          <a:xfrm>
            <a:off x="8357332" y="4549140"/>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Traffic is spiky or small, and work fits in seconds.</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STRUCTURE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No fence, just permissions</a:t>
            </a:r>
            <a:endParaRPr lang="en-US" sz="3600" dirty="0"/>
          </a:p>
        </p:txBody>
      </p:sp>
      <p:sp>
        <p:nvSpPr>
          <p:cNvPr id="6" name="Shape 3"/>
          <p:cNvSpPr/>
          <p:nvPr/>
        </p:nvSpPr>
        <p:spPr>
          <a:xfrm>
            <a:off x="685800" y="1645920"/>
            <a:ext cx="3937236" cy="899940"/>
          </a:xfrm>
          <a:prstGeom prst="roundRect">
            <a:avLst>
              <a:gd name="adj" fmla="val 6250"/>
            </a:avLst>
          </a:prstGeom>
          <a:ln w="18749">
            <a:solidFill>
              <a:schemeClr val="tx2"/>
            </a:solidFill>
            <a:prstDash val="dash"/>
          </a:ln>
        </p:spPr>
      </p:sp>
      <p:sp>
        <p:nvSpPr>
          <p:cNvPr id="7" name="Text 4"/>
          <p:cNvSpPr txBox="1"/>
          <p:nvPr/>
        </p:nvSpPr>
        <p:spPr>
          <a:xfrm>
            <a:off x="885609" y="1865280"/>
            <a:ext cx="3537619"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VPC · subnets · security groups</a:t>
            </a:r>
            <a:endParaRPr lang="en-US" sz="1476" dirty="0"/>
          </a:p>
        </p:txBody>
      </p:sp>
      <p:sp>
        <p:nvSpPr>
          <p:cNvPr id="8" name="Text 5"/>
          <p:cNvSpPr txBox="1"/>
          <p:nvPr/>
        </p:nvSpPr>
        <p:spPr>
          <a:xfrm>
            <a:off x="502197" y="2171354"/>
            <a:ext cx="4304442"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none of it: AWS runs the function somewhere you never see</a:t>
            </a:r>
            <a:endParaRPr lang="en-US" sz="1107" dirty="0"/>
          </a:p>
        </p:txBody>
      </p:sp>
      <p:sp>
        <p:nvSpPr>
          <p:cNvPr id="9" name="Shape 6"/>
          <p:cNvSpPr/>
          <p:nvPr/>
        </p:nvSpPr>
        <p:spPr>
          <a:xfrm>
            <a:off x="685800" y="3427051"/>
            <a:ext cx="1499900" cy="749950"/>
          </a:xfrm>
          <a:prstGeom prst="roundRect">
            <a:avLst>
              <a:gd name="adj" fmla="val 7500"/>
            </a:avLst>
          </a:prstGeom>
          <a:solidFill>
            <a:schemeClr val="bg1"/>
          </a:solidFill>
          <a:ln w="18749">
            <a:solidFill>
              <a:schemeClr val="tx2"/>
            </a:solidFill>
            <a:prstDash val="solid"/>
          </a:ln>
        </p:spPr>
      </p:sp>
      <p:sp>
        <p:nvSpPr>
          <p:cNvPr id="10" name="Text 7"/>
          <p:cNvSpPr txBox="1"/>
          <p:nvPr/>
        </p:nvSpPr>
        <p:spPr>
          <a:xfrm>
            <a:off x="909045" y="3683908"/>
            <a:ext cx="1053410"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client</a:t>
            </a:r>
            <a:endParaRPr lang="en-US" sz="1476" dirty="0"/>
          </a:p>
        </p:txBody>
      </p:sp>
      <p:sp>
        <p:nvSpPr>
          <p:cNvPr id="11" name="Shape 8"/>
          <p:cNvSpPr/>
          <p:nvPr/>
        </p:nvSpPr>
        <p:spPr>
          <a:xfrm>
            <a:off x="2185700" y="3802026"/>
            <a:ext cx="899940" cy="0"/>
          </a:xfrm>
          <a:prstGeom prst="line">
            <a:avLst/>
          </a:prstGeom>
          <a:noFill/>
          <a:ln w="18749">
            <a:solidFill>
              <a:schemeClr val="tx1"/>
            </a:solidFill>
            <a:prstDash val="solid"/>
            <a:tailEnd type="triangle"/>
          </a:ln>
        </p:spPr>
      </p:sp>
      <p:sp>
        <p:nvSpPr>
          <p:cNvPr id="12" name="Text 9"/>
          <p:cNvSpPr txBox="1"/>
          <p:nvPr/>
        </p:nvSpPr>
        <p:spPr>
          <a:xfrm>
            <a:off x="2210208" y="3567479"/>
            <a:ext cx="850924" cy="170614"/>
          </a:xfrm>
          <a:prstGeom prst="rect">
            <a:avLst/>
          </a:prstGeom>
          <a:noFill/>
          <a:ln/>
        </p:spPr>
        <p:txBody>
          <a:bodyPr wrap="none" lIns="0" tIns="0" rIns="0" bIns="0" rtlCol="0" anchor="t"/>
          <a:lstStyle/>
          <a:p>
            <a:pPr algn="ctr" indent="0" marL="0">
              <a:buNone/>
            </a:pPr>
            <a:r>
              <a:rPr lang="en-US" sz="1033" dirty="0">
                <a:solidFill>
                  <a:schemeClr val="tx2"/>
                </a:solidFill>
                <a:latin typeface="Courier New" pitchFamily="34" charset="0"/>
                <a:ea typeface="Courier New" pitchFamily="34" charset="-122"/>
                <a:cs typeface="Courier New" pitchFamily="34" charset="-120"/>
              </a:rPr>
              <a:t>HTTPS</a:t>
            </a:r>
            <a:endParaRPr lang="en-US" sz="1033" dirty="0"/>
          </a:p>
        </p:txBody>
      </p:sp>
      <p:sp>
        <p:nvSpPr>
          <p:cNvPr id="13" name="Shape 10"/>
          <p:cNvSpPr/>
          <p:nvPr/>
        </p:nvSpPr>
        <p:spPr>
          <a:xfrm>
            <a:off x="3123137" y="3333307"/>
            <a:ext cx="1968618" cy="937437"/>
          </a:xfrm>
          <a:prstGeom prst="roundRect">
            <a:avLst>
              <a:gd name="adj" fmla="val 6000"/>
            </a:avLst>
          </a:prstGeom>
          <a:solidFill>
            <a:schemeClr val="accent3">
              <a:alpha val="10000"/>
            </a:schemeClr>
          </a:solidFill>
          <a:ln w="18749">
            <a:solidFill>
              <a:schemeClr val="accent3"/>
            </a:solidFill>
            <a:prstDash val="solid"/>
          </a:ln>
        </p:spPr>
      </p:sp>
      <p:sp>
        <p:nvSpPr>
          <p:cNvPr id="14" name="Text 11"/>
          <p:cNvSpPr txBox="1"/>
          <p:nvPr/>
        </p:nvSpPr>
        <p:spPr>
          <a:xfrm>
            <a:off x="3282636" y="3552667"/>
            <a:ext cx="1649620"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Function URL</a:t>
            </a:r>
            <a:endParaRPr lang="en-US" sz="1476" dirty="0"/>
          </a:p>
        </p:txBody>
      </p:sp>
      <p:sp>
        <p:nvSpPr>
          <p:cNvPr id="15" name="Text 12"/>
          <p:cNvSpPr txBox="1"/>
          <p:nvPr/>
        </p:nvSpPr>
        <p:spPr>
          <a:xfrm>
            <a:off x="3541368" y="3839992"/>
            <a:ext cx="1132155"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auth: NONE</a:t>
            </a:r>
            <a:endParaRPr lang="en-US" sz="1107" dirty="0"/>
          </a:p>
        </p:txBody>
      </p:sp>
      <p:sp>
        <p:nvSpPr>
          <p:cNvPr id="16" name="Shape 13"/>
          <p:cNvSpPr/>
          <p:nvPr/>
        </p:nvSpPr>
        <p:spPr>
          <a:xfrm>
            <a:off x="3123137" y="4645719"/>
            <a:ext cx="1968618" cy="899940"/>
          </a:xfrm>
          <a:prstGeom prst="roundRect">
            <a:avLst>
              <a:gd name="adj" fmla="val 6250"/>
            </a:avLst>
          </a:prstGeom>
          <a:solidFill>
            <a:schemeClr val="accent5">
              <a:alpha val="10000"/>
            </a:schemeClr>
          </a:solidFill>
          <a:ln w="18749">
            <a:solidFill>
              <a:schemeClr val="accent5"/>
            </a:solidFill>
            <a:prstDash val="solid"/>
          </a:ln>
        </p:spPr>
      </p:sp>
      <p:sp>
        <p:nvSpPr>
          <p:cNvPr id="17" name="Text 14"/>
          <p:cNvSpPr txBox="1"/>
          <p:nvPr/>
        </p:nvSpPr>
        <p:spPr>
          <a:xfrm>
            <a:off x="3133583" y="4808833"/>
            <a:ext cx="1947725"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Resource policy</a:t>
            </a:r>
            <a:endParaRPr lang="en-US" sz="1476" dirty="0"/>
          </a:p>
        </p:txBody>
      </p:sp>
      <p:sp>
        <p:nvSpPr>
          <p:cNvPr id="18" name="Text 15"/>
          <p:cNvSpPr txBox="1"/>
          <p:nvPr/>
        </p:nvSpPr>
        <p:spPr>
          <a:xfrm>
            <a:off x="3305134" y="5077409"/>
            <a:ext cx="1604623"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InvokeFunctionUrl</a:t>
            </a:r>
            <a:endParaRPr lang="en-US" sz="1107" dirty="0"/>
          </a:p>
        </p:txBody>
      </p:sp>
      <p:sp>
        <p:nvSpPr>
          <p:cNvPr id="19" name="Text 16"/>
          <p:cNvSpPr txBox="1"/>
          <p:nvPr/>
        </p:nvSpPr>
        <p:spPr>
          <a:xfrm>
            <a:off x="3068900" y="5264896"/>
            <a:ext cx="2077091"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 InvokeFunction via URL</a:t>
            </a:r>
            <a:endParaRPr lang="en-US" sz="1107" dirty="0"/>
          </a:p>
        </p:txBody>
      </p:sp>
      <p:sp>
        <p:nvSpPr>
          <p:cNvPr id="20" name="Shape 17"/>
          <p:cNvSpPr/>
          <p:nvPr/>
        </p:nvSpPr>
        <p:spPr>
          <a:xfrm flipV="1">
            <a:off x="4107446" y="4308242"/>
            <a:ext cx="0" cy="337477"/>
          </a:xfrm>
          <a:prstGeom prst="line">
            <a:avLst/>
          </a:prstGeom>
          <a:noFill/>
          <a:ln w="18749">
            <a:solidFill>
              <a:schemeClr val="tx2"/>
            </a:solidFill>
            <a:prstDash val="dash"/>
          </a:ln>
        </p:spPr>
      </p:sp>
      <p:sp>
        <p:nvSpPr>
          <p:cNvPr id="21" name="Shape 18"/>
          <p:cNvSpPr/>
          <p:nvPr/>
        </p:nvSpPr>
        <p:spPr>
          <a:xfrm>
            <a:off x="5091755" y="3802026"/>
            <a:ext cx="899940" cy="0"/>
          </a:xfrm>
          <a:prstGeom prst="line">
            <a:avLst/>
          </a:prstGeom>
          <a:noFill/>
          <a:ln w="18749">
            <a:solidFill>
              <a:schemeClr val="tx1"/>
            </a:solidFill>
            <a:prstDash val="solid"/>
            <a:tailEnd type="triangle"/>
          </a:ln>
        </p:spPr>
      </p:sp>
      <p:sp>
        <p:nvSpPr>
          <p:cNvPr id="22" name="Text 19"/>
          <p:cNvSpPr txBox="1"/>
          <p:nvPr/>
        </p:nvSpPr>
        <p:spPr>
          <a:xfrm>
            <a:off x="5076891" y="3567479"/>
            <a:ext cx="929668" cy="170614"/>
          </a:xfrm>
          <a:prstGeom prst="rect">
            <a:avLst/>
          </a:prstGeom>
          <a:noFill/>
          <a:ln/>
        </p:spPr>
        <p:txBody>
          <a:bodyPr wrap="none" lIns="0" tIns="0" rIns="0" bIns="0" rtlCol="0" anchor="t"/>
          <a:lstStyle/>
          <a:p>
            <a:pPr algn="ctr" indent="0" marL="0">
              <a:buNone/>
            </a:pPr>
            <a:r>
              <a:rPr lang="en-US" sz="1033" dirty="0">
                <a:solidFill>
                  <a:schemeClr val="tx2"/>
                </a:solidFill>
                <a:latin typeface="Courier New" pitchFamily="34" charset="0"/>
                <a:ea typeface="Courier New" pitchFamily="34" charset="-122"/>
                <a:cs typeface="Courier New" pitchFamily="34" charset="-120"/>
              </a:rPr>
              <a:t>invoke</a:t>
            </a:r>
            <a:endParaRPr lang="en-US" sz="1033" dirty="0"/>
          </a:p>
        </p:txBody>
      </p:sp>
      <p:sp>
        <p:nvSpPr>
          <p:cNvPr id="23" name="Shape 20"/>
          <p:cNvSpPr/>
          <p:nvPr/>
        </p:nvSpPr>
        <p:spPr>
          <a:xfrm>
            <a:off x="6029192" y="3145820"/>
            <a:ext cx="2343593" cy="1312412"/>
          </a:xfrm>
          <a:prstGeom prst="roundRect">
            <a:avLst>
              <a:gd name="adj" fmla="val 4286"/>
            </a:avLst>
          </a:prstGeom>
          <a:solidFill>
            <a:schemeClr val="accent3">
              <a:alpha val="10000"/>
            </a:schemeClr>
          </a:solidFill>
          <a:ln w="18749">
            <a:solidFill>
              <a:schemeClr val="accent3"/>
            </a:solidFill>
            <a:prstDash val="solid"/>
          </a:ln>
        </p:spPr>
      </p:sp>
      <p:sp>
        <p:nvSpPr>
          <p:cNvPr id="24" name="Text 21"/>
          <p:cNvSpPr txBox="1"/>
          <p:nvPr/>
        </p:nvSpPr>
        <p:spPr>
          <a:xfrm>
            <a:off x="6674284" y="3402677"/>
            <a:ext cx="1053410"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Lambda</a:t>
            </a:r>
            <a:endParaRPr lang="en-US" sz="1476" dirty="0"/>
          </a:p>
        </p:txBody>
      </p:sp>
      <p:sp>
        <p:nvSpPr>
          <p:cNvPr id="25" name="Text 22"/>
          <p:cNvSpPr txBox="1"/>
          <p:nvPr/>
        </p:nvSpPr>
        <p:spPr>
          <a:xfrm>
            <a:off x="6229938" y="3690002"/>
            <a:ext cx="1942101"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nodejs22.x · index.mjs</a:t>
            </a:r>
            <a:endParaRPr lang="en-US" sz="1107" dirty="0"/>
          </a:p>
        </p:txBody>
      </p:sp>
      <p:sp>
        <p:nvSpPr>
          <p:cNvPr id="26" name="Text 23"/>
          <p:cNvSpPr txBox="1"/>
          <p:nvPr/>
        </p:nvSpPr>
        <p:spPr>
          <a:xfrm>
            <a:off x="6364929" y="3914987"/>
            <a:ext cx="1672119"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no endpoint config</a:t>
            </a:r>
            <a:endParaRPr lang="en-US" sz="1107" dirty="0"/>
          </a:p>
        </p:txBody>
      </p:sp>
      <p:sp>
        <p:nvSpPr>
          <p:cNvPr id="27" name="Shape 24"/>
          <p:cNvSpPr/>
          <p:nvPr/>
        </p:nvSpPr>
        <p:spPr>
          <a:xfrm>
            <a:off x="6029192" y="1833407"/>
            <a:ext cx="2343593" cy="712452"/>
          </a:xfrm>
          <a:prstGeom prst="roundRect">
            <a:avLst>
              <a:gd name="adj" fmla="val 7895"/>
            </a:avLst>
          </a:prstGeom>
          <a:solidFill>
            <a:schemeClr val="accent3">
              <a:alpha val="10000"/>
            </a:schemeClr>
          </a:solidFill>
          <a:ln w="18749">
            <a:solidFill>
              <a:schemeClr val="accent3"/>
            </a:solidFill>
            <a:prstDash val="solid"/>
          </a:ln>
        </p:spPr>
      </p:sp>
      <p:sp>
        <p:nvSpPr>
          <p:cNvPr id="28" name="Text 25"/>
          <p:cNvSpPr txBox="1"/>
          <p:nvPr/>
        </p:nvSpPr>
        <p:spPr>
          <a:xfrm>
            <a:off x="6525231" y="1977773"/>
            <a:ext cx="1351515"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Log group</a:t>
            </a:r>
            <a:endParaRPr lang="en-US" sz="1476" dirty="0"/>
          </a:p>
        </p:txBody>
      </p:sp>
      <p:sp>
        <p:nvSpPr>
          <p:cNvPr id="29" name="Text 26"/>
          <p:cNvSpPr txBox="1"/>
          <p:nvPr/>
        </p:nvSpPr>
        <p:spPr>
          <a:xfrm>
            <a:off x="6466173" y="2246349"/>
            <a:ext cx="1469632"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7-day retention</a:t>
            </a:r>
            <a:endParaRPr lang="en-US" sz="1107" dirty="0"/>
          </a:p>
        </p:txBody>
      </p:sp>
      <p:sp>
        <p:nvSpPr>
          <p:cNvPr id="30" name="Shape 27"/>
          <p:cNvSpPr/>
          <p:nvPr/>
        </p:nvSpPr>
        <p:spPr>
          <a:xfrm flipV="1">
            <a:off x="7200989" y="2583357"/>
            <a:ext cx="0" cy="562462"/>
          </a:xfrm>
          <a:prstGeom prst="line">
            <a:avLst/>
          </a:prstGeom>
          <a:noFill/>
          <a:ln w="18749">
            <a:solidFill>
              <a:schemeClr val="tx1"/>
            </a:solidFill>
            <a:prstDash val="solid"/>
            <a:tailEnd type="triangle"/>
          </a:ln>
        </p:spPr>
      </p:sp>
      <p:sp>
        <p:nvSpPr>
          <p:cNvPr id="31" name="Text 28"/>
          <p:cNvSpPr txBox="1"/>
          <p:nvPr/>
        </p:nvSpPr>
        <p:spPr>
          <a:xfrm>
            <a:off x="7313481" y="2798780"/>
            <a:ext cx="929668" cy="170614"/>
          </a:xfrm>
          <a:prstGeom prst="rect">
            <a:avLst/>
          </a:prstGeom>
          <a:noFill/>
          <a:ln/>
        </p:spPr>
        <p:txBody>
          <a:bodyPr wrap="none" lIns="0" tIns="0" rIns="0" bIns="0" rtlCol="0" anchor="t"/>
          <a:lstStyle/>
          <a:p>
            <a:pPr algn="l" indent="0" marL="0">
              <a:buNone/>
            </a:pPr>
            <a:r>
              <a:rPr lang="en-US" sz="1033" dirty="0">
                <a:solidFill>
                  <a:schemeClr val="tx2"/>
                </a:solidFill>
                <a:latin typeface="Courier New" pitchFamily="34" charset="0"/>
                <a:ea typeface="Courier New" pitchFamily="34" charset="-122"/>
                <a:cs typeface="Courier New" pitchFamily="34" charset="-120"/>
              </a:rPr>
              <a:t>writes</a:t>
            </a:r>
            <a:endParaRPr lang="en-US" sz="1033" dirty="0"/>
          </a:p>
        </p:txBody>
      </p:sp>
      <p:sp>
        <p:nvSpPr>
          <p:cNvPr id="32" name="Shape 29"/>
          <p:cNvSpPr/>
          <p:nvPr/>
        </p:nvSpPr>
        <p:spPr>
          <a:xfrm>
            <a:off x="6029192" y="4795709"/>
            <a:ext cx="2343593" cy="749950"/>
          </a:xfrm>
          <a:prstGeom prst="roundRect">
            <a:avLst>
              <a:gd name="adj" fmla="val 7500"/>
            </a:avLst>
          </a:prstGeom>
          <a:solidFill>
            <a:schemeClr val="accent5">
              <a:alpha val="10000"/>
            </a:schemeClr>
          </a:solidFill>
          <a:ln w="18749">
            <a:solidFill>
              <a:schemeClr val="accent5"/>
            </a:solidFill>
            <a:prstDash val="solid"/>
          </a:ln>
        </p:spPr>
      </p:sp>
      <p:sp>
        <p:nvSpPr>
          <p:cNvPr id="33" name="Text 30"/>
          <p:cNvSpPr txBox="1"/>
          <p:nvPr/>
        </p:nvSpPr>
        <p:spPr>
          <a:xfrm>
            <a:off x="6276810" y="4940074"/>
            <a:ext cx="1848357"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Execution role</a:t>
            </a:r>
            <a:endParaRPr lang="en-US" sz="1476" dirty="0"/>
          </a:p>
        </p:txBody>
      </p:sp>
      <p:sp>
        <p:nvSpPr>
          <p:cNvPr id="34" name="Text 31"/>
          <p:cNvSpPr txBox="1"/>
          <p:nvPr/>
        </p:nvSpPr>
        <p:spPr>
          <a:xfrm>
            <a:off x="6128695" y="5208650"/>
            <a:ext cx="2144587"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PutItem + Scan, one table</a:t>
            </a:r>
            <a:endParaRPr lang="en-US" sz="1107" dirty="0"/>
          </a:p>
        </p:txBody>
      </p:sp>
      <p:sp>
        <p:nvSpPr>
          <p:cNvPr id="35" name="Shape 32"/>
          <p:cNvSpPr/>
          <p:nvPr/>
        </p:nvSpPr>
        <p:spPr>
          <a:xfrm flipV="1">
            <a:off x="7200989" y="4495729"/>
            <a:ext cx="0" cy="299980"/>
          </a:xfrm>
          <a:prstGeom prst="line">
            <a:avLst/>
          </a:prstGeom>
          <a:noFill/>
          <a:ln w="18749">
            <a:solidFill>
              <a:schemeClr val="tx2"/>
            </a:solidFill>
            <a:prstDash val="dash"/>
          </a:ln>
        </p:spPr>
      </p:sp>
      <p:sp>
        <p:nvSpPr>
          <p:cNvPr id="36" name="Text 33"/>
          <p:cNvSpPr txBox="1"/>
          <p:nvPr/>
        </p:nvSpPr>
        <p:spPr>
          <a:xfrm>
            <a:off x="7313481" y="4579911"/>
            <a:ext cx="1008413" cy="170614"/>
          </a:xfrm>
          <a:prstGeom prst="rect">
            <a:avLst/>
          </a:prstGeom>
          <a:noFill/>
          <a:ln/>
        </p:spPr>
        <p:txBody>
          <a:bodyPr wrap="none" lIns="0" tIns="0" rIns="0" bIns="0" rtlCol="0" anchor="t"/>
          <a:lstStyle/>
          <a:p>
            <a:pPr algn="l" indent="0" marL="0">
              <a:buNone/>
            </a:pPr>
            <a:r>
              <a:rPr lang="en-US" sz="1033" dirty="0">
                <a:solidFill>
                  <a:schemeClr val="tx2"/>
                </a:solidFill>
                <a:latin typeface="Courier New" pitchFamily="34" charset="0"/>
                <a:ea typeface="Courier New" pitchFamily="34" charset="-122"/>
                <a:cs typeface="Courier New" pitchFamily="34" charset="-120"/>
              </a:rPr>
              <a:t>assumes</a:t>
            </a:r>
            <a:endParaRPr lang="en-US" sz="1033" dirty="0"/>
          </a:p>
        </p:txBody>
      </p:sp>
      <p:sp>
        <p:nvSpPr>
          <p:cNvPr id="37" name="Shape 34"/>
          <p:cNvSpPr/>
          <p:nvPr/>
        </p:nvSpPr>
        <p:spPr>
          <a:xfrm>
            <a:off x="8372785" y="3802026"/>
            <a:ext cx="899940" cy="0"/>
          </a:xfrm>
          <a:prstGeom prst="line">
            <a:avLst/>
          </a:prstGeom>
          <a:noFill/>
          <a:ln w="18749">
            <a:solidFill>
              <a:schemeClr val="tx1"/>
            </a:solidFill>
            <a:prstDash val="solid"/>
            <a:tailEnd type="triangle"/>
          </a:ln>
        </p:spPr>
      </p:sp>
      <p:sp>
        <p:nvSpPr>
          <p:cNvPr id="38" name="Text 35"/>
          <p:cNvSpPr txBox="1"/>
          <p:nvPr/>
        </p:nvSpPr>
        <p:spPr>
          <a:xfrm>
            <a:off x="8200431" y="3567479"/>
            <a:ext cx="1244647" cy="170614"/>
          </a:xfrm>
          <a:prstGeom prst="rect">
            <a:avLst/>
          </a:prstGeom>
          <a:noFill/>
          <a:ln/>
        </p:spPr>
        <p:txBody>
          <a:bodyPr wrap="none" lIns="0" tIns="0" rIns="0" bIns="0" rtlCol="0" anchor="t"/>
          <a:lstStyle/>
          <a:p>
            <a:pPr algn="ctr" indent="0" marL="0">
              <a:buNone/>
            </a:pPr>
            <a:r>
              <a:rPr lang="en-US" sz="1033" dirty="0">
                <a:solidFill>
                  <a:schemeClr val="tx2"/>
                </a:solidFill>
                <a:latin typeface="Courier New" pitchFamily="34" charset="0"/>
                <a:ea typeface="Courier New" pitchFamily="34" charset="-122"/>
                <a:cs typeface="Courier New" pitchFamily="34" charset="-120"/>
              </a:rPr>
              <a:t>Put / Scan</a:t>
            </a:r>
            <a:endParaRPr lang="en-US" sz="1033" dirty="0"/>
          </a:p>
        </p:txBody>
      </p:sp>
      <p:sp>
        <p:nvSpPr>
          <p:cNvPr id="39" name="Shape 36"/>
          <p:cNvSpPr/>
          <p:nvPr/>
        </p:nvSpPr>
        <p:spPr>
          <a:xfrm>
            <a:off x="9310222" y="3239563"/>
            <a:ext cx="2024864" cy="1124925"/>
          </a:xfrm>
          <a:prstGeom prst="roundRect">
            <a:avLst>
              <a:gd name="adj" fmla="val 5000"/>
            </a:avLst>
          </a:prstGeom>
          <a:solidFill>
            <a:schemeClr val="accent4">
              <a:alpha val="10000"/>
            </a:schemeClr>
          </a:solidFill>
          <a:ln w="18749">
            <a:solidFill>
              <a:schemeClr val="accent4"/>
            </a:solidFill>
            <a:prstDash val="solid"/>
          </a:ln>
        </p:spPr>
      </p:sp>
      <p:sp>
        <p:nvSpPr>
          <p:cNvPr id="40" name="Text 37"/>
          <p:cNvSpPr txBox="1"/>
          <p:nvPr/>
        </p:nvSpPr>
        <p:spPr>
          <a:xfrm>
            <a:off x="9696581" y="3477672"/>
            <a:ext cx="1252147" cy="243734"/>
          </a:xfrm>
          <a:prstGeom prst="rect">
            <a:avLst/>
          </a:prstGeom>
          <a:noFill/>
          <a:ln/>
        </p:spPr>
        <p:txBody>
          <a:bodyPr wrap="none" lIns="0" tIns="0" rIns="0" bIns="0" rtlCol="0" anchor="t"/>
          <a:lstStyle/>
          <a:p>
            <a:pPr algn="ctr" indent="0" marL="0">
              <a:buNone/>
            </a:pPr>
            <a:r>
              <a:rPr lang="en-US" sz="1476" b="1" dirty="0">
                <a:solidFill>
                  <a:schemeClr val="tx1"/>
                </a:solidFill>
                <a:latin typeface="Arial" pitchFamily="34" charset="0"/>
                <a:ea typeface="Arial" pitchFamily="34" charset="-122"/>
                <a:cs typeface="Arial" pitchFamily="34" charset="-120"/>
              </a:rPr>
              <a:t>DynamoDB</a:t>
            </a:r>
            <a:endParaRPr lang="en-US" sz="1476" dirty="0"/>
          </a:p>
        </p:txBody>
      </p:sp>
      <p:sp>
        <p:nvSpPr>
          <p:cNvPr id="41" name="Text 38"/>
          <p:cNvSpPr txBox="1"/>
          <p:nvPr/>
        </p:nvSpPr>
        <p:spPr>
          <a:xfrm>
            <a:off x="9790325" y="3764997"/>
            <a:ext cx="1064659"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on-demand</a:t>
            </a:r>
            <a:endParaRPr lang="en-US" sz="1107" dirty="0"/>
          </a:p>
        </p:txBody>
      </p:sp>
      <p:sp>
        <p:nvSpPr>
          <p:cNvPr id="42" name="Text 39"/>
          <p:cNvSpPr txBox="1"/>
          <p:nvPr/>
        </p:nvSpPr>
        <p:spPr>
          <a:xfrm>
            <a:off x="9857820" y="3971233"/>
            <a:ext cx="929668" cy="182800"/>
          </a:xfrm>
          <a:prstGeom prst="rect">
            <a:avLst/>
          </a:prstGeom>
          <a:noFill/>
          <a:ln/>
        </p:spPr>
        <p:txBody>
          <a:bodyPr wrap="none" lIns="0" tIns="0" rIns="0" bIns="0" rtlCol="0" anchor="t"/>
          <a:lstStyle/>
          <a:p>
            <a:pPr algn="ctr" indent="0" marL="0">
              <a:buNone/>
            </a:pPr>
            <a:r>
              <a:rPr lang="en-US" sz="1107" dirty="0">
                <a:solidFill>
                  <a:schemeClr val="tx2"/>
                </a:solidFill>
                <a:latin typeface="Arial" pitchFamily="34" charset="0"/>
                <a:ea typeface="Arial" pitchFamily="34" charset="-122"/>
                <a:cs typeface="Arial" pitchFamily="34" charset="-120"/>
              </a:rPr>
              <a:t>key: id</a:t>
            </a:r>
            <a:endParaRPr lang="en-US" sz="1107" dirty="0"/>
          </a:p>
        </p:txBody>
      </p:sp>
      <p:sp>
        <p:nvSpPr>
          <p:cNvPr id="43" name="Caption"/>
          <p:cNvSpPr txBox="1"/>
          <p:nvPr/>
        </p:nvSpPr>
        <p:spPr>
          <a:xfrm>
            <a:off x="685800" y="5814060"/>
            <a:ext cx="10058400" cy="43434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Every arrow needs a permission. The brick boxes are the part you'll get wrong, and on this emulator the part you can't test.</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TERRAFORM PLAN</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ledger</a:t>
            </a:r>
            <a:endParaRPr lang="en-US" sz="3600" dirty="0"/>
          </a:p>
        </p:txBody>
      </p:sp>
      <p:sp>
        <p:nvSpPr>
          <p:cNvPr id="6" name="Shape 3"/>
          <p:cNvSpPr/>
          <p:nvPr/>
        </p:nvSpPr>
        <p:spPr>
          <a:xfrm>
            <a:off x="685800" y="1801368"/>
            <a:ext cx="114300" cy="114300"/>
          </a:xfrm>
          <a:prstGeom prst="roundRect">
            <a:avLst>
              <a:gd name="adj" fmla="val 16000"/>
            </a:avLst>
          </a:prstGeom>
          <a:solidFill>
            <a:schemeClr val="accent5"/>
          </a:solidFill>
          <a:ln/>
        </p:spPr>
      </p:sp>
      <p:sp>
        <p:nvSpPr>
          <p:cNvPr id="7" name="Ledger group"/>
          <p:cNvSpPr txBox="1"/>
          <p:nvPr/>
        </p:nvSpPr>
        <p:spPr>
          <a:xfrm>
            <a:off x="886968" y="1755648"/>
            <a:ext cx="4980432" cy="219456"/>
          </a:xfrm>
          <a:prstGeom prst="rect">
            <a:avLst/>
          </a:prstGeom>
          <a:noFill/>
          <a:ln/>
        </p:spPr>
        <p:txBody>
          <a:bodyPr wrap="square" lIns="0" tIns="0" rIns="0" bIns="0" rtlCol="0" anchor="t"/>
          <a:lstStyle/>
          <a:p>
            <a:pPr indent="0" marL="0">
              <a:buNone/>
            </a:pPr>
            <a:r>
              <a:rPr lang="en-US" sz="1050" spc="100" kern="0" dirty="0">
                <a:solidFill>
                  <a:schemeClr val="accent5"/>
                </a:solidFill>
                <a:latin typeface="Courier New" pitchFamily="34" charset="0"/>
                <a:ea typeface="Courier New" pitchFamily="34" charset="-122"/>
                <a:cs typeface="Courier New" pitchFamily="34" charset="-120"/>
              </a:rPr>
              <a:t>ACCESS · 5</a:t>
            </a:r>
            <a:endParaRPr lang="en-US" sz="1050" dirty="0"/>
          </a:p>
        </p:txBody>
      </p:sp>
      <p:sp>
        <p:nvSpPr>
          <p:cNvPr id="8" name="Text 5"/>
          <p:cNvSpPr txBox="1"/>
          <p:nvPr/>
        </p:nvSpPr>
        <p:spPr>
          <a:xfrm>
            <a:off x="685800" y="20299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9" name="Ledger resource"/>
          <p:cNvSpPr txBox="1"/>
          <p:nvPr/>
        </p:nvSpPr>
        <p:spPr>
          <a:xfrm>
            <a:off x="896112" y="20299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aws_iam_role.function</a:t>
            </a:r>
            <a:endParaRPr lang="en-US" sz="1350" dirty="0"/>
          </a:p>
        </p:txBody>
      </p:sp>
      <p:sp>
        <p:nvSpPr>
          <p:cNvPr id="10" name="Text 7"/>
          <p:cNvSpPr txBox="1"/>
          <p:nvPr/>
        </p:nvSpPr>
        <p:spPr>
          <a:xfrm>
            <a:off x="896112" y="227685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Trust: only lambda.amazonaws.com</a:t>
            </a:r>
            <a:endParaRPr lang="en-US" sz="1200" dirty="0"/>
          </a:p>
        </p:txBody>
      </p:sp>
      <p:sp>
        <p:nvSpPr>
          <p:cNvPr id="11" name="Text 8"/>
          <p:cNvSpPr txBox="1"/>
          <p:nvPr/>
        </p:nvSpPr>
        <p:spPr>
          <a:xfrm>
            <a:off x="685800" y="253288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2" name="Ledger resource"/>
          <p:cNvSpPr txBox="1"/>
          <p:nvPr/>
        </p:nvSpPr>
        <p:spPr>
          <a:xfrm>
            <a:off x="896112" y="253288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aws_iam_role_policy.table</a:t>
            </a:r>
            <a:endParaRPr lang="en-US" sz="1350" dirty="0"/>
          </a:p>
        </p:txBody>
      </p:sp>
      <p:sp>
        <p:nvSpPr>
          <p:cNvPr id="13" name="Text 10"/>
          <p:cNvSpPr txBox="1"/>
          <p:nvPr/>
        </p:nvSpPr>
        <p:spPr>
          <a:xfrm>
            <a:off x="896112" y="277977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Two actions on one table ARN</a:t>
            </a:r>
            <a:endParaRPr lang="en-US" sz="1200" dirty="0"/>
          </a:p>
        </p:txBody>
      </p:sp>
      <p:sp>
        <p:nvSpPr>
          <p:cNvPr id="14" name="Text 11"/>
          <p:cNvSpPr txBox="1"/>
          <p:nvPr/>
        </p:nvSpPr>
        <p:spPr>
          <a:xfrm>
            <a:off x="685800" y="303580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5" name="Ledger resource"/>
          <p:cNvSpPr txBox="1"/>
          <p:nvPr/>
        </p:nvSpPr>
        <p:spPr>
          <a:xfrm>
            <a:off x="896112" y="303580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aws_iam_role_policy.logs</a:t>
            </a:r>
            <a:endParaRPr lang="en-US" sz="1350" dirty="0"/>
          </a:p>
        </p:txBody>
      </p:sp>
      <p:sp>
        <p:nvSpPr>
          <p:cNvPr id="16" name="Text 13"/>
          <p:cNvSpPr txBox="1"/>
          <p:nvPr/>
        </p:nvSpPr>
        <p:spPr>
          <a:xfrm>
            <a:off x="896112" y="328269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Its own log group, not every group</a:t>
            </a:r>
            <a:endParaRPr lang="en-US" sz="1200" dirty="0"/>
          </a:p>
        </p:txBody>
      </p:sp>
      <p:sp>
        <p:nvSpPr>
          <p:cNvPr id="17" name="Text 14"/>
          <p:cNvSpPr txBox="1"/>
          <p:nvPr/>
        </p:nvSpPr>
        <p:spPr>
          <a:xfrm>
            <a:off x="685800" y="353872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8" name="Ledger resource"/>
          <p:cNvSpPr txBox="1"/>
          <p:nvPr/>
        </p:nvSpPr>
        <p:spPr>
          <a:xfrm>
            <a:off x="896112" y="353872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aws_lambda_permission.url</a:t>
            </a:r>
            <a:endParaRPr lang="en-US" sz="1350" dirty="0"/>
          </a:p>
        </p:txBody>
      </p:sp>
      <p:sp>
        <p:nvSpPr>
          <p:cNvPr id="19" name="Text 16"/>
          <p:cNvSpPr txBox="1"/>
          <p:nvPr/>
        </p:nvSpPr>
        <p:spPr>
          <a:xfrm>
            <a:off x="685800" y="384048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0" name="Ledger resource"/>
          <p:cNvSpPr txBox="1"/>
          <p:nvPr/>
        </p:nvSpPr>
        <p:spPr>
          <a:xfrm>
            <a:off x="896112" y="384048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aws_lambda_permission.invoke_via_url</a:t>
            </a:r>
            <a:endParaRPr lang="en-US" sz="1350" dirty="0"/>
          </a:p>
        </p:txBody>
      </p:sp>
      <p:sp>
        <p:nvSpPr>
          <p:cNvPr id="21" name="Text 18"/>
          <p:cNvSpPr txBox="1"/>
          <p:nvPr/>
        </p:nvSpPr>
        <p:spPr>
          <a:xfrm>
            <a:off x="896112" y="4087368"/>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The one older tutorials miss</a:t>
            </a:r>
            <a:endParaRPr lang="en-US" sz="1200" dirty="0"/>
          </a:p>
        </p:txBody>
      </p:sp>
      <p:sp>
        <p:nvSpPr>
          <p:cNvPr id="22" name="Shape 19"/>
          <p:cNvSpPr/>
          <p:nvPr/>
        </p:nvSpPr>
        <p:spPr>
          <a:xfrm>
            <a:off x="685800" y="4498848"/>
            <a:ext cx="114300" cy="114300"/>
          </a:xfrm>
          <a:prstGeom prst="roundRect">
            <a:avLst>
              <a:gd name="adj" fmla="val 16000"/>
            </a:avLst>
          </a:prstGeom>
          <a:solidFill>
            <a:schemeClr val="accent3"/>
          </a:solidFill>
          <a:ln/>
        </p:spPr>
      </p:sp>
      <p:sp>
        <p:nvSpPr>
          <p:cNvPr id="23" name="Ledger group"/>
          <p:cNvSpPr txBox="1"/>
          <p:nvPr/>
        </p:nvSpPr>
        <p:spPr>
          <a:xfrm>
            <a:off x="886968" y="4453128"/>
            <a:ext cx="4980432" cy="219456"/>
          </a:xfrm>
          <a:prstGeom prst="rect">
            <a:avLst/>
          </a:prstGeom>
          <a:noFill/>
          <a:ln/>
        </p:spPr>
        <p:txBody>
          <a:bodyPr wrap="square" lIns="0" tIns="0" rIns="0" bIns="0" rtlCol="0" anchor="t"/>
          <a:lstStyle/>
          <a:p>
            <a:pPr indent="0" marL="0">
              <a:buNone/>
            </a:pPr>
            <a:r>
              <a:rPr lang="en-US" sz="1050" spc="100" kern="0" dirty="0">
                <a:solidFill>
                  <a:schemeClr val="accent3"/>
                </a:solidFill>
                <a:latin typeface="Courier New" pitchFamily="34" charset="0"/>
                <a:ea typeface="Courier New" pitchFamily="34" charset="-122"/>
                <a:cs typeface="Courier New" pitchFamily="34" charset="-120"/>
              </a:rPr>
              <a:t>COMPUTE · 3</a:t>
            </a:r>
            <a:endParaRPr lang="en-US" sz="1050" dirty="0"/>
          </a:p>
        </p:txBody>
      </p:sp>
      <p:sp>
        <p:nvSpPr>
          <p:cNvPr id="24" name="Text 21"/>
          <p:cNvSpPr txBox="1"/>
          <p:nvPr/>
        </p:nvSpPr>
        <p:spPr>
          <a:xfrm>
            <a:off x="685800" y="472744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5" name="Ledger resource"/>
          <p:cNvSpPr txBox="1"/>
          <p:nvPr/>
        </p:nvSpPr>
        <p:spPr>
          <a:xfrm>
            <a:off x="896112" y="472744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aws_cloudwatch_log_group.function</a:t>
            </a:r>
            <a:endParaRPr lang="en-US" sz="1350" dirty="0"/>
          </a:p>
        </p:txBody>
      </p:sp>
      <p:sp>
        <p:nvSpPr>
          <p:cNvPr id="26" name="Text 23"/>
          <p:cNvSpPr txBox="1"/>
          <p:nvPr/>
        </p:nvSpPr>
        <p:spPr>
          <a:xfrm>
            <a:off x="6324600" y="164592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7" name="Ledger resource"/>
          <p:cNvSpPr txBox="1"/>
          <p:nvPr/>
        </p:nvSpPr>
        <p:spPr>
          <a:xfrm>
            <a:off x="6534912" y="164592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aws_lambda_function.api</a:t>
            </a:r>
            <a:endParaRPr lang="en-US" sz="1350" dirty="0"/>
          </a:p>
        </p:txBody>
      </p:sp>
      <p:sp>
        <p:nvSpPr>
          <p:cNvPr id="28" name="Text 25"/>
          <p:cNvSpPr txBox="1"/>
          <p:nvPr/>
        </p:nvSpPr>
        <p:spPr>
          <a:xfrm>
            <a:off x="6534912" y="1892808"/>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Zipped by Terraform from function/</a:t>
            </a:r>
            <a:endParaRPr lang="en-US" sz="1200" dirty="0"/>
          </a:p>
        </p:txBody>
      </p:sp>
      <p:sp>
        <p:nvSpPr>
          <p:cNvPr id="29" name="Text 26"/>
          <p:cNvSpPr txBox="1"/>
          <p:nvPr/>
        </p:nvSpPr>
        <p:spPr>
          <a:xfrm>
            <a:off x="6324600" y="214884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0" name="Ledger resource"/>
          <p:cNvSpPr txBox="1"/>
          <p:nvPr/>
        </p:nvSpPr>
        <p:spPr>
          <a:xfrm>
            <a:off x="6534912" y="214884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aws_lambda_function_url.api</a:t>
            </a:r>
            <a:endParaRPr lang="en-US" sz="1350" dirty="0"/>
          </a:p>
        </p:txBody>
      </p:sp>
      <p:sp>
        <p:nvSpPr>
          <p:cNvPr id="31" name="Shape 28"/>
          <p:cNvSpPr/>
          <p:nvPr/>
        </p:nvSpPr>
        <p:spPr>
          <a:xfrm>
            <a:off x="6324600" y="2606040"/>
            <a:ext cx="114300" cy="114300"/>
          </a:xfrm>
          <a:prstGeom prst="roundRect">
            <a:avLst>
              <a:gd name="adj" fmla="val 16000"/>
            </a:avLst>
          </a:prstGeom>
          <a:solidFill>
            <a:schemeClr val="accent4"/>
          </a:solidFill>
          <a:ln/>
        </p:spPr>
      </p:sp>
      <p:sp>
        <p:nvSpPr>
          <p:cNvPr id="32" name="Ledger group"/>
          <p:cNvSpPr txBox="1"/>
          <p:nvPr/>
        </p:nvSpPr>
        <p:spPr>
          <a:xfrm>
            <a:off x="6525768" y="2560320"/>
            <a:ext cx="4980432" cy="219456"/>
          </a:xfrm>
          <a:prstGeom prst="rect">
            <a:avLst/>
          </a:prstGeom>
          <a:noFill/>
          <a:ln/>
        </p:spPr>
        <p:txBody>
          <a:bodyPr wrap="square" lIns="0" tIns="0" rIns="0" bIns="0" rtlCol="0" anchor="t"/>
          <a:lstStyle/>
          <a:p>
            <a:pPr indent="0" marL="0">
              <a:buNone/>
            </a:pPr>
            <a:r>
              <a:rPr lang="en-US" sz="1050" spc="100" kern="0" dirty="0">
                <a:solidFill>
                  <a:schemeClr val="accent4"/>
                </a:solidFill>
                <a:latin typeface="Courier New" pitchFamily="34" charset="0"/>
                <a:ea typeface="Courier New" pitchFamily="34" charset="-122"/>
                <a:cs typeface="Courier New" pitchFamily="34" charset="-120"/>
              </a:rPr>
              <a:t>DATA · 1</a:t>
            </a:r>
            <a:endParaRPr lang="en-US" sz="1050" dirty="0"/>
          </a:p>
        </p:txBody>
      </p:sp>
      <p:sp>
        <p:nvSpPr>
          <p:cNvPr id="33" name="Text 30"/>
          <p:cNvSpPr txBox="1"/>
          <p:nvPr/>
        </p:nvSpPr>
        <p:spPr>
          <a:xfrm>
            <a:off x="6324600" y="283464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4" name="Ledger resource"/>
          <p:cNvSpPr txBox="1"/>
          <p:nvPr/>
        </p:nvSpPr>
        <p:spPr>
          <a:xfrm>
            <a:off x="6534912" y="283464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aws_dynamodb_table.messages</a:t>
            </a:r>
            <a:endParaRPr lang="en-US" sz="1350" dirty="0"/>
          </a:p>
        </p:txBody>
      </p:sp>
      <p:sp>
        <p:nvSpPr>
          <p:cNvPr id="35" name="Shape 32"/>
          <p:cNvSpPr/>
          <p:nvPr/>
        </p:nvSpPr>
        <p:spPr>
          <a:xfrm>
            <a:off x="685800" y="5836920"/>
            <a:ext cx="10820400" cy="0"/>
          </a:xfrm>
          <a:prstGeom prst="line">
            <a:avLst/>
          </a:prstGeom>
          <a:noFill/>
          <a:ln w="9525">
            <a:solidFill>
              <a:srgbClr val="D3D9D2"/>
            </a:solidFill>
            <a:prstDash val="solid"/>
          </a:ln>
        </p:spPr>
      </p:sp>
      <p:sp>
        <p:nvSpPr>
          <p:cNvPr id="36" name="Plan summary"/>
          <p:cNvSpPr txBox="1"/>
          <p:nvPr/>
        </p:nvSpPr>
        <p:spPr>
          <a:xfrm>
            <a:off x="685800" y="5928360"/>
            <a:ext cx="10820400" cy="274320"/>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Plan: 9 to add</a:t>
            </a:r>
            <a:pPr indent="0" marL="0">
              <a:buNone/>
            </a:pPr>
            <a:r>
              <a:rPr lang="en-US" sz="1350" dirty="0">
                <a:solidFill>
                  <a:schemeClr val="tx1"/>
                </a:solidFill>
                <a:latin typeface="Courier New" pitchFamily="34" charset="0"/>
                <a:ea typeface="Courier New" pitchFamily="34" charset="-122"/>
                <a:cs typeface="Courier New" pitchFamily="34" charset="-120"/>
              </a:rPr>
              <a:t>, 0 to change, 0 to destroy.</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main.tf · 166 lines</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network resources · 0</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CODE THAT MATTERS</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"Public" still needs two permissions</a:t>
            </a:r>
            <a:endParaRPr lang="en-US" sz="3600" dirty="0"/>
          </a:p>
        </p:txBody>
      </p:sp>
      <p:sp>
        <p:nvSpPr>
          <p:cNvPr id="6" name="Code"/>
          <p:cNvSpPr txBox="1"/>
          <p:nvPr/>
        </p:nvSpPr>
        <p:spPr>
          <a:xfrm>
            <a:off x="685800" y="1645920"/>
            <a:ext cx="5975390" cy="3770143"/>
          </a:xfrm>
          <a:prstGeom prst="roundRect">
            <a:avLst>
              <a:gd name="adj" fmla="val 1455"/>
            </a:avLst>
          </a:prstGeom>
          <a:solidFill>
            <a:srgbClr val="E6EAE4"/>
          </a:solidFill>
          <a:ln/>
        </p:spPr>
        <p:txBody>
          <a:bodyPr wrap="square" lIns="246888" tIns="246888" rIns="246888" bIns="246888" rtlCol="0" anchor="t"/>
          <a:lstStyle/>
          <a:p>
            <a:pPr indent="0" marL="0">
              <a:lnSpc>
                <a:spcPct val="105000"/>
              </a:lnSpc>
              <a:buNone/>
            </a:pPr>
            <a:r>
              <a:rPr lang="en-US" sz="1240"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"aws_lambda_function_url"</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"api"</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function_name      = aws_lambda_function.api.function_name</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authorization_type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"NONE"</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endParaRPr lang="en-US" sz="1240" dirty="0"/>
          </a:p>
          <a:p>
            <a:pPr indent="0" marL="0">
              <a:lnSpc>
                <a:spcPct val="105000"/>
              </a:lnSpc>
              <a:buNone/>
            </a:pPr>
            <a:r>
              <a:rPr lang="en-US" sz="1240"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"aws_lambda_permission"</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"url"</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action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"lambda:InvokeFunctionUrl"</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principal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function_url_auth_type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"NONE"</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endParaRPr lang="en-US" sz="1240" dirty="0"/>
          </a:p>
          <a:p>
            <a:pPr indent="0" marL="0">
              <a:lnSpc>
                <a:spcPct val="105000"/>
              </a:lnSpc>
              <a:buNone/>
            </a:pPr>
            <a:r>
              <a:rPr lang="en-US" sz="1240"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"aws_lambda_permission"</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"invoke_via_url"</a:t>
            </a:r>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 {</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action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"lambda:InvokeFunction"</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principal                = </a:t>
            </a:r>
            <a:pPr indent="0" marL="0">
              <a:lnSpc>
                <a:spcPct val="105000"/>
              </a:lnSpc>
              <a:buNone/>
            </a:pPr>
            <a:r>
              <a:rPr lang="en-US" sz="1240" dirty="0">
                <a:solidFill>
                  <a:schemeClr val="accent4"/>
                </a:solidFill>
                <a:latin typeface="Courier New" pitchFamily="34" charset="0"/>
                <a:ea typeface="Courier New" pitchFamily="34" charset="-122"/>
                <a:cs typeface="Courier New" pitchFamily="34" charset="-120"/>
              </a:rPr>
              <a:t>"*"</a:t>
            </a:r>
            <a:endParaRPr lang="en-US" sz="1240" dirty="0"/>
          </a:p>
          <a:p>
            <a:pPr indent="0" marL="0">
              <a:lnSpc>
                <a:spcPct val="105000"/>
              </a:lnSpc>
              <a:buNone/>
            </a:pPr>
            <a:r>
              <a:rPr lang="en-US" sz="1240" dirty="0">
                <a:solidFill>
                  <a:schemeClr val="tx1"/>
                </a:solidFill>
                <a:highlight>
                  <a:srgbClr val="CBE3D3"/>
                </a:highlight>
                <a:latin typeface="Courier New" pitchFamily="34" charset="0"/>
                <a:ea typeface="Courier New" pitchFamily="34" charset="-122"/>
                <a:cs typeface="Courier New" pitchFamily="34" charset="-120"/>
              </a:rPr>
              <a:t>invoked_via_function_url = true</a:t>
            </a:r>
            <a:endParaRPr lang="en-US" sz="1240" dirty="0"/>
          </a:p>
          <a:p>
            <a:pPr indent="0" marL="0">
              <a:lnSpc>
                <a:spcPct val="105000"/>
              </a:lnSpc>
              <a:buNone/>
            </a:pPr>
            <a:r>
              <a:rPr lang="en-US" sz="1240" dirty="0">
                <a:solidFill>
                  <a:schemeClr val="tx1"/>
                </a:solidFill>
                <a:latin typeface="Courier New" pitchFamily="34" charset="0"/>
                <a:ea typeface="Courier New" pitchFamily="34" charset="-122"/>
                <a:cs typeface="Courier New" pitchFamily="34" charset="-120"/>
              </a:rPr>
              <a:t>}</a:t>
            </a:r>
            <a:endParaRPr lang="en-US" sz="1240" dirty="0"/>
          </a:p>
        </p:txBody>
      </p:sp>
      <p:sp>
        <p:nvSpPr>
          <p:cNvPr id="7" name="Text 4"/>
          <p:cNvSpPr txBox="1"/>
          <p:nvPr/>
        </p:nvSpPr>
        <p:spPr>
          <a:xfrm>
            <a:off x="7079985" y="1645920"/>
            <a:ext cx="4426215"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SINCE OCTOBER 2025</a:t>
            </a:r>
            <a:endParaRPr lang="en-US" sz="1050" dirty="0"/>
          </a:p>
        </p:txBody>
      </p:sp>
      <p:sp>
        <p:nvSpPr>
          <p:cNvPr id="8" name="Callout"/>
          <p:cNvSpPr txBox="1"/>
          <p:nvPr/>
        </p:nvSpPr>
        <p:spPr>
          <a:xfrm>
            <a:off x="7079985" y="2039112"/>
            <a:ext cx="4426215" cy="75438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New function URLs need both statements, even with auth </a:t>
            </a:r>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NONE</a:t>
            </a:r>
            <a:pPr indent="0" marL="0">
              <a:lnSpc>
                <a:spcPct val="100000"/>
              </a:lnSpc>
              <a:buNone/>
            </a:pPr>
            <a:r>
              <a:rPr lang="en-US" sz="1650" dirty="0">
                <a:solidFill>
                  <a:schemeClr val="tx1"/>
                </a:solidFill>
                <a:latin typeface="Arial" pitchFamily="34" charset="0"/>
                <a:ea typeface="Arial" pitchFamily="34" charset="-122"/>
                <a:cs typeface="Arial" pitchFamily="34" charset="-120"/>
              </a:rPr>
              <a:t>. Miss the second and callers get </a:t>
            </a:r>
            <a:pPr indent="0" marL="0">
              <a:lnSpc>
                <a:spcPct val="100000"/>
              </a:lnSpc>
              <a:buNone/>
            </a:pPr>
            <a:r>
              <a:rPr lang="en-US" sz="1650" b="1" dirty="0">
                <a:solidFill>
                  <a:schemeClr val="tx1"/>
                </a:solidFill>
                <a:latin typeface="Arial" pitchFamily="34" charset="0"/>
                <a:ea typeface="Arial" pitchFamily="34" charset="-122"/>
                <a:cs typeface="Arial" pitchFamily="34" charset="-120"/>
              </a:rPr>
              <a:t>403 Forbidden</a:t>
            </a:r>
            <a:pPr indent="0" marL="0">
              <a:lnSpc>
                <a:spcPct val="100000"/>
              </a:lnSpc>
              <a:buNone/>
            </a:pPr>
            <a:r>
              <a:rPr lang="en-US" sz="1650" dirty="0">
                <a:solidFill>
                  <a:schemeClr val="tx1"/>
                </a:solidFill>
                <a:latin typeface="Arial" pitchFamily="34" charset="0"/>
                <a:ea typeface="Arial" pitchFamily="34" charset="-122"/>
                <a:cs typeface="Arial" pitchFamily="34" charset="-120"/>
              </a:rPr>
              <a:t>.</a:t>
            </a:r>
            <a:endParaRPr lang="en-US" sz="1650" dirty="0"/>
          </a:p>
        </p:txBody>
      </p:sp>
      <p:sp>
        <p:nvSpPr>
          <p:cNvPr id="9" name="Callout"/>
          <p:cNvSpPr txBox="1"/>
          <p:nvPr/>
        </p:nvSpPr>
        <p:spPr>
          <a:xfrm>
            <a:off x="7079985" y="2985516"/>
            <a:ext cx="4426215" cy="100584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The console and SAM add both for you. Terraform, the CLI and CloudFormation don't, so anything copied from an older tutorial is missing one.</a:t>
            </a:r>
            <a:endParaRPr lang="en-US" sz="1650" dirty="0"/>
          </a:p>
        </p:txBody>
      </p:sp>
      <p:sp>
        <p:nvSpPr>
          <p:cNvPr id="10" name="Callout"/>
          <p:cNvSpPr txBox="1"/>
          <p:nvPr/>
        </p:nvSpPr>
        <p:spPr>
          <a:xfrm>
            <a:off x="7079985" y="4183380"/>
            <a:ext cx="4426215" cy="25146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docs.aws.amazon.com/lambda/latest/dg/urls-auth.html</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DEMO</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31 seconds from nothing</a:t>
            </a:r>
            <a:endParaRPr lang="en-US" sz="3600" dirty="0"/>
          </a:p>
        </p:txBody>
      </p:sp>
      <p:sp>
        <p:nvSpPr>
          <p:cNvPr id="6" name="Terminal"/>
          <p:cNvSpPr txBox="1"/>
          <p:nvPr/>
        </p:nvSpPr>
        <p:spPr>
          <a:xfrm>
            <a:off x="685800" y="1645920"/>
            <a:ext cx="5143652" cy="2611184"/>
          </a:xfrm>
          <a:prstGeom prst="roundRect">
            <a:avLst>
              <a:gd name="adj" fmla="val 2101"/>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lambda</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Apply complete! Resources: 9 added</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POST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"id": "097f7256-…",</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"message": "hello from make lambda"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GET ═══</a:t>
            </a:r>
            <a:endParaRPr lang="en-US" sz="1425" dirty="0"/>
          </a:p>
          <a:p>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 "count": 1, "messages": [ … ] }</a:t>
            </a:r>
            <a:endParaRPr lang="en-US" sz="1425" dirty="0"/>
          </a:p>
        </p:txBody>
      </p:sp>
      <p:sp>
        <p:nvSpPr>
          <p:cNvPr id="7" name="Tag"/>
          <p:cNvSpPr txBox="1"/>
          <p:nvPr/>
        </p:nvSpPr>
        <p:spPr>
          <a:xfrm>
            <a:off x="6362548" y="1673352"/>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8" name="Note"/>
          <p:cNvSpPr txBox="1"/>
          <p:nvPr/>
        </p:nvSpPr>
        <p:spPr>
          <a:xfrm>
            <a:off x="7505548" y="1645920"/>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Floci runs Lambda in a Docker container. The first invoke pulls a 618 MB </a:t>
            </a:r>
            <a:pPr indent="0" marL="0">
              <a:buNone/>
            </a:pPr>
            <a:r>
              <a:rPr lang="en-US" sz="1320" dirty="0">
                <a:solidFill>
                  <a:schemeClr val="tx1"/>
                </a:solidFill>
                <a:latin typeface="Courier New" pitchFamily="34" charset="0"/>
                <a:ea typeface="Courier New" pitchFamily="34" charset="-122"/>
                <a:cs typeface="Courier New" pitchFamily="34" charset="-120"/>
              </a:rPr>
              <a:t>nodejs:22</a:t>
            </a:r>
            <a:pPr indent="0" marL="0">
              <a:buNone/>
            </a:pPr>
            <a:r>
              <a:rPr lang="en-US" sz="1500" dirty="0">
                <a:solidFill>
                  <a:schemeClr val="tx1"/>
                </a:solidFill>
                <a:latin typeface="Arial" pitchFamily="34" charset="0"/>
                <a:ea typeface="Arial" pitchFamily="34" charset="-122"/>
                <a:cs typeface="Arial" pitchFamily="34" charset="-120"/>
              </a:rPr>
              <a:t> image, and you can watch it in </a:t>
            </a:r>
            <a:pPr indent="0" marL="0">
              <a:buNone/>
            </a:pPr>
            <a:r>
              <a:rPr lang="en-US" sz="1320" dirty="0">
                <a:solidFill>
                  <a:schemeClr val="tx1"/>
                </a:solidFill>
                <a:latin typeface="Courier New" pitchFamily="34" charset="0"/>
                <a:ea typeface="Courier New" pitchFamily="34" charset="-122"/>
                <a:cs typeface="Courier New" pitchFamily="34" charset="-120"/>
              </a:rPr>
              <a:t>docker ps</a:t>
            </a:r>
            <a:pPr indent="0" marL="0">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9" name="Tag"/>
          <p:cNvSpPr txBox="1"/>
          <p:nvPr/>
        </p:nvSpPr>
        <p:spPr>
          <a:xfrm>
            <a:off x="6362548" y="2514600"/>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0" name="Note"/>
          <p:cNvSpPr txBox="1"/>
          <p:nvPr/>
        </p:nvSpPr>
        <p:spPr>
          <a:xfrm>
            <a:off x="7505548" y="2487168"/>
            <a:ext cx="4000652" cy="4572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By default Floci accepts any IAM policy, so </a:t>
            </a:r>
            <a:pPr indent="0" marL="0">
              <a:buNone/>
            </a:pPr>
            <a:r>
              <a:rPr lang="en-US" sz="1320" dirty="0">
                <a:solidFill>
                  <a:schemeClr val="tx1"/>
                </a:solidFill>
                <a:latin typeface="Courier New" pitchFamily="34" charset="0"/>
                <a:ea typeface="Courier New" pitchFamily="34" charset="-122"/>
                <a:cs typeface="Courier New" pitchFamily="34" charset="-120"/>
              </a:rPr>
              <a:t>dynamodb:*</a:t>
            </a:r>
            <a:pPr indent="0" marL="0">
              <a:buNone/>
            </a:pPr>
            <a:r>
              <a:rPr lang="en-US" sz="1500" dirty="0">
                <a:solidFill>
                  <a:schemeClr val="tx1"/>
                </a:solidFill>
                <a:latin typeface="Arial" pitchFamily="34" charset="0"/>
                <a:ea typeface="Arial" pitchFamily="34" charset="-122"/>
                <a:cs typeface="Arial" pitchFamily="34" charset="-120"/>
              </a:rPr>
              <a:t> on </a:t>
            </a:r>
            <a:pPr indent="0" marL="0">
              <a:buNone/>
            </a:pPr>
            <a:r>
              <a:rPr lang="en-US" sz="1320" dirty="0">
                <a:solidFill>
                  <a:schemeClr val="tx1"/>
                </a:solidFill>
                <a:latin typeface="Courier New" pitchFamily="34" charset="0"/>
                <a:ea typeface="Courier New" pitchFamily="34" charset="-122"/>
                <a:cs typeface="Courier New" pitchFamily="34" charset="-120"/>
              </a:rPr>
              <a:t>*</a:t>
            </a:r>
            <a:pPr indent="0" marL="0">
              <a:buNone/>
            </a:pPr>
            <a:r>
              <a:rPr lang="en-US" sz="1500" dirty="0">
                <a:solidFill>
                  <a:schemeClr val="tx1"/>
                </a:solidFill>
                <a:latin typeface="Arial" pitchFamily="34" charset="0"/>
                <a:ea typeface="Arial" pitchFamily="34" charset="-122"/>
                <a:cs typeface="Arial" pitchFamily="34" charset="-120"/>
              </a:rPr>
              <a:t> "works" too.</a:t>
            </a:r>
            <a:endParaRPr lang="en-US" sz="1500" dirty="0"/>
          </a:p>
        </p:txBody>
      </p:sp>
      <p:sp>
        <p:nvSpPr>
          <p:cNvPr id="11" name="Tag"/>
          <p:cNvSpPr txBox="1"/>
          <p:nvPr/>
        </p:nvSpPr>
        <p:spPr>
          <a:xfrm>
            <a:off x="6362548" y="3127248"/>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2" name="Note"/>
          <p:cNvSpPr txBox="1"/>
          <p:nvPr/>
        </p:nvSpPr>
        <p:spPr>
          <a:xfrm>
            <a:off x="7505548" y="3099816"/>
            <a:ext cx="4000652" cy="11430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With enforcement on, Floci denies the </a:t>
            </a:r>
            <a:pPr indent="0" marL="0">
              <a:buNone/>
            </a:pPr>
            <a:r>
              <a:rPr lang="en-US" sz="1500" i="1" dirty="0">
                <a:solidFill>
                  <a:schemeClr val="tx1"/>
                </a:solidFill>
                <a:latin typeface="Arial" pitchFamily="34" charset="0"/>
                <a:ea typeface="Arial" pitchFamily="34" charset="-122"/>
                <a:cs typeface="Arial" pitchFamily="34" charset="-120"/>
              </a:rPr>
              <a:t>scoped</a:t>
            </a:r>
            <a:pPr indent="0" marL="0">
              <a:buNone/>
            </a:pPr>
            <a:r>
              <a:rPr lang="en-US" sz="1500" dirty="0">
                <a:solidFill>
                  <a:schemeClr val="tx1"/>
                </a:solidFill>
                <a:latin typeface="Arial" pitchFamily="34" charset="0"/>
                <a:ea typeface="Arial" pitchFamily="34" charset="-122"/>
                <a:cs typeface="Arial" pitchFamily="34" charset="-120"/>
              </a:rPr>
              <a:t> policy and allows the wildcard: it checks every table as </a:t>
            </a:r>
            <a:pPr indent="0" marL="0">
              <a:buNone/>
            </a:pPr>
            <a:r>
              <a:rPr lang="en-US" sz="1320" dirty="0">
                <a:solidFill>
                  <a:schemeClr val="tx1"/>
                </a:solidFill>
                <a:latin typeface="Courier New" pitchFamily="34" charset="0"/>
                <a:ea typeface="Courier New" pitchFamily="34" charset="-122"/>
                <a:cs typeface="Courier New" pitchFamily="34" charset="-120"/>
              </a:rPr>
              <a:t>table/*</a:t>
            </a:r>
            <a:pPr indent="0" marL="0">
              <a:buNone/>
            </a:pPr>
            <a:r>
              <a:rPr lang="en-US" sz="1500" dirty="0">
                <a:solidFill>
                  <a:schemeClr val="tx1"/>
                </a:solidFill>
                <a:latin typeface="Arial" pitchFamily="34" charset="0"/>
                <a:ea typeface="Arial" pitchFamily="34" charset="-122"/>
                <a:cs typeface="Arial" pitchFamily="34" charset="-120"/>
              </a:rPr>
              <a:t>. This emulator cannot reliably validate the scoped policy.</a:t>
            </a:r>
            <a:endParaRPr lang="en-US" sz="15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2</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DEMO</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Talk to it, then read its logs</a:t>
            </a:r>
            <a:endParaRPr lang="en-US" sz="3600" dirty="0"/>
          </a:p>
        </p:txBody>
      </p:sp>
      <p:sp>
        <p:nvSpPr>
          <p:cNvPr id="6" name="Terminal"/>
          <p:cNvSpPr txBox="1"/>
          <p:nvPr/>
        </p:nvSpPr>
        <p:spPr>
          <a:xfrm>
            <a:off x="685800" y="1645920"/>
            <a:ext cx="10820400" cy="2375916"/>
          </a:xfrm>
          <a:prstGeom prst="roundRect">
            <a:avLst>
              <a:gd name="adj" fmla="val 2309"/>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curl -X POST -d '{"message":"hi from the room"}' $URL</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"id": "d9b8dcff-…", "message": "hi from the room" }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201</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curl -X POST -d nope $URL</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"error": "body must be JSON" }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400</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./scripts/awslocal logs tail /aws/lambda/sacjs-lambda --since 5m</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01:16:48  4e628318…  INFO  </a:t>
            </a:r>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{"method":"POST","status":201,"ms":27}</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01:16:48  27ada18f…  INFO  </a:t>
            </a:r>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{"method":"POST","status":400,"ms":1}</a:t>
            </a:r>
            <a:endParaRPr lang="en-US" sz="1425" dirty="0"/>
          </a:p>
        </p:txBody>
      </p:sp>
      <p:sp>
        <p:nvSpPr>
          <p:cNvPr id="7" name="Tag"/>
          <p:cNvSpPr txBox="1"/>
          <p:nvPr/>
        </p:nvSpPr>
        <p:spPr>
          <a:xfrm>
            <a:off x="685800" y="4277868"/>
            <a:ext cx="960120" cy="237744"/>
          </a:xfrm>
          <a:prstGeom prst="roundRect">
            <a:avLst>
              <a:gd name="adj" fmla="val 11538"/>
            </a:avLst>
          </a:prstGeom>
          <a:noFill/>
          <a:ln w="12700">
            <a:solidFill>
              <a:schemeClr val="accent6"/>
            </a:solidFill>
          </a:ln>
        </p:spPr>
        <p:txBody>
          <a:bodyPr wrap="square" lIns="0" tIns="0" rIns="0" bIns="0" rtlCol="0" anchor="ctr"/>
          <a:lstStyle/>
          <a:p>
            <a:pPr algn="ctr" indent="0" marL="0">
              <a:buNone/>
            </a:pPr>
            <a:r>
              <a:rPr lang="en-US" sz="1000" spc="50" kern="0" dirty="0">
                <a:solidFill>
                  <a:schemeClr val="accent6"/>
                </a:solidFill>
                <a:latin typeface="Courier New" pitchFamily="34" charset="0"/>
                <a:ea typeface="Courier New" pitchFamily="34" charset="-122"/>
                <a:cs typeface="Courier New" pitchFamily="34" charset="-120"/>
              </a:rPr>
              <a:t>REAL</a:t>
            </a:r>
            <a:endParaRPr lang="en-US" sz="1000" dirty="0"/>
          </a:p>
        </p:txBody>
      </p:sp>
      <p:sp>
        <p:nvSpPr>
          <p:cNvPr id="8" name="Note"/>
          <p:cNvSpPr txBox="1"/>
          <p:nvPr/>
        </p:nvSpPr>
        <p:spPr>
          <a:xfrm>
            <a:off x="1828800" y="4250436"/>
            <a:ext cx="9677400" cy="4572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The log group and the function's permission to write to it are two of the nine resources in the ledger. No logging service to set up.</a:t>
            </a:r>
            <a:endParaRPr lang="en-US" sz="1500" dirty="0"/>
          </a:p>
        </p:txBody>
      </p:sp>
      <p:sp>
        <p:nvSpPr>
          <p:cNvPr id="9" name="Tag"/>
          <p:cNvSpPr txBox="1"/>
          <p:nvPr/>
        </p:nvSpPr>
        <p:spPr>
          <a:xfrm>
            <a:off x="685800" y="4890516"/>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0" name="Note"/>
          <p:cNvSpPr txBox="1"/>
          <p:nvPr/>
        </p:nvSpPr>
        <p:spPr>
          <a:xfrm>
            <a:off x="1828800" y="4863084"/>
            <a:ext cx="9677400" cy="274320"/>
          </a:xfrm>
          <a:prstGeom prst="rect">
            <a:avLst/>
          </a:prstGeom>
          <a:noFill/>
          <a:ln/>
        </p:spPr>
        <p:txBody>
          <a:bodyPr wrap="square" lIns="0" tIns="0" rIns="0" bIns="0" rtlCol="0" anchor="t"/>
          <a:lstStyle/>
          <a:p>
            <a:pPr indent="0" marL="0">
              <a:buNone/>
            </a:pPr>
            <a:r>
              <a:rPr lang="en-US" sz="1320" dirty="0">
                <a:solidFill>
                  <a:schemeClr val="tx1"/>
                </a:solidFill>
                <a:latin typeface="Courier New" pitchFamily="34" charset="0"/>
                <a:ea typeface="Courier New" pitchFamily="34" charset="-122"/>
                <a:cs typeface="Courier New" pitchFamily="34" charset="-120"/>
              </a:rPr>
              <a:t>logs tail --follow</a:t>
            </a:r>
            <a:pPr indent="0" marL="0">
              <a:buNone/>
            </a:pPr>
            <a:r>
              <a:rPr lang="en-US" sz="1500" dirty="0">
                <a:solidFill>
                  <a:schemeClr val="tx1"/>
                </a:solidFill>
                <a:latin typeface="Arial" pitchFamily="34" charset="0"/>
                <a:ea typeface="Arial" pitchFamily="34" charset="-122"/>
                <a:cs typeface="Arial" pitchFamily="34" charset="-120"/>
              </a:rPr>
              <a:t> prints nothing on Floci. Run </a:t>
            </a:r>
            <a:pPr indent="0" marL="0">
              <a:buNone/>
            </a:pPr>
            <a:r>
              <a:rPr lang="en-US" sz="1320" dirty="0">
                <a:solidFill>
                  <a:schemeClr val="tx1"/>
                </a:solidFill>
                <a:latin typeface="Courier New" pitchFamily="34" charset="0"/>
                <a:ea typeface="Courier New" pitchFamily="34" charset="-122"/>
                <a:cs typeface="Courier New" pitchFamily="34" charset="-120"/>
              </a:rPr>
              <a:t>tail</a:t>
            </a:r>
            <a:pPr indent="0" marL="0">
              <a:buNone/>
            </a:pPr>
            <a:r>
              <a:rPr lang="en-US" sz="1500" dirty="0">
                <a:solidFill>
                  <a:schemeClr val="tx1"/>
                </a:solidFill>
                <a:latin typeface="Arial" pitchFamily="34" charset="0"/>
                <a:ea typeface="Arial" pitchFamily="34" charset="-122"/>
                <a:cs typeface="Arial" pitchFamily="34" charset="-120"/>
              </a:rPr>
              <a:t> after the requests instead.</a:t>
            </a:r>
            <a:endParaRPr lang="en-US" sz="132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APP TYPE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Server app</a:t>
            </a:r>
            <a:endParaRPr lang="en-US" sz="3600" dirty="0"/>
          </a:p>
        </p:txBody>
      </p:sp>
      <p:sp>
        <p:nvSpPr>
          <p:cNvPr id="6" name="Lede"/>
          <p:cNvSpPr txBox="1"/>
          <p:nvPr/>
        </p:nvSpPr>
        <p:spPr>
          <a:xfrm>
            <a:off x="685800" y="1645920"/>
            <a:ext cx="5461428" cy="96012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A long-running process that renders pages, talks to a relational database, and stores what users upload.</a:t>
            </a:r>
            <a:endParaRPr lang="en-US" sz="2100" dirty="0"/>
          </a:p>
        </p:txBody>
      </p:sp>
      <p:sp>
        <p:nvSpPr>
          <p:cNvPr id="7" name="Chip"/>
          <p:cNvSpPr txBox="1"/>
          <p:nvPr/>
        </p:nvSpPr>
        <p:spPr>
          <a:xfrm>
            <a:off x="685800" y="2852928"/>
            <a:ext cx="69494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Rails</a:t>
            </a:r>
            <a:endParaRPr lang="en-US" sz="1200" dirty="0"/>
          </a:p>
        </p:txBody>
      </p:sp>
      <p:sp>
        <p:nvSpPr>
          <p:cNvPr id="8" name="Chip"/>
          <p:cNvSpPr txBox="1"/>
          <p:nvPr/>
        </p:nvSpPr>
        <p:spPr>
          <a:xfrm>
            <a:off x="1476756" y="2852928"/>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Django</a:t>
            </a:r>
            <a:endParaRPr lang="en-US" sz="1200" dirty="0"/>
          </a:p>
        </p:txBody>
      </p:sp>
      <p:sp>
        <p:nvSpPr>
          <p:cNvPr id="9" name="Chip"/>
          <p:cNvSpPr txBox="1"/>
          <p:nvPr/>
        </p:nvSpPr>
        <p:spPr>
          <a:xfrm>
            <a:off x="2359152" y="2852928"/>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Laravel</a:t>
            </a:r>
            <a:endParaRPr lang="en-US" sz="1200" dirty="0"/>
          </a:p>
        </p:txBody>
      </p:sp>
      <p:sp>
        <p:nvSpPr>
          <p:cNvPr id="10" name="Chip"/>
          <p:cNvSpPr txBox="1"/>
          <p:nvPr/>
        </p:nvSpPr>
        <p:spPr>
          <a:xfrm>
            <a:off x="3332988" y="2852928"/>
            <a:ext cx="17007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Express + Prisma</a:t>
            </a:r>
            <a:endParaRPr lang="en-US" sz="1200" dirty="0"/>
          </a:p>
        </p:txBody>
      </p:sp>
      <p:sp>
        <p:nvSpPr>
          <p:cNvPr id="11" name="Chip"/>
          <p:cNvSpPr txBox="1"/>
          <p:nvPr/>
        </p:nvSpPr>
        <p:spPr>
          <a:xfrm>
            <a:off x="5129784" y="2852928"/>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Phoenix</a:t>
            </a:r>
            <a:endParaRPr lang="en-US" sz="1200" dirty="0"/>
          </a:p>
        </p:txBody>
      </p:sp>
      <p:sp>
        <p:nvSpPr>
          <p:cNvPr id="12" name="Chip label"/>
          <p:cNvSpPr txBox="1"/>
          <p:nvPr/>
        </p:nvSpPr>
        <p:spPr>
          <a:xfrm>
            <a:off x="685800" y="3332988"/>
            <a:ext cx="1828800" cy="201168"/>
          </a:xfrm>
          <a:prstGeom prst="rect">
            <a:avLst/>
          </a:prstGeom>
          <a:noFill/>
          <a:ln/>
        </p:spPr>
        <p:txBody>
          <a:bodyPr wrap="none" lIns="0" tIns="0" rIns="0" bIns="0" rtlCol="0" anchor="t"/>
          <a:lstStyle/>
          <a:p>
            <a:pPr indent="0" marL="0">
              <a:buNone/>
            </a:pPr>
            <a:r>
              <a:rPr lang="en-US" sz="1000" spc="100" kern="0" dirty="0">
                <a:solidFill>
                  <a:schemeClr val="tx1"/>
                </a:solidFill>
                <a:latin typeface="Courier New" pitchFamily="34" charset="0"/>
                <a:ea typeface="Courier New" pitchFamily="34" charset="-122"/>
                <a:cs typeface="Courier New" pitchFamily="34" charset="-120"/>
              </a:rPr>
              <a:t>YOU MAY KNOW IT AS</a:t>
            </a:r>
            <a:endParaRPr lang="en-US" sz="1000" dirty="0"/>
          </a:p>
        </p:txBody>
      </p:sp>
      <p:sp>
        <p:nvSpPr>
          <p:cNvPr id="13" name="Chip"/>
          <p:cNvSpPr txBox="1"/>
          <p:nvPr/>
        </p:nvSpPr>
        <p:spPr>
          <a:xfrm>
            <a:off x="2610612" y="3278124"/>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Heroku</a:t>
            </a:r>
            <a:endParaRPr lang="en-US" sz="1200" dirty="0"/>
          </a:p>
        </p:txBody>
      </p:sp>
      <p:sp>
        <p:nvSpPr>
          <p:cNvPr id="14" name="Chip"/>
          <p:cNvSpPr txBox="1"/>
          <p:nvPr/>
        </p:nvSpPr>
        <p:spPr>
          <a:xfrm>
            <a:off x="3493008" y="3278124"/>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Render</a:t>
            </a:r>
            <a:endParaRPr lang="en-US" sz="1200" dirty="0"/>
          </a:p>
        </p:txBody>
      </p:sp>
      <p:sp>
        <p:nvSpPr>
          <p:cNvPr id="15" name="Chip"/>
          <p:cNvSpPr txBox="1"/>
          <p:nvPr/>
        </p:nvSpPr>
        <p:spPr>
          <a:xfrm>
            <a:off x="4375404" y="3278124"/>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Railway</a:t>
            </a:r>
            <a:endParaRPr lang="en-US" sz="1200" dirty="0"/>
          </a:p>
        </p:txBody>
      </p:sp>
      <p:sp>
        <p:nvSpPr>
          <p:cNvPr id="16" name="Chip"/>
          <p:cNvSpPr txBox="1"/>
          <p:nvPr/>
        </p:nvSpPr>
        <p:spPr>
          <a:xfrm>
            <a:off x="5349240" y="3278124"/>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Fly.io</a:t>
            </a:r>
            <a:endParaRPr lang="en-US" sz="1200" dirty="0"/>
          </a:p>
        </p:txBody>
      </p:sp>
      <p:sp>
        <p:nvSpPr>
          <p:cNvPr id="17" name="Chip"/>
          <p:cNvSpPr txBox="1"/>
          <p:nvPr/>
        </p:nvSpPr>
        <p:spPr>
          <a:xfrm>
            <a:off x="685800" y="3685032"/>
            <a:ext cx="160934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DO App Platform</a:t>
            </a:r>
            <a:endParaRPr lang="en-US" sz="1200" dirty="0"/>
          </a:p>
        </p:txBody>
      </p:sp>
      <p:sp>
        <p:nvSpPr>
          <p:cNvPr id="18" name="Shape 15"/>
          <p:cNvSpPr/>
          <p:nvPr/>
        </p:nvSpPr>
        <p:spPr>
          <a:xfrm>
            <a:off x="6757132" y="1645920"/>
            <a:ext cx="4749068" cy="0"/>
          </a:xfrm>
          <a:prstGeom prst="line">
            <a:avLst/>
          </a:prstGeom>
          <a:noFill/>
          <a:ln w="9525">
            <a:solidFill>
              <a:srgbClr val="D3D9D2"/>
            </a:solidFill>
            <a:prstDash val="solid"/>
          </a:ln>
        </p:spPr>
      </p:sp>
      <p:sp>
        <p:nvSpPr>
          <p:cNvPr id="19" name="Fact label"/>
          <p:cNvSpPr txBox="1"/>
          <p:nvPr/>
        </p:nvSpPr>
        <p:spPr>
          <a:xfrm>
            <a:off x="6757132" y="180136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RUNS</a:t>
            </a:r>
            <a:endParaRPr lang="en-US" sz="1050" dirty="0"/>
          </a:p>
        </p:txBody>
      </p:sp>
      <p:sp>
        <p:nvSpPr>
          <p:cNvPr id="20" name="Fact"/>
          <p:cNvSpPr txBox="1"/>
          <p:nvPr/>
        </p:nvSpPr>
        <p:spPr>
          <a:xfrm>
            <a:off x="8357332" y="1773936"/>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On a machine you keep alive, all day, waiting for requests.</a:t>
            </a:r>
            <a:endParaRPr lang="en-US" sz="1650" dirty="0"/>
          </a:p>
        </p:txBody>
      </p:sp>
      <p:sp>
        <p:nvSpPr>
          <p:cNvPr id="21" name="Shape 18"/>
          <p:cNvSpPr/>
          <p:nvPr/>
        </p:nvSpPr>
        <p:spPr>
          <a:xfrm>
            <a:off x="6757132" y="2487168"/>
            <a:ext cx="4749068" cy="0"/>
          </a:xfrm>
          <a:prstGeom prst="line">
            <a:avLst/>
          </a:prstGeom>
          <a:noFill/>
          <a:ln w="9525">
            <a:solidFill>
              <a:srgbClr val="D3D9D2"/>
            </a:solidFill>
            <a:prstDash val="solid"/>
          </a:ln>
        </p:spPr>
      </p:sp>
      <p:sp>
        <p:nvSpPr>
          <p:cNvPr id="22" name="Fact label"/>
          <p:cNvSpPr txBox="1"/>
          <p:nvPr/>
        </p:nvSpPr>
        <p:spPr>
          <a:xfrm>
            <a:off x="6757132" y="2642616"/>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STATE</a:t>
            </a:r>
            <a:endParaRPr lang="en-US" sz="1050" dirty="0"/>
          </a:p>
        </p:txBody>
      </p:sp>
      <p:sp>
        <p:nvSpPr>
          <p:cNvPr id="23" name="Fact"/>
          <p:cNvSpPr txBox="1"/>
          <p:nvPr/>
        </p:nvSpPr>
        <p:spPr>
          <a:xfrm>
            <a:off x="8357332" y="2615184"/>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Rows in Postgres, files in object storage. The server itself is disposable.</a:t>
            </a:r>
            <a:endParaRPr lang="en-US" sz="1650" dirty="0"/>
          </a:p>
        </p:txBody>
      </p:sp>
      <p:sp>
        <p:nvSpPr>
          <p:cNvPr id="24" name="Shape 21"/>
          <p:cNvSpPr/>
          <p:nvPr/>
        </p:nvSpPr>
        <p:spPr>
          <a:xfrm>
            <a:off x="6757132" y="3579876"/>
            <a:ext cx="4749068" cy="0"/>
          </a:xfrm>
          <a:prstGeom prst="line">
            <a:avLst/>
          </a:prstGeom>
          <a:noFill/>
          <a:ln w="9525">
            <a:solidFill>
              <a:srgbClr val="D3D9D2"/>
            </a:solidFill>
            <a:prstDash val="solid"/>
          </a:ln>
        </p:spPr>
      </p:sp>
      <p:sp>
        <p:nvSpPr>
          <p:cNvPr id="25" name="Fact label"/>
          <p:cNvSpPr txBox="1"/>
          <p:nvPr/>
        </p:nvSpPr>
        <p:spPr>
          <a:xfrm>
            <a:off x="6757132" y="3735324"/>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NEEDS</a:t>
            </a:r>
            <a:endParaRPr lang="en-US" sz="1050" dirty="0"/>
          </a:p>
        </p:txBody>
      </p:sp>
      <p:sp>
        <p:nvSpPr>
          <p:cNvPr id="26" name="Fact"/>
          <p:cNvSpPr txBox="1"/>
          <p:nvPr/>
        </p:nvSpPr>
        <p:spPr>
          <a:xfrm>
            <a:off x="8357332" y="3707892"/>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A host, a private database, a bucket, and a way to keep them apart.</a:t>
            </a:r>
            <a:endParaRPr lang="en-US" sz="1650" dirty="0"/>
          </a:p>
        </p:txBody>
      </p:sp>
      <p:sp>
        <p:nvSpPr>
          <p:cNvPr id="27" name="Shape 24"/>
          <p:cNvSpPr/>
          <p:nvPr/>
        </p:nvSpPr>
        <p:spPr>
          <a:xfrm>
            <a:off x="6757132" y="4672584"/>
            <a:ext cx="4749068" cy="0"/>
          </a:xfrm>
          <a:prstGeom prst="line">
            <a:avLst/>
          </a:prstGeom>
          <a:noFill/>
          <a:ln w="9525">
            <a:solidFill>
              <a:srgbClr val="D3D9D2"/>
            </a:solidFill>
            <a:prstDash val="solid"/>
          </a:ln>
        </p:spPr>
      </p:sp>
      <p:sp>
        <p:nvSpPr>
          <p:cNvPr id="28" name="Fact label"/>
          <p:cNvSpPr txBox="1"/>
          <p:nvPr/>
        </p:nvSpPr>
        <p:spPr>
          <a:xfrm>
            <a:off x="6757132" y="482803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PICK IT WHEN</a:t>
            </a:r>
            <a:endParaRPr lang="en-US" sz="1050" dirty="0"/>
          </a:p>
        </p:txBody>
      </p:sp>
      <p:sp>
        <p:nvSpPr>
          <p:cNvPr id="29" name="Fact"/>
          <p:cNvSpPr txBox="1"/>
          <p:nvPr/>
        </p:nvSpPr>
        <p:spPr>
          <a:xfrm>
            <a:off x="8357332" y="4800600"/>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You want transactions, background jobs and a monolith you can reason about.</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STRUCTURE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Most of it is the fence</a:t>
            </a:r>
            <a:endParaRPr lang="en-US" sz="3600" dirty="0"/>
          </a:p>
        </p:txBody>
      </p:sp>
      <p:sp>
        <p:nvSpPr>
          <p:cNvPr id="6" name="Shape 3"/>
          <p:cNvSpPr/>
          <p:nvPr/>
        </p:nvSpPr>
        <p:spPr>
          <a:xfrm>
            <a:off x="2933700" y="1836420"/>
            <a:ext cx="6324600" cy="3810000"/>
          </a:xfrm>
          <a:prstGeom prst="roundRect">
            <a:avLst>
              <a:gd name="adj" fmla="val 2000"/>
            </a:avLst>
          </a:prstGeom>
          <a:ln w="19050">
            <a:solidFill>
              <a:schemeClr val="accent1"/>
            </a:solidFill>
            <a:prstDash val="solid"/>
          </a:ln>
        </p:spPr>
      </p:sp>
      <p:sp>
        <p:nvSpPr>
          <p:cNvPr id="7" name="Text 4"/>
          <p:cNvSpPr txBox="1"/>
          <p:nvPr/>
        </p:nvSpPr>
        <p:spPr>
          <a:xfrm>
            <a:off x="3124200" y="1960055"/>
            <a:ext cx="1737360" cy="173355"/>
          </a:xfrm>
          <a:prstGeom prst="rect">
            <a:avLst/>
          </a:prstGeom>
          <a:noFill/>
          <a:ln/>
        </p:spPr>
        <p:txBody>
          <a:bodyPr wrap="none" lIns="0" tIns="0" rIns="0" bIns="0" rtlCol="0" anchor="t"/>
          <a:lstStyle/>
          <a:p>
            <a:pPr algn="l" indent="0" marL="0">
              <a:buNone/>
            </a:pPr>
            <a:r>
              <a:rPr lang="en-US" sz="1050" dirty="0">
                <a:solidFill>
                  <a:schemeClr val="accent1"/>
                </a:solidFill>
                <a:latin typeface="Courier New" pitchFamily="34" charset="0"/>
                <a:ea typeface="Courier New" pitchFamily="34" charset="-122"/>
                <a:cs typeface="Courier New" pitchFamily="34" charset="-120"/>
              </a:rPr>
              <a:t>VPC 10.20.0.0/16</a:t>
            </a:r>
            <a:endParaRPr lang="en-US" sz="1050" dirty="0"/>
          </a:p>
        </p:txBody>
      </p:sp>
      <p:sp>
        <p:nvSpPr>
          <p:cNvPr id="8" name="Shape 5"/>
          <p:cNvSpPr/>
          <p:nvPr/>
        </p:nvSpPr>
        <p:spPr>
          <a:xfrm>
            <a:off x="3219450" y="2255520"/>
            <a:ext cx="2857500" cy="3143250"/>
          </a:xfrm>
          <a:prstGeom prst="roundRect">
            <a:avLst>
              <a:gd name="adj" fmla="val 2000"/>
            </a:avLst>
          </a:prstGeom>
          <a:ln w="19050">
            <a:solidFill>
              <a:schemeClr val="accent1"/>
            </a:solidFill>
            <a:prstDash val="dash"/>
          </a:ln>
        </p:spPr>
      </p:sp>
      <p:sp>
        <p:nvSpPr>
          <p:cNvPr id="9" name="Text 6"/>
          <p:cNvSpPr txBox="1"/>
          <p:nvPr/>
        </p:nvSpPr>
        <p:spPr>
          <a:xfrm>
            <a:off x="3371850" y="2360105"/>
            <a:ext cx="1497330" cy="173355"/>
          </a:xfrm>
          <a:prstGeom prst="rect">
            <a:avLst/>
          </a:prstGeom>
          <a:noFill/>
          <a:ln/>
        </p:spPr>
        <p:txBody>
          <a:bodyPr wrap="none" lIns="0" tIns="0" rIns="0" bIns="0" rtlCol="0" anchor="t"/>
          <a:lstStyle/>
          <a:p>
            <a:pPr algn="l" indent="0" marL="0">
              <a:buNone/>
            </a:pPr>
            <a:r>
              <a:rPr lang="en-US" sz="1050" dirty="0">
                <a:solidFill>
                  <a:schemeClr val="accent1"/>
                </a:solidFill>
                <a:latin typeface="Courier New" pitchFamily="34" charset="0"/>
                <a:ea typeface="Courier New" pitchFamily="34" charset="-122"/>
                <a:cs typeface="Courier New" pitchFamily="34" charset="-120"/>
              </a:rPr>
              <a:t>public subnet</a:t>
            </a:r>
            <a:endParaRPr lang="en-US" sz="1050" dirty="0"/>
          </a:p>
        </p:txBody>
      </p:sp>
      <p:sp>
        <p:nvSpPr>
          <p:cNvPr id="10" name="Shape 7"/>
          <p:cNvSpPr/>
          <p:nvPr/>
        </p:nvSpPr>
        <p:spPr>
          <a:xfrm>
            <a:off x="6400800" y="2255520"/>
            <a:ext cx="2628900" cy="3143250"/>
          </a:xfrm>
          <a:prstGeom prst="roundRect">
            <a:avLst>
              <a:gd name="adj" fmla="val 2174"/>
            </a:avLst>
          </a:prstGeom>
          <a:ln w="19050">
            <a:solidFill>
              <a:schemeClr val="accent1"/>
            </a:solidFill>
            <a:prstDash val="dash"/>
          </a:ln>
        </p:spPr>
      </p:sp>
      <p:sp>
        <p:nvSpPr>
          <p:cNvPr id="11" name="Text 8"/>
          <p:cNvSpPr txBox="1"/>
          <p:nvPr/>
        </p:nvSpPr>
        <p:spPr>
          <a:xfrm>
            <a:off x="6553200" y="2360105"/>
            <a:ext cx="2217420" cy="173355"/>
          </a:xfrm>
          <a:prstGeom prst="rect">
            <a:avLst/>
          </a:prstGeom>
          <a:noFill/>
          <a:ln/>
        </p:spPr>
        <p:txBody>
          <a:bodyPr wrap="none" lIns="0" tIns="0" rIns="0" bIns="0" rtlCol="0" anchor="t"/>
          <a:lstStyle/>
          <a:p>
            <a:pPr algn="l" indent="0" marL="0">
              <a:buNone/>
            </a:pPr>
            <a:r>
              <a:rPr lang="en-US" sz="1050" dirty="0">
                <a:solidFill>
                  <a:schemeClr val="accent1"/>
                </a:solidFill>
                <a:latin typeface="Courier New" pitchFamily="34" charset="0"/>
                <a:ea typeface="Courier New" pitchFamily="34" charset="-122"/>
                <a:cs typeface="Courier New" pitchFamily="34" charset="-120"/>
              </a:rPr>
              <a:t>private subnets ×2 AZs</a:t>
            </a:r>
            <a:endParaRPr lang="en-US" sz="1050" dirty="0"/>
          </a:p>
        </p:txBody>
      </p:sp>
      <p:sp>
        <p:nvSpPr>
          <p:cNvPr id="12" name="Shape 9"/>
          <p:cNvSpPr/>
          <p:nvPr/>
        </p:nvSpPr>
        <p:spPr>
          <a:xfrm>
            <a:off x="2705100" y="3512820"/>
            <a:ext cx="457200" cy="457200"/>
          </a:xfrm>
          <a:prstGeom prst="roundRect">
            <a:avLst>
              <a:gd name="adj" fmla="val 8333"/>
            </a:avLst>
          </a:prstGeom>
          <a:solidFill>
            <a:schemeClr val="accent1">
              <a:alpha val="10000"/>
            </a:schemeClr>
          </a:solidFill>
          <a:ln w="19050">
            <a:solidFill>
              <a:schemeClr val="accent1"/>
            </a:solidFill>
            <a:prstDash val="solid"/>
          </a:ln>
        </p:spPr>
      </p:sp>
      <p:sp>
        <p:nvSpPr>
          <p:cNvPr id="13" name="Text 10"/>
          <p:cNvSpPr txBox="1"/>
          <p:nvPr/>
        </p:nvSpPr>
        <p:spPr>
          <a:xfrm>
            <a:off x="2585085" y="3665029"/>
            <a:ext cx="69723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IGW</a:t>
            </a:r>
            <a:endParaRPr lang="en-US" sz="1050" dirty="0"/>
          </a:p>
        </p:txBody>
      </p:sp>
      <p:sp>
        <p:nvSpPr>
          <p:cNvPr id="14" name="Shape 11"/>
          <p:cNvSpPr/>
          <p:nvPr/>
        </p:nvSpPr>
        <p:spPr>
          <a:xfrm>
            <a:off x="685800" y="3360420"/>
            <a:ext cx="1524000" cy="762000"/>
          </a:xfrm>
          <a:prstGeom prst="roundRect">
            <a:avLst>
              <a:gd name="adj" fmla="val 7500"/>
            </a:avLst>
          </a:prstGeom>
          <a:solidFill>
            <a:schemeClr val="bg1"/>
          </a:solidFill>
          <a:ln w="19050">
            <a:solidFill>
              <a:schemeClr val="tx2"/>
            </a:solidFill>
            <a:prstDash val="solid"/>
          </a:ln>
        </p:spPr>
      </p:sp>
      <p:sp>
        <p:nvSpPr>
          <p:cNvPr id="15" name="Text 12"/>
          <p:cNvSpPr txBox="1"/>
          <p:nvPr/>
        </p:nvSpPr>
        <p:spPr>
          <a:xfrm>
            <a:off x="865822" y="3621405"/>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Browser</a:t>
            </a:r>
            <a:endParaRPr lang="en-US" sz="1500" dirty="0"/>
          </a:p>
        </p:txBody>
      </p:sp>
      <p:sp>
        <p:nvSpPr>
          <p:cNvPr id="16" name="Shape 13"/>
          <p:cNvSpPr/>
          <p:nvPr/>
        </p:nvSpPr>
        <p:spPr>
          <a:xfrm>
            <a:off x="2209800" y="3741420"/>
            <a:ext cx="457200" cy="0"/>
          </a:xfrm>
          <a:prstGeom prst="line">
            <a:avLst/>
          </a:prstGeom>
          <a:noFill/>
          <a:ln w="19050">
            <a:solidFill>
              <a:schemeClr val="tx1"/>
            </a:solidFill>
            <a:prstDash val="solid"/>
            <a:tailEnd type="triangle"/>
          </a:ln>
        </p:spPr>
      </p:sp>
      <p:sp>
        <p:nvSpPr>
          <p:cNvPr id="17" name="Shape 14"/>
          <p:cNvSpPr/>
          <p:nvPr/>
        </p:nvSpPr>
        <p:spPr>
          <a:xfrm>
            <a:off x="3448050" y="2712720"/>
            <a:ext cx="2400300" cy="2209800"/>
          </a:xfrm>
          <a:prstGeom prst="roundRect">
            <a:avLst>
              <a:gd name="adj" fmla="val 2586"/>
            </a:avLst>
          </a:prstGeom>
          <a:solidFill>
            <a:schemeClr val="accent3">
              <a:alpha val="10000"/>
            </a:schemeClr>
          </a:solidFill>
          <a:ln w="19050">
            <a:solidFill>
              <a:schemeClr val="accent3"/>
            </a:solidFill>
            <a:prstDash val="solid"/>
          </a:ln>
        </p:spPr>
      </p:sp>
      <p:sp>
        <p:nvSpPr>
          <p:cNvPr id="18" name="Text 15"/>
          <p:cNvSpPr txBox="1"/>
          <p:nvPr/>
        </p:nvSpPr>
        <p:spPr>
          <a:xfrm>
            <a:off x="4015740" y="2840355"/>
            <a:ext cx="126492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App host</a:t>
            </a:r>
            <a:endParaRPr lang="en-US" sz="1500" dirty="0"/>
          </a:p>
        </p:txBody>
      </p:sp>
      <p:sp>
        <p:nvSpPr>
          <p:cNvPr id="19" name="Text 16"/>
          <p:cNvSpPr txBox="1"/>
          <p:nvPr/>
        </p:nvSpPr>
        <p:spPr>
          <a:xfrm>
            <a:off x="3802380" y="3094196"/>
            <a:ext cx="16916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app security group</a:t>
            </a:r>
            <a:endParaRPr lang="en-US" sz="1125" dirty="0"/>
          </a:p>
        </p:txBody>
      </p:sp>
      <p:sp>
        <p:nvSpPr>
          <p:cNvPr id="20" name="Shape 17"/>
          <p:cNvSpPr/>
          <p:nvPr/>
        </p:nvSpPr>
        <p:spPr>
          <a:xfrm>
            <a:off x="3638550" y="3398520"/>
            <a:ext cx="2019300" cy="514350"/>
          </a:xfrm>
          <a:prstGeom prst="roundRect">
            <a:avLst>
              <a:gd name="adj" fmla="val 7407"/>
            </a:avLst>
          </a:prstGeom>
          <a:solidFill>
            <a:schemeClr val="bg1"/>
          </a:solidFill>
          <a:ln w="19050">
            <a:solidFill>
              <a:schemeClr val="tx2"/>
            </a:solidFill>
            <a:prstDash val="solid"/>
          </a:ln>
        </p:spPr>
      </p:sp>
      <p:sp>
        <p:nvSpPr>
          <p:cNvPr id="21" name="Text 18"/>
          <p:cNvSpPr txBox="1"/>
          <p:nvPr/>
        </p:nvSpPr>
        <p:spPr>
          <a:xfrm>
            <a:off x="3819525" y="3579304"/>
            <a:ext cx="165735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kamal-proxy :80</a:t>
            </a:r>
            <a:endParaRPr lang="en-US" sz="1050" dirty="0"/>
          </a:p>
        </p:txBody>
      </p:sp>
      <p:sp>
        <p:nvSpPr>
          <p:cNvPr id="22" name="Shape 19"/>
          <p:cNvSpPr/>
          <p:nvPr/>
        </p:nvSpPr>
        <p:spPr>
          <a:xfrm>
            <a:off x="3638550" y="4179570"/>
            <a:ext cx="2019300" cy="514350"/>
          </a:xfrm>
          <a:prstGeom prst="roundRect">
            <a:avLst>
              <a:gd name="adj" fmla="val 7407"/>
            </a:avLst>
          </a:prstGeom>
          <a:solidFill>
            <a:schemeClr val="bg1"/>
          </a:solidFill>
          <a:ln w="19050">
            <a:solidFill>
              <a:schemeClr val="tx2"/>
            </a:solidFill>
            <a:prstDash val="solid"/>
          </a:ln>
        </p:spPr>
      </p:sp>
      <p:sp>
        <p:nvSpPr>
          <p:cNvPr id="23" name="Text 20"/>
          <p:cNvSpPr txBox="1"/>
          <p:nvPr/>
        </p:nvSpPr>
        <p:spPr>
          <a:xfrm>
            <a:off x="3699510" y="4360355"/>
            <a:ext cx="189738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Rails · Puma :3000</a:t>
            </a:r>
            <a:endParaRPr lang="en-US" sz="1050" dirty="0"/>
          </a:p>
        </p:txBody>
      </p:sp>
      <p:sp>
        <p:nvSpPr>
          <p:cNvPr id="24" name="Shape 21"/>
          <p:cNvSpPr/>
          <p:nvPr/>
        </p:nvSpPr>
        <p:spPr>
          <a:xfrm>
            <a:off x="3162300" y="3741420"/>
            <a:ext cx="438150" cy="0"/>
          </a:xfrm>
          <a:prstGeom prst="line">
            <a:avLst/>
          </a:prstGeom>
          <a:noFill/>
          <a:ln w="19050">
            <a:solidFill>
              <a:schemeClr val="tx1"/>
            </a:solidFill>
            <a:prstDash val="solid"/>
            <a:tailEnd type="triangle"/>
          </a:ln>
        </p:spPr>
      </p:sp>
      <p:sp>
        <p:nvSpPr>
          <p:cNvPr id="25" name="Shape 22"/>
          <p:cNvSpPr/>
          <p:nvPr/>
        </p:nvSpPr>
        <p:spPr>
          <a:xfrm>
            <a:off x="4648200" y="3912870"/>
            <a:ext cx="0" cy="228600"/>
          </a:xfrm>
          <a:prstGeom prst="line">
            <a:avLst/>
          </a:prstGeom>
          <a:noFill/>
          <a:ln w="19050">
            <a:solidFill>
              <a:schemeClr val="tx1"/>
            </a:solidFill>
            <a:prstDash val="solid"/>
            <a:tailEnd type="triangle"/>
          </a:ln>
        </p:spPr>
      </p:sp>
      <p:sp>
        <p:nvSpPr>
          <p:cNvPr id="26" name="Shape 23"/>
          <p:cNvSpPr/>
          <p:nvPr/>
        </p:nvSpPr>
        <p:spPr>
          <a:xfrm>
            <a:off x="6629400" y="3550920"/>
            <a:ext cx="2171700" cy="1047750"/>
          </a:xfrm>
          <a:prstGeom prst="roundRect">
            <a:avLst>
              <a:gd name="adj" fmla="val 5455"/>
            </a:avLst>
          </a:prstGeom>
          <a:solidFill>
            <a:schemeClr val="accent4">
              <a:alpha val="10000"/>
            </a:schemeClr>
          </a:solidFill>
          <a:ln w="19050">
            <a:solidFill>
              <a:schemeClr val="accent4"/>
            </a:solidFill>
            <a:prstDash val="solid"/>
          </a:ln>
        </p:spPr>
      </p:sp>
      <p:sp>
        <p:nvSpPr>
          <p:cNvPr id="27" name="Text 24"/>
          <p:cNvSpPr txBox="1"/>
          <p:nvPr/>
        </p:nvSpPr>
        <p:spPr>
          <a:xfrm>
            <a:off x="6729413" y="3754755"/>
            <a:ext cx="197167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RDS Postgres 15</a:t>
            </a:r>
            <a:endParaRPr lang="en-US" sz="1500" dirty="0"/>
          </a:p>
        </p:txBody>
      </p:sp>
      <p:sp>
        <p:nvSpPr>
          <p:cNvPr id="28" name="Text 25"/>
          <p:cNvSpPr txBox="1"/>
          <p:nvPr/>
        </p:nvSpPr>
        <p:spPr>
          <a:xfrm>
            <a:off x="6697980" y="4027646"/>
            <a:ext cx="20345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db SG: 5432 from app SG</a:t>
            </a:r>
            <a:endParaRPr lang="en-US" sz="1125" dirty="0"/>
          </a:p>
        </p:txBody>
      </p:sp>
      <p:sp>
        <p:nvSpPr>
          <p:cNvPr id="29" name="Text 26"/>
          <p:cNvSpPr txBox="1"/>
          <p:nvPr/>
        </p:nvSpPr>
        <p:spPr>
          <a:xfrm>
            <a:off x="6560820" y="4237196"/>
            <a:ext cx="230886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publicly_accessible = false</a:t>
            </a:r>
            <a:endParaRPr lang="en-US" sz="1125" dirty="0"/>
          </a:p>
        </p:txBody>
      </p:sp>
      <p:sp>
        <p:nvSpPr>
          <p:cNvPr id="30" name="Shape 27"/>
          <p:cNvSpPr/>
          <p:nvPr/>
        </p:nvSpPr>
        <p:spPr>
          <a:xfrm>
            <a:off x="5657850" y="4436745"/>
            <a:ext cx="476250" cy="0"/>
          </a:xfrm>
          <a:prstGeom prst="line">
            <a:avLst/>
          </a:prstGeom>
          <a:noFill/>
          <a:ln w="19050">
            <a:solidFill>
              <a:schemeClr val="tx1"/>
            </a:solidFill>
            <a:prstDash val="solid"/>
          </a:ln>
        </p:spPr>
      </p:sp>
      <p:sp>
        <p:nvSpPr>
          <p:cNvPr id="31" name="Shape 28"/>
          <p:cNvSpPr/>
          <p:nvPr/>
        </p:nvSpPr>
        <p:spPr>
          <a:xfrm flipV="1">
            <a:off x="6134100" y="4122420"/>
            <a:ext cx="0" cy="314325"/>
          </a:xfrm>
          <a:prstGeom prst="line">
            <a:avLst/>
          </a:prstGeom>
          <a:noFill/>
          <a:ln w="19050">
            <a:solidFill>
              <a:schemeClr val="tx1"/>
            </a:solidFill>
            <a:prstDash val="solid"/>
          </a:ln>
        </p:spPr>
      </p:sp>
      <p:sp>
        <p:nvSpPr>
          <p:cNvPr id="32" name="Shape 29"/>
          <p:cNvSpPr/>
          <p:nvPr/>
        </p:nvSpPr>
        <p:spPr>
          <a:xfrm>
            <a:off x="6134100" y="4122420"/>
            <a:ext cx="457200" cy="0"/>
          </a:xfrm>
          <a:prstGeom prst="line">
            <a:avLst/>
          </a:prstGeom>
          <a:noFill/>
          <a:ln w="19050">
            <a:solidFill>
              <a:schemeClr val="tx1"/>
            </a:solidFill>
            <a:prstDash val="solid"/>
            <a:tailEnd type="triangle"/>
          </a:ln>
        </p:spPr>
      </p:sp>
      <p:sp>
        <p:nvSpPr>
          <p:cNvPr id="33" name="Text 30"/>
          <p:cNvSpPr txBox="1"/>
          <p:nvPr/>
        </p:nvSpPr>
        <p:spPr>
          <a:xfrm>
            <a:off x="5280660" y="4227004"/>
            <a:ext cx="777240" cy="173355"/>
          </a:xfrm>
          <a:prstGeom prst="rect">
            <a:avLst/>
          </a:prstGeom>
          <a:noFill/>
          <a:ln/>
        </p:spPr>
        <p:txBody>
          <a:bodyPr wrap="none" lIns="0" tIns="0" rIns="0" bIns="0" rtlCol="0" anchor="t"/>
          <a:lstStyle/>
          <a:p>
            <a:pPr algn="r" indent="0" marL="0">
              <a:buNone/>
            </a:pPr>
            <a:r>
              <a:rPr lang="en-US" sz="1050" dirty="0">
                <a:solidFill>
                  <a:schemeClr val="tx2"/>
                </a:solidFill>
                <a:latin typeface="Courier New" pitchFamily="34" charset="0"/>
                <a:ea typeface="Courier New" pitchFamily="34" charset="-122"/>
                <a:cs typeface="Courier New" pitchFamily="34" charset="-120"/>
              </a:rPr>
              <a:t>5432</a:t>
            </a:r>
            <a:endParaRPr lang="en-US" sz="1050" dirty="0"/>
          </a:p>
        </p:txBody>
      </p:sp>
      <p:sp>
        <p:nvSpPr>
          <p:cNvPr id="34" name="Shape 31"/>
          <p:cNvSpPr/>
          <p:nvPr/>
        </p:nvSpPr>
        <p:spPr>
          <a:xfrm>
            <a:off x="9886950" y="2255520"/>
            <a:ext cx="1619250" cy="914400"/>
          </a:xfrm>
          <a:prstGeom prst="roundRect">
            <a:avLst>
              <a:gd name="adj" fmla="val 6250"/>
            </a:avLst>
          </a:prstGeom>
          <a:solidFill>
            <a:schemeClr val="accent4">
              <a:alpha val="10000"/>
            </a:schemeClr>
          </a:solidFill>
          <a:ln w="19050">
            <a:solidFill>
              <a:schemeClr val="accent4"/>
            </a:solidFill>
            <a:prstDash val="solid"/>
          </a:ln>
        </p:spPr>
      </p:sp>
      <p:sp>
        <p:nvSpPr>
          <p:cNvPr id="35" name="Text 32"/>
          <p:cNvSpPr txBox="1"/>
          <p:nvPr/>
        </p:nvSpPr>
        <p:spPr>
          <a:xfrm>
            <a:off x="9963150" y="2459355"/>
            <a:ext cx="146685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S3 uploads</a:t>
            </a:r>
            <a:endParaRPr lang="en-US" sz="1500" dirty="0"/>
          </a:p>
        </p:txBody>
      </p:sp>
      <p:sp>
        <p:nvSpPr>
          <p:cNvPr id="36" name="Text 33"/>
          <p:cNvSpPr txBox="1"/>
          <p:nvPr/>
        </p:nvSpPr>
        <p:spPr>
          <a:xfrm>
            <a:off x="9987915" y="2732246"/>
            <a:ext cx="14173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private bucket</a:t>
            </a:r>
            <a:endParaRPr lang="en-US" sz="1125" dirty="0"/>
          </a:p>
        </p:txBody>
      </p:sp>
      <p:sp>
        <p:nvSpPr>
          <p:cNvPr id="37" name="Shape 34"/>
          <p:cNvSpPr/>
          <p:nvPr/>
        </p:nvSpPr>
        <p:spPr>
          <a:xfrm>
            <a:off x="5657850" y="2865120"/>
            <a:ext cx="647700" cy="0"/>
          </a:xfrm>
          <a:prstGeom prst="line">
            <a:avLst/>
          </a:prstGeom>
          <a:noFill/>
          <a:ln w="19050">
            <a:solidFill>
              <a:schemeClr val="tx1"/>
            </a:solidFill>
            <a:prstDash val="solid"/>
          </a:ln>
        </p:spPr>
      </p:sp>
      <p:sp>
        <p:nvSpPr>
          <p:cNvPr id="38" name="Shape 35"/>
          <p:cNvSpPr/>
          <p:nvPr/>
        </p:nvSpPr>
        <p:spPr>
          <a:xfrm flipV="1">
            <a:off x="6305550" y="1988820"/>
            <a:ext cx="0" cy="876300"/>
          </a:xfrm>
          <a:prstGeom prst="line">
            <a:avLst/>
          </a:prstGeom>
          <a:noFill/>
          <a:ln w="19050">
            <a:solidFill>
              <a:schemeClr val="tx1"/>
            </a:solidFill>
            <a:prstDash val="solid"/>
          </a:ln>
        </p:spPr>
      </p:sp>
      <p:sp>
        <p:nvSpPr>
          <p:cNvPr id="39" name="Shape 36"/>
          <p:cNvSpPr/>
          <p:nvPr/>
        </p:nvSpPr>
        <p:spPr>
          <a:xfrm>
            <a:off x="6305550" y="1988820"/>
            <a:ext cx="4391025" cy="0"/>
          </a:xfrm>
          <a:prstGeom prst="line">
            <a:avLst/>
          </a:prstGeom>
          <a:noFill/>
          <a:ln w="19050">
            <a:solidFill>
              <a:schemeClr val="tx1"/>
            </a:solidFill>
            <a:prstDash val="solid"/>
          </a:ln>
        </p:spPr>
      </p:sp>
      <p:sp>
        <p:nvSpPr>
          <p:cNvPr id="40" name="Shape 37"/>
          <p:cNvSpPr/>
          <p:nvPr/>
        </p:nvSpPr>
        <p:spPr>
          <a:xfrm>
            <a:off x="10696575" y="1988820"/>
            <a:ext cx="0" cy="228600"/>
          </a:xfrm>
          <a:prstGeom prst="line">
            <a:avLst/>
          </a:prstGeom>
          <a:noFill/>
          <a:ln w="19050">
            <a:solidFill>
              <a:schemeClr val="tx1"/>
            </a:solidFill>
            <a:prstDash val="solid"/>
            <a:tailEnd type="triangle"/>
          </a:ln>
        </p:spPr>
      </p:sp>
      <p:sp>
        <p:nvSpPr>
          <p:cNvPr id="41" name="Text 38"/>
          <p:cNvSpPr txBox="1"/>
          <p:nvPr/>
        </p:nvSpPr>
        <p:spPr>
          <a:xfrm>
            <a:off x="7006590" y="2055304"/>
            <a:ext cx="221742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ActiveStorage · S3 API</a:t>
            </a:r>
            <a:endParaRPr lang="en-US" sz="1050" dirty="0"/>
          </a:p>
        </p:txBody>
      </p:sp>
      <p:sp>
        <p:nvSpPr>
          <p:cNvPr id="42" name="Shape 39"/>
          <p:cNvSpPr/>
          <p:nvPr/>
        </p:nvSpPr>
        <p:spPr>
          <a:xfrm>
            <a:off x="9886950" y="4312920"/>
            <a:ext cx="1619250" cy="914400"/>
          </a:xfrm>
          <a:prstGeom prst="roundRect">
            <a:avLst>
              <a:gd name="adj" fmla="val 6250"/>
            </a:avLst>
          </a:prstGeom>
          <a:solidFill>
            <a:schemeClr val="accent5">
              <a:alpha val="10000"/>
            </a:schemeClr>
          </a:solidFill>
          <a:ln w="19050">
            <a:solidFill>
              <a:schemeClr val="accent5"/>
            </a:solidFill>
            <a:prstDash val="solid"/>
          </a:ln>
        </p:spPr>
      </p:sp>
      <p:sp>
        <p:nvSpPr>
          <p:cNvPr id="43" name="Text 40"/>
          <p:cNvSpPr txBox="1"/>
          <p:nvPr/>
        </p:nvSpPr>
        <p:spPr>
          <a:xfrm>
            <a:off x="9761220" y="4516755"/>
            <a:ext cx="187071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IAM user + key</a:t>
            </a:r>
            <a:endParaRPr lang="en-US" sz="1500" dirty="0"/>
          </a:p>
        </p:txBody>
      </p:sp>
      <p:sp>
        <p:nvSpPr>
          <p:cNvPr id="44" name="Text 41"/>
          <p:cNvSpPr txBox="1"/>
          <p:nvPr/>
        </p:nvSpPr>
        <p:spPr>
          <a:xfrm>
            <a:off x="9782175" y="4789646"/>
            <a:ext cx="18288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scoped to the bucket</a:t>
            </a:r>
            <a:endParaRPr lang="en-US" sz="1125" dirty="0"/>
          </a:p>
        </p:txBody>
      </p:sp>
      <p:sp>
        <p:nvSpPr>
          <p:cNvPr id="45" name="Shape 42"/>
          <p:cNvSpPr/>
          <p:nvPr/>
        </p:nvSpPr>
        <p:spPr>
          <a:xfrm flipV="1">
            <a:off x="10696575" y="3208020"/>
            <a:ext cx="0" cy="1104900"/>
          </a:xfrm>
          <a:prstGeom prst="line">
            <a:avLst/>
          </a:prstGeom>
          <a:noFill/>
          <a:ln w="19050">
            <a:solidFill>
              <a:schemeClr val="tx2"/>
            </a:solidFill>
            <a:prstDash val="dash"/>
          </a:ln>
        </p:spPr>
      </p:sp>
      <p:sp>
        <p:nvSpPr>
          <p:cNvPr id="46" name="Text 43"/>
          <p:cNvSpPr txBox="1"/>
          <p:nvPr/>
        </p:nvSpPr>
        <p:spPr>
          <a:xfrm>
            <a:off x="10810875" y="3693604"/>
            <a:ext cx="93726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allows</a:t>
            </a:r>
            <a:endParaRPr lang="en-US" sz="1050" dirty="0"/>
          </a:p>
        </p:txBody>
      </p:sp>
      <p:sp>
        <p:nvSpPr>
          <p:cNvPr id="47" name="Shape 44"/>
          <p:cNvSpPr/>
          <p:nvPr/>
        </p:nvSpPr>
        <p:spPr>
          <a:xfrm>
            <a:off x="685800" y="4846320"/>
            <a:ext cx="1809750" cy="666750"/>
          </a:xfrm>
          <a:prstGeom prst="roundRect">
            <a:avLst>
              <a:gd name="adj" fmla="val 8571"/>
            </a:avLst>
          </a:prstGeom>
          <a:ln w="19050">
            <a:solidFill>
              <a:schemeClr val="tx2"/>
            </a:solidFill>
            <a:prstDash val="dash"/>
          </a:ln>
        </p:spPr>
      </p:sp>
      <p:sp>
        <p:nvSpPr>
          <p:cNvPr id="48" name="Text 45"/>
          <p:cNvSpPr txBox="1"/>
          <p:nvPr/>
        </p:nvSpPr>
        <p:spPr>
          <a:xfrm>
            <a:off x="882015" y="5112829"/>
            <a:ext cx="141732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kamal deploy</a:t>
            </a:r>
            <a:endParaRPr lang="en-US" sz="1050" dirty="0"/>
          </a:p>
        </p:txBody>
      </p:sp>
      <p:sp>
        <p:nvSpPr>
          <p:cNvPr id="49" name="Shape 46"/>
          <p:cNvSpPr/>
          <p:nvPr/>
        </p:nvSpPr>
        <p:spPr>
          <a:xfrm>
            <a:off x="2495550" y="5179695"/>
            <a:ext cx="2152650" cy="0"/>
          </a:xfrm>
          <a:prstGeom prst="line">
            <a:avLst/>
          </a:prstGeom>
          <a:noFill/>
          <a:ln w="19050">
            <a:solidFill>
              <a:schemeClr val="tx2"/>
            </a:solidFill>
            <a:prstDash val="dash"/>
          </a:ln>
        </p:spPr>
      </p:sp>
      <p:sp>
        <p:nvSpPr>
          <p:cNvPr id="50" name="Shape 47"/>
          <p:cNvSpPr/>
          <p:nvPr/>
        </p:nvSpPr>
        <p:spPr>
          <a:xfrm flipV="1">
            <a:off x="4648200" y="4960620"/>
            <a:ext cx="0" cy="219075"/>
          </a:xfrm>
          <a:prstGeom prst="line">
            <a:avLst/>
          </a:prstGeom>
          <a:noFill/>
          <a:ln w="19050">
            <a:solidFill>
              <a:schemeClr val="tx2"/>
            </a:solidFill>
            <a:prstDash val="dash"/>
            <a:tailEnd type="triangle"/>
          </a:ln>
        </p:spPr>
      </p:sp>
      <p:sp>
        <p:nvSpPr>
          <p:cNvPr id="51" name="Text 48"/>
          <p:cNvSpPr txBox="1"/>
          <p:nvPr/>
        </p:nvSpPr>
        <p:spPr>
          <a:xfrm>
            <a:off x="3194685" y="4989005"/>
            <a:ext cx="69723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SSH</a:t>
            </a:r>
            <a:endParaRPr lang="en-US" sz="1050" dirty="0"/>
          </a:p>
        </p:txBody>
      </p:sp>
      <p:sp>
        <p:nvSpPr>
          <p:cNvPr id="52" name="Caption"/>
          <p:cNvSpPr txBox="1"/>
          <p:nvPr/>
        </p:nvSpPr>
        <p:spPr>
          <a:xfrm>
            <a:off x="685800" y="5974080"/>
            <a:ext cx="10058400" cy="21717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Postgres is one box. The indigo around it is what keeps it private, and it's most of the file.</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CODE THAT MATTERS</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Public is a route, not a setting</a:t>
            </a:r>
            <a:endParaRPr lang="en-US" sz="3600" dirty="0"/>
          </a:p>
        </p:txBody>
      </p:sp>
      <p:sp>
        <p:nvSpPr>
          <p:cNvPr id="6" name="Code"/>
          <p:cNvSpPr txBox="1"/>
          <p:nvPr/>
        </p:nvSpPr>
        <p:spPr>
          <a:xfrm>
            <a:off x="685800" y="1645920"/>
            <a:ext cx="5975390" cy="3861816"/>
          </a:xfrm>
          <a:prstGeom prst="roundRect">
            <a:avLst>
              <a:gd name="adj" fmla="val 1421"/>
            </a:avLst>
          </a:prstGeom>
          <a:solidFill>
            <a:srgbClr val="E6EAE4"/>
          </a:solidFill>
          <a:ln/>
        </p:spPr>
        <p:txBody>
          <a:bodyPr wrap="square" lIns="246888" tIns="246888" rIns="246888" bIns="246888" rtlCol="0" anchor="t"/>
          <a:lstStyle/>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"aws_internet_gateway"</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"main"</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vpc_id = aws_vpc.main.id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"aws_route_table"</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"public"</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vpc_id = aws_vpc.main.id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route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tx1"/>
                </a:solidFill>
                <a:highlight>
                  <a:srgbClr val="CBE3D3"/>
                </a:highlight>
                <a:latin typeface="Courier New" pitchFamily="34" charset="0"/>
                <a:ea typeface="Courier New" pitchFamily="34" charset="-122"/>
                <a:cs typeface="Courier New" pitchFamily="34" charset="-120"/>
              </a:rPr>
              <a:t>cidr_block = </a:t>
            </a:r>
            <a:pPr indent="0" marL="0">
              <a:lnSpc>
                <a:spcPct val="105000"/>
              </a:lnSpc>
              <a:buNone/>
            </a:pPr>
            <a:r>
              <a:rPr lang="en-US" sz="1275" dirty="0">
                <a:solidFill>
                  <a:schemeClr val="accent4"/>
                </a:solidFill>
                <a:highlight>
                  <a:srgbClr val="CBE3D3"/>
                </a:highlight>
                <a:latin typeface="Courier New" pitchFamily="34" charset="0"/>
                <a:ea typeface="Courier New" pitchFamily="34" charset="-122"/>
                <a:cs typeface="Courier New" pitchFamily="34" charset="-120"/>
              </a:rPr>
              <a:t>"0.0.0.0/0"</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tx1"/>
                </a:solidFill>
                <a:highlight>
                  <a:srgbClr val="CBE3D3"/>
                </a:highlight>
                <a:latin typeface="Courier New" pitchFamily="34" charset="0"/>
                <a:ea typeface="Courier New" pitchFamily="34" charset="-122"/>
                <a:cs typeface="Courier New" pitchFamily="34" charset="-120"/>
              </a:rPr>
              <a:t>gateway_id = aws_internet_gateway.main.id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resource</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"aws_route_table_association"</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"public"</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subnet_id      = aws_subnet.public.id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route_table_id = aws_route_table.public.id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p:txBody>
      </p:sp>
      <p:sp>
        <p:nvSpPr>
          <p:cNvPr id="7" name="Text 4"/>
          <p:cNvSpPr txBox="1"/>
          <p:nvPr/>
        </p:nvSpPr>
        <p:spPr>
          <a:xfrm>
            <a:off x="7079985" y="1645920"/>
            <a:ext cx="4426215"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THREE IDEAS</a:t>
            </a:r>
            <a:endParaRPr lang="en-US" sz="1050" dirty="0"/>
          </a:p>
        </p:txBody>
      </p:sp>
      <p:sp>
        <p:nvSpPr>
          <p:cNvPr id="8" name="Callout"/>
          <p:cNvSpPr txBox="1"/>
          <p:nvPr/>
        </p:nvSpPr>
        <p:spPr>
          <a:xfrm>
            <a:off x="7079985" y="2039112"/>
            <a:ext cx="4426215" cy="100584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A route makes it public.</a:t>
            </a:r>
            <a:pPr indent="0" marL="0">
              <a:lnSpc>
                <a:spcPct val="100000"/>
              </a:lnSpc>
              <a:buNone/>
            </a:pPr>
            <a:r>
              <a:rPr lang="en-US" sz="1650" dirty="0">
                <a:solidFill>
                  <a:schemeClr val="tx1"/>
                </a:solidFill>
                <a:latin typeface="Arial" pitchFamily="34" charset="0"/>
                <a:ea typeface="Arial" pitchFamily="34" charset="-122"/>
                <a:cs typeface="Arial" pitchFamily="34" charset="-120"/>
              </a:rPr>
              <a:t> The public subnet sends everything else to the internet gateway. The private ones have no such route.</a:t>
            </a:r>
            <a:endParaRPr lang="en-US" sz="1650" dirty="0"/>
          </a:p>
        </p:txBody>
      </p:sp>
      <p:sp>
        <p:nvSpPr>
          <p:cNvPr id="9" name="Callout"/>
          <p:cNvSpPr txBox="1"/>
          <p:nvPr/>
        </p:nvSpPr>
        <p:spPr>
          <a:xfrm>
            <a:off x="7079985" y="3236976"/>
            <a:ext cx="4426215" cy="75438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A security group makes it allowed.</a:t>
            </a:r>
            <a:pPr indent="0" marL="0">
              <a:lnSpc>
                <a:spcPct val="100000"/>
              </a:lnSpc>
              <a:buNone/>
            </a:pPr>
            <a:r>
              <a:rPr lang="en-US" sz="1650" dirty="0">
                <a:solidFill>
                  <a:schemeClr val="tx1"/>
                </a:solidFill>
                <a:latin typeface="Arial" pitchFamily="34" charset="0"/>
                <a:ea typeface="Arial" pitchFamily="34" charset="-122"/>
                <a:cs typeface="Arial" pitchFamily="34" charset="-120"/>
              </a:rPr>
              <a:t> Postgres admits 5432 only from the app's group, by reference, not by address.</a:t>
            </a:r>
            <a:endParaRPr lang="en-US" sz="1650" dirty="0"/>
          </a:p>
        </p:txBody>
      </p:sp>
      <p:sp>
        <p:nvSpPr>
          <p:cNvPr id="10" name="Callout"/>
          <p:cNvSpPr txBox="1"/>
          <p:nvPr/>
        </p:nvSpPr>
        <p:spPr>
          <a:xfrm>
            <a:off x="7079985" y="4183380"/>
            <a:ext cx="4426215" cy="754380"/>
          </a:xfrm>
          <a:prstGeom prst="rect">
            <a:avLst/>
          </a:prstGeom>
          <a:noFill/>
          <a:ln/>
        </p:spPr>
        <p:txBody>
          <a:bodyPr wrap="square" lIns="0" tIns="0" rIns="0" bIns="0" rtlCol="0" anchor="t"/>
          <a:lstStyle/>
          <a:p>
            <a:pPr indent="0" marL="0">
              <a:lnSpc>
                <a:spcPct val="100000"/>
              </a:lnSpc>
              <a:buNone/>
            </a:pPr>
            <a:r>
              <a:rPr lang="en-US" sz="1650" b="1" dirty="0">
                <a:solidFill>
                  <a:schemeClr val="tx1"/>
                </a:solidFill>
                <a:latin typeface="Arial" pitchFamily="34" charset="0"/>
                <a:ea typeface="Arial" pitchFamily="34" charset="-122"/>
                <a:cs typeface="Arial" pitchFamily="34" charset="-120"/>
              </a:rPr>
              <a:t>Two zones, because RDS asks.</a:t>
            </a:r>
            <a:pPr indent="0" marL="0">
              <a:lnSpc>
                <a:spcPct val="100000"/>
              </a:lnSpc>
              <a:buNone/>
            </a:pPr>
            <a:r>
              <a:rPr lang="en-US" sz="1650" dirty="0">
                <a:solidFill>
                  <a:schemeClr val="tx1"/>
                </a:solidFill>
                <a:latin typeface="Arial" pitchFamily="34" charset="0"/>
                <a:ea typeface="Arial" pitchFamily="34" charset="-122"/>
                <a:cs typeface="Arial" pitchFamily="34" charset="-120"/>
              </a:rPr>
              <a:t> One database still needs subnets in two availability zones.</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TERRAFORM PLAN</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ledger</a:t>
            </a:r>
            <a:endParaRPr lang="en-US" sz="3600" dirty="0"/>
          </a:p>
        </p:txBody>
      </p:sp>
      <p:sp>
        <p:nvSpPr>
          <p:cNvPr id="6" name="Shape 3"/>
          <p:cNvSpPr/>
          <p:nvPr/>
        </p:nvSpPr>
        <p:spPr>
          <a:xfrm>
            <a:off x="685800" y="1801368"/>
            <a:ext cx="114300" cy="114300"/>
          </a:xfrm>
          <a:prstGeom prst="roundRect">
            <a:avLst>
              <a:gd name="adj" fmla="val 16000"/>
            </a:avLst>
          </a:prstGeom>
          <a:solidFill>
            <a:schemeClr val="accent1"/>
          </a:solidFill>
          <a:ln/>
        </p:spPr>
      </p:sp>
      <p:sp>
        <p:nvSpPr>
          <p:cNvPr id="7" name="Ledger group"/>
          <p:cNvSpPr txBox="1"/>
          <p:nvPr/>
        </p:nvSpPr>
        <p:spPr>
          <a:xfrm>
            <a:off x="886968" y="1755648"/>
            <a:ext cx="4980432" cy="219456"/>
          </a:xfrm>
          <a:prstGeom prst="rect">
            <a:avLst/>
          </a:prstGeom>
          <a:noFill/>
          <a:ln/>
        </p:spPr>
        <p:txBody>
          <a:bodyPr wrap="square" lIns="0" tIns="0" rIns="0" bIns="0" rtlCol="0" anchor="t"/>
          <a:lstStyle/>
          <a:p>
            <a:pPr indent="0" marL="0">
              <a:buNone/>
            </a:pPr>
            <a:r>
              <a:rPr lang="en-US" sz="1050" spc="100" kern="0" dirty="0">
                <a:solidFill>
                  <a:schemeClr val="accent1"/>
                </a:solidFill>
                <a:latin typeface="Courier New" pitchFamily="34" charset="0"/>
                <a:ea typeface="Courier New" pitchFamily="34" charset="-122"/>
                <a:cs typeface="Courier New" pitchFamily="34" charset="-120"/>
              </a:rPr>
              <a:t>NETWORK · 9</a:t>
            </a:r>
            <a:endParaRPr lang="en-US" sz="1050" dirty="0"/>
          </a:p>
        </p:txBody>
      </p:sp>
      <p:sp>
        <p:nvSpPr>
          <p:cNvPr id="8" name="Text 5"/>
          <p:cNvSpPr txBox="1"/>
          <p:nvPr/>
        </p:nvSpPr>
        <p:spPr>
          <a:xfrm>
            <a:off x="685800" y="20299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9" name="Ledger resource"/>
          <p:cNvSpPr txBox="1"/>
          <p:nvPr/>
        </p:nvSpPr>
        <p:spPr>
          <a:xfrm>
            <a:off x="896112" y="20299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aws_vpc.main</a:t>
            </a:r>
            <a:endParaRPr lang="en-US" sz="1350" dirty="0"/>
          </a:p>
        </p:txBody>
      </p:sp>
      <p:sp>
        <p:nvSpPr>
          <p:cNvPr id="10" name="Text 7"/>
          <p:cNvSpPr txBox="1"/>
          <p:nvPr/>
        </p:nvSpPr>
        <p:spPr>
          <a:xfrm>
            <a:off x="685800" y="233172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1" name="Ledger resource"/>
          <p:cNvSpPr txBox="1"/>
          <p:nvPr/>
        </p:nvSpPr>
        <p:spPr>
          <a:xfrm>
            <a:off x="896112" y="233172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aws_internet_gateway.main</a:t>
            </a:r>
            <a:endParaRPr lang="en-US" sz="1350" dirty="0"/>
          </a:p>
        </p:txBody>
      </p:sp>
      <p:sp>
        <p:nvSpPr>
          <p:cNvPr id="12" name="Text 9"/>
          <p:cNvSpPr txBox="1"/>
          <p:nvPr/>
        </p:nvSpPr>
        <p:spPr>
          <a:xfrm>
            <a:off x="685800" y="263347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3" name="Ledger resource"/>
          <p:cNvSpPr txBox="1"/>
          <p:nvPr/>
        </p:nvSpPr>
        <p:spPr>
          <a:xfrm>
            <a:off x="896112" y="263347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aws_route_table.public</a:t>
            </a:r>
            <a:endParaRPr lang="en-US" sz="1350" dirty="0"/>
          </a:p>
        </p:txBody>
      </p:sp>
      <p:sp>
        <p:nvSpPr>
          <p:cNvPr id="14" name="Text 11"/>
          <p:cNvSpPr txBox="1"/>
          <p:nvPr/>
        </p:nvSpPr>
        <p:spPr>
          <a:xfrm>
            <a:off x="685800" y="293522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5" name="Ledger resource"/>
          <p:cNvSpPr txBox="1"/>
          <p:nvPr/>
        </p:nvSpPr>
        <p:spPr>
          <a:xfrm>
            <a:off x="896112" y="293522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aws_route_table_association.public</a:t>
            </a:r>
            <a:endParaRPr lang="en-US" sz="1350" dirty="0"/>
          </a:p>
        </p:txBody>
      </p:sp>
      <p:sp>
        <p:nvSpPr>
          <p:cNvPr id="16" name="Text 13"/>
          <p:cNvSpPr txBox="1"/>
          <p:nvPr/>
        </p:nvSpPr>
        <p:spPr>
          <a:xfrm>
            <a:off x="685800" y="3236976"/>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7" name="Ledger resource"/>
          <p:cNvSpPr txBox="1"/>
          <p:nvPr/>
        </p:nvSpPr>
        <p:spPr>
          <a:xfrm>
            <a:off x="896112" y="3236976"/>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aws_subnet.public</a:t>
            </a:r>
            <a:endParaRPr lang="en-US" sz="1350" dirty="0"/>
          </a:p>
        </p:txBody>
      </p:sp>
      <p:sp>
        <p:nvSpPr>
          <p:cNvPr id="18" name="Text 15"/>
          <p:cNvSpPr txBox="1"/>
          <p:nvPr/>
        </p:nvSpPr>
        <p:spPr>
          <a:xfrm>
            <a:off x="685800" y="353872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9" name="Ledger resource"/>
          <p:cNvSpPr txBox="1"/>
          <p:nvPr/>
        </p:nvSpPr>
        <p:spPr>
          <a:xfrm>
            <a:off x="896112" y="353872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aws_subnet.private[0], [1]</a:t>
            </a:r>
            <a:endParaRPr lang="en-US" sz="1350" dirty="0"/>
          </a:p>
        </p:txBody>
      </p:sp>
      <p:sp>
        <p:nvSpPr>
          <p:cNvPr id="20" name="Text 17"/>
          <p:cNvSpPr txBox="1"/>
          <p:nvPr/>
        </p:nvSpPr>
        <p:spPr>
          <a:xfrm>
            <a:off x="896112" y="3785616"/>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Two AZs, because RDS requires it</a:t>
            </a:r>
            <a:endParaRPr lang="en-US" sz="1200" dirty="0"/>
          </a:p>
        </p:txBody>
      </p:sp>
      <p:sp>
        <p:nvSpPr>
          <p:cNvPr id="21" name="Text 18"/>
          <p:cNvSpPr txBox="1"/>
          <p:nvPr/>
        </p:nvSpPr>
        <p:spPr>
          <a:xfrm>
            <a:off x="685800" y="404164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2" name="Ledger resource"/>
          <p:cNvSpPr txBox="1"/>
          <p:nvPr/>
        </p:nvSpPr>
        <p:spPr>
          <a:xfrm>
            <a:off x="896112" y="404164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aws_security_group.app</a:t>
            </a:r>
            <a:endParaRPr lang="en-US" sz="1350" dirty="0"/>
          </a:p>
        </p:txBody>
      </p:sp>
      <p:sp>
        <p:nvSpPr>
          <p:cNvPr id="23" name="Text 20"/>
          <p:cNvSpPr txBox="1"/>
          <p:nvPr/>
        </p:nvSpPr>
        <p:spPr>
          <a:xfrm>
            <a:off x="685800" y="434340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4" name="Ledger resource"/>
          <p:cNvSpPr txBox="1"/>
          <p:nvPr/>
        </p:nvSpPr>
        <p:spPr>
          <a:xfrm>
            <a:off x="896112" y="434340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aws_security_group.db</a:t>
            </a:r>
            <a:endParaRPr lang="en-US" sz="1350" dirty="0"/>
          </a:p>
        </p:txBody>
      </p:sp>
      <p:sp>
        <p:nvSpPr>
          <p:cNvPr id="25" name="Text 22"/>
          <p:cNvSpPr txBox="1"/>
          <p:nvPr/>
        </p:nvSpPr>
        <p:spPr>
          <a:xfrm>
            <a:off x="896112" y="4590288"/>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5432 from the app SG only</a:t>
            </a:r>
            <a:endParaRPr lang="en-US" sz="1200" dirty="0"/>
          </a:p>
        </p:txBody>
      </p:sp>
      <p:sp>
        <p:nvSpPr>
          <p:cNvPr id="26" name="Shape 23"/>
          <p:cNvSpPr/>
          <p:nvPr/>
        </p:nvSpPr>
        <p:spPr>
          <a:xfrm>
            <a:off x="685800" y="5001768"/>
            <a:ext cx="114300" cy="114300"/>
          </a:xfrm>
          <a:prstGeom prst="roundRect">
            <a:avLst>
              <a:gd name="adj" fmla="val 16000"/>
            </a:avLst>
          </a:prstGeom>
          <a:solidFill>
            <a:schemeClr val="accent3"/>
          </a:solidFill>
          <a:ln/>
        </p:spPr>
      </p:sp>
      <p:sp>
        <p:nvSpPr>
          <p:cNvPr id="27" name="Ledger group"/>
          <p:cNvSpPr txBox="1"/>
          <p:nvPr/>
        </p:nvSpPr>
        <p:spPr>
          <a:xfrm>
            <a:off x="886968" y="4956048"/>
            <a:ext cx="4980432" cy="219456"/>
          </a:xfrm>
          <a:prstGeom prst="rect">
            <a:avLst/>
          </a:prstGeom>
          <a:noFill/>
          <a:ln/>
        </p:spPr>
        <p:txBody>
          <a:bodyPr wrap="square" lIns="0" tIns="0" rIns="0" bIns="0" rtlCol="0" anchor="t"/>
          <a:lstStyle/>
          <a:p>
            <a:pPr indent="0" marL="0">
              <a:buNone/>
            </a:pPr>
            <a:r>
              <a:rPr lang="en-US" sz="1050" spc="100" kern="0" dirty="0">
                <a:solidFill>
                  <a:schemeClr val="accent3"/>
                </a:solidFill>
                <a:latin typeface="Courier New" pitchFamily="34" charset="0"/>
                <a:ea typeface="Courier New" pitchFamily="34" charset="-122"/>
                <a:cs typeface="Courier New" pitchFamily="34" charset="-120"/>
              </a:rPr>
              <a:t>COMPUTE · 2</a:t>
            </a:r>
            <a:endParaRPr lang="en-US" sz="1050" dirty="0"/>
          </a:p>
        </p:txBody>
      </p:sp>
      <p:sp>
        <p:nvSpPr>
          <p:cNvPr id="28" name="Text 25"/>
          <p:cNvSpPr txBox="1"/>
          <p:nvPr/>
        </p:nvSpPr>
        <p:spPr>
          <a:xfrm>
            <a:off x="685800" y="52303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9" name="Ledger resource"/>
          <p:cNvSpPr txBox="1"/>
          <p:nvPr/>
        </p:nvSpPr>
        <p:spPr>
          <a:xfrm>
            <a:off x="896112" y="52303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aws_instance.app, aws_key_pair.deploy</a:t>
            </a:r>
            <a:endParaRPr lang="en-US" sz="1350" dirty="0"/>
          </a:p>
        </p:txBody>
      </p:sp>
      <p:sp>
        <p:nvSpPr>
          <p:cNvPr id="30" name="Shape 27"/>
          <p:cNvSpPr/>
          <p:nvPr/>
        </p:nvSpPr>
        <p:spPr>
          <a:xfrm>
            <a:off x="6324600" y="1801368"/>
            <a:ext cx="114300" cy="114300"/>
          </a:xfrm>
          <a:prstGeom prst="roundRect">
            <a:avLst>
              <a:gd name="adj" fmla="val 16000"/>
            </a:avLst>
          </a:prstGeom>
          <a:solidFill>
            <a:schemeClr val="accent4"/>
          </a:solidFill>
          <a:ln/>
        </p:spPr>
      </p:sp>
      <p:sp>
        <p:nvSpPr>
          <p:cNvPr id="31" name="Ledger group"/>
          <p:cNvSpPr txBox="1"/>
          <p:nvPr/>
        </p:nvSpPr>
        <p:spPr>
          <a:xfrm>
            <a:off x="6525768" y="1755648"/>
            <a:ext cx="4980432" cy="219456"/>
          </a:xfrm>
          <a:prstGeom prst="rect">
            <a:avLst/>
          </a:prstGeom>
          <a:noFill/>
          <a:ln/>
        </p:spPr>
        <p:txBody>
          <a:bodyPr wrap="square" lIns="0" tIns="0" rIns="0" bIns="0" rtlCol="0" anchor="t"/>
          <a:lstStyle/>
          <a:p>
            <a:pPr indent="0" marL="0">
              <a:buNone/>
            </a:pPr>
            <a:r>
              <a:rPr lang="en-US" sz="1050" spc="100" kern="0" dirty="0">
                <a:solidFill>
                  <a:schemeClr val="accent4"/>
                </a:solidFill>
                <a:latin typeface="Courier New" pitchFamily="34" charset="0"/>
                <a:ea typeface="Courier New" pitchFamily="34" charset="-122"/>
                <a:cs typeface="Courier New" pitchFamily="34" charset="-120"/>
              </a:rPr>
              <a:t>DATA · 5</a:t>
            </a:r>
            <a:endParaRPr lang="en-US" sz="1050" dirty="0"/>
          </a:p>
        </p:txBody>
      </p:sp>
      <p:sp>
        <p:nvSpPr>
          <p:cNvPr id="32" name="Text 29"/>
          <p:cNvSpPr txBox="1"/>
          <p:nvPr/>
        </p:nvSpPr>
        <p:spPr>
          <a:xfrm>
            <a:off x="6324600" y="20299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3" name="Ledger resource"/>
          <p:cNvSpPr txBox="1"/>
          <p:nvPr/>
        </p:nvSpPr>
        <p:spPr>
          <a:xfrm>
            <a:off x="6534912" y="20299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aws_db_subnet_group.main</a:t>
            </a:r>
            <a:endParaRPr lang="en-US" sz="1350" dirty="0"/>
          </a:p>
        </p:txBody>
      </p:sp>
      <p:sp>
        <p:nvSpPr>
          <p:cNvPr id="34" name="Text 31"/>
          <p:cNvSpPr txBox="1"/>
          <p:nvPr/>
        </p:nvSpPr>
        <p:spPr>
          <a:xfrm>
            <a:off x="6324600" y="233172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5" name="Ledger resource"/>
          <p:cNvSpPr txBox="1"/>
          <p:nvPr/>
        </p:nvSpPr>
        <p:spPr>
          <a:xfrm>
            <a:off x="6534912" y="233172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random_password.db</a:t>
            </a:r>
            <a:endParaRPr lang="en-US" sz="1350" dirty="0"/>
          </a:p>
        </p:txBody>
      </p:sp>
      <p:sp>
        <p:nvSpPr>
          <p:cNvPr id="36" name="Text 33"/>
          <p:cNvSpPr txBox="1"/>
          <p:nvPr/>
        </p:nvSpPr>
        <p:spPr>
          <a:xfrm>
            <a:off x="6534912" y="2578608"/>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No default password in git</a:t>
            </a:r>
            <a:endParaRPr lang="en-US" sz="1200" dirty="0"/>
          </a:p>
        </p:txBody>
      </p:sp>
      <p:sp>
        <p:nvSpPr>
          <p:cNvPr id="37" name="Text 34"/>
          <p:cNvSpPr txBox="1"/>
          <p:nvPr/>
        </p:nvSpPr>
        <p:spPr>
          <a:xfrm>
            <a:off x="6324600" y="283464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8" name="Ledger resource"/>
          <p:cNvSpPr txBox="1"/>
          <p:nvPr/>
        </p:nvSpPr>
        <p:spPr>
          <a:xfrm>
            <a:off x="6534912" y="283464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aws_db_instance.main</a:t>
            </a:r>
            <a:endParaRPr lang="en-US" sz="1350" dirty="0"/>
          </a:p>
        </p:txBody>
      </p:sp>
      <p:sp>
        <p:nvSpPr>
          <p:cNvPr id="39" name="Text 36"/>
          <p:cNvSpPr txBox="1"/>
          <p:nvPr/>
        </p:nvSpPr>
        <p:spPr>
          <a:xfrm>
            <a:off x="6324600" y="313639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40" name="Ledger resource"/>
          <p:cNvSpPr txBox="1"/>
          <p:nvPr/>
        </p:nvSpPr>
        <p:spPr>
          <a:xfrm>
            <a:off x="6534912" y="313639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aws_s3_bucket.uploads</a:t>
            </a:r>
            <a:endParaRPr lang="en-US" sz="1350" dirty="0"/>
          </a:p>
        </p:txBody>
      </p:sp>
      <p:sp>
        <p:nvSpPr>
          <p:cNvPr id="41" name="Text 38"/>
          <p:cNvSpPr txBox="1"/>
          <p:nvPr/>
        </p:nvSpPr>
        <p:spPr>
          <a:xfrm>
            <a:off x="6324600" y="343814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42" name="Ledger resource"/>
          <p:cNvSpPr txBox="1"/>
          <p:nvPr/>
        </p:nvSpPr>
        <p:spPr>
          <a:xfrm>
            <a:off x="6534912" y="343814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aws_s3_bucket_public_access_block.uploads</a:t>
            </a:r>
            <a:endParaRPr lang="en-US" sz="1350" dirty="0"/>
          </a:p>
        </p:txBody>
      </p:sp>
      <p:sp>
        <p:nvSpPr>
          <p:cNvPr id="43" name="Shape 40"/>
          <p:cNvSpPr/>
          <p:nvPr/>
        </p:nvSpPr>
        <p:spPr>
          <a:xfrm>
            <a:off x="6324600" y="3895344"/>
            <a:ext cx="114300" cy="114300"/>
          </a:xfrm>
          <a:prstGeom prst="roundRect">
            <a:avLst>
              <a:gd name="adj" fmla="val 16000"/>
            </a:avLst>
          </a:prstGeom>
          <a:solidFill>
            <a:schemeClr val="accent5"/>
          </a:solidFill>
          <a:ln/>
        </p:spPr>
      </p:sp>
      <p:sp>
        <p:nvSpPr>
          <p:cNvPr id="44" name="Ledger group"/>
          <p:cNvSpPr txBox="1"/>
          <p:nvPr/>
        </p:nvSpPr>
        <p:spPr>
          <a:xfrm>
            <a:off x="6525768" y="3849624"/>
            <a:ext cx="4980432" cy="219456"/>
          </a:xfrm>
          <a:prstGeom prst="rect">
            <a:avLst/>
          </a:prstGeom>
          <a:noFill/>
          <a:ln/>
        </p:spPr>
        <p:txBody>
          <a:bodyPr wrap="square" lIns="0" tIns="0" rIns="0" bIns="0" rtlCol="0" anchor="t"/>
          <a:lstStyle/>
          <a:p>
            <a:pPr indent="0" marL="0">
              <a:buNone/>
            </a:pPr>
            <a:r>
              <a:rPr lang="en-US" sz="1050" spc="100" kern="0" dirty="0">
                <a:solidFill>
                  <a:schemeClr val="accent5"/>
                </a:solidFill>
                <a:latin typeface="Courier New" pitchFamily="34" charset="0"/>
                <a:ea typeface="Courier New" pitchFamily="34" charset="-122"/>
                <a:cs typeface="Courier New" pitchFamily="34" charset="-120"/>
              </a:rPr>
              <a:t>ACCESS · 3</a:t>
            </a:r>
            <a:endParaRPr lang="en-US" sz="1050" dirty="0"/>
          </a:p>
        </p:txBody>
      </p:sp>
      <p:sp>
        <p:nvSpPr>
          <p:cNvPr id="45" name="Text 42"/>
          <p:cNvSpPr txBox="1"/>
          <p:nvPr/>
        </p:nvSpPr>
        <p:spPr>
          <a:xfrm>
            <a:off x="6324600" y="412394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46" name="Ledger resource"/>
          <p:cNvSpPr txBox="1"/>
          <p:nvPr/>
        </p:nvSpPr>
        <p:spPr>
          <a:xfrm>
            <a:off x="6534912" y="412394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aws_iam_user.app</a:t>
            </a:r>
            <a:endParaRPr lang="en-US" sz="1350" dirty="0"/>
          </a:p>
        </p:txBody>
      </p:sp>
      <p:sp>
        <p:nvSpPr>
          <p:cNvPr id="47" name="Text 44"/>
          <p:cNvSpPr txBox="1"/>
          <p:nvPr/>
        </p:nvSpPr>
        <p:spPr>
          <a:xfrm>
            <a:off x="6324600" y="4425696"/>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48" name="Ledger resource"/>
          <p:cNvSpPr txBox="1"/>
          <p:nvPr/>
        </p:nvSpPr>
        <p:spPr>
          <a:xfrm>
            <a:off x="6534912" y="4425696"/>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aws_iam_access_key.app</a:t>
            </a:r>
            <a:endParaRPr lang="en-US" sz="1350" dirty="0"/>
          </a:p>
        </p:txBody>
      </p:sp>
      <p:sp>
        <p:nvSpPr>
          <p:cNvPr id="49" name="Text 46"/>
          <p:cNvSpPr txBox="1"/>
          <p:nvPr/>
        </p:nvSpPr>
        <p:spPr>
          <a:xfrm>
            <a:off x="6324600" y="472744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50" name="Ledger resource"/>
          <p:cNvSpPr txBox="1"/>
          <p:nvPr/>
        </p:nvSpPr>
        <p:spPr>
          <a:xfrm>
            <a:off x="6534912" y="472744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aws_iam_user_policy.app_uploads</a:t>
            </a:r>
            <a:endParaRPr lang="en-US" sz="1350" dirty="0"/>
          </a:p>
        </p:txBody>
      </p:sp>
      <p:sp>
        <p:nvSpPr>
          <p:cNvPr id="51" name="Shape 48"/>
          <p:cNvSpPr/>
          <p:nvPr/>
        </p:nvSpPr>
        <p:spPr>
          <a:xfrm>
            <a:off x="685800" y="5852160"/>
            <a:ext cx="10820400" cy="0"/>
          </a:xfrm>
          <a:prstGeom prst="line">
            <a:avLst/>
          </a:prstGeom>
          <a:noFill/>
          <a:ln w="9525">
            <a:solidFill>
              <a:srgbClr val="D3D9D2"/>
            </a:solidFill>
            <a:prstDash val="solid"/>
          </a:ln>
        </p:spPr>
      </p:sp>
      <p:sp>
        <p:nvSpPr>
          <p:cNvPr id="52" name="Plan summary"/>
          <p:cNvSpPr txBox="1"/>
          <p:nvPr/>
        </p:nvSpPr>
        <p:spPr>
          <a:xfrm>
            <a:off x="685800" y="5943600"/>
            <a:ext cx="10820400" cy="274320"/>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Plan: 19 to add</a:t>
            </a:r>
            <a:pPr indent="0" marL="0">
              <a:buNone/>
            </a:pPr>
            <a:r>
              <a:rPr lang="en-US" sz="1350" dirty="0">
                <a:solidFill>
                  <a:schemeClr val="tx1"/>
                </a:solidFill>
                <a:latin typeface="Courier New" pitchFamily="34" charset="0"/>
                <a:ea typeface="Courier New" pitchFamily="34" charset="-122"/>
                <a:cs typeface="Courier New" pitchFamily="34" charset="-120"/>
              </a:rPr>
              <a:t>, 0 to change, 0 to destroy.</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main.tf · 312 lines</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RDS: ~85s of a ~1.5 min apply</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CODE THAT MATTERS</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seam, read from state</a:t>
            </a:r>
            <a:endParaRPr lang="en-US" sz="3600" dirty="0"/>
          </a:p>
        </p:txBody>
      </p:sp>
      <p:sp>
        <p:nvSpPr>
          <p:cNvPr id="6" name="Code"/>
          <p:cNvSpPr txBox="1"/>
          <p:nvPr/>
        </p:nvSpPr>
        <p:spPr>
          <a:xfrm>
            <a:off x="685800" y="1645920"/>
            <a:ext cx="5975390" cy="3202527"/>
          </a:xfrm>
          <a:prstGeom prst="roundRect">
            <a:avLst>
              <a:gd name="adj" fmla="val 1713"/>
            </a:avLst>
          </a:prstGeom>
          <a:solidFill>
            <a:srgbClr val="E6EAE4"/>
          </a:solidFill>
          <a:ln/>
        </p:spPr>
        <p:txBody>
          <a:bodyPr wrap="square" lIns="246888" tIns="246888" rIns="246888" bIns="246888" rtlCol="0" anchor="t"/>
          <a:lstStyle/>
          <a:p>
            <a:pPr indent="0" marL="0">
              <a:lnSpc>
                <a:spcPct val="105000"/>
              </a:lnSpc>
              <a:buNone/>
            </a:pPr>
            <a:r>
              <a:rPr lang="en-US" sz="1262" dirty="0">
                <a:solidFill>
                  <a:schemeClr val="tx2"/>
                </a:solidFill>
                <a:latin typeface="Courier New" pitchFamily="34" charset="0"/>
                <a:ea typeface="Courier New" pitchFamily="34" charset="-122"/>
                <a:cs typeface="Courier New" pitchFamily="34" charset="-120"/>
              </a:rPr>
              <a:t># app/config/deploy.yml</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&lt;% tf = -&gt;(name) {</a:t>
            </a:r>
            <a:endParaRPr lang="en-US" sz="1262" dirty="0"/>
          </a:p>
          <a:p>
            <a:pPr indent="0" marL="0">
              <a:lnSpc>
                <a:spcPct val="105000"/>
              </a:lnSpc>
              <a:buNone/>
            </a:pPr>
            <a:r>
              <a:rPr lang="en-US" sz="1262" dirty="0">
                <a:solidFill>
                  <a:schemeClr val="tx1"/>
                </a:solidFill>
                <a:highlight>
                  <a:srgbClr val="CBE3D3"/>
                </a:highlight>
                <a:latin typeface="Courier New" pitchFamily="34" charset="0"/>
                <a:ea typeface="Courier New" pitchFamily="34" charset="-122"/>
                <a:cs typeface="Courier New" pitchFamily="34" charset="-120"/>
              </a:rPr>
              <a:t>`terraform -chdir=../terraform output -raw #{name}`</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.strip</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%&gt;</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a:t>
            </a:r>
            <a:endParaRPr lang="en-US" sz="1262" dirty="0"/>
          </a:p>
          <a:p>
            <a:pPr indent="0" marL="0">
              <a:lnSpc>
                <a:spcPct val="105000"/>
              </a:lnSpc>
              <a:buNone/>
            </a:pPr>
            <a:r>
              <a:rPr lang="en-US" sz="1262" b="1" dirty="0">
                <a:solidFill>
                  <a:schemeClr val="accent1"/>
                </a:solidFill>
                <a:latin typeface="Courier New" pitchFamily="34" charset="0"/>
                <a:ea typeface="Courier New" pitchFamily="34" charset="-122"/>
                <a:cs typeface="Courier New" pitchFamily="34" charset="-120"/>
              </a:rPr>
              <a:t>env</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a:t>
            </a:r>
            <a:endParaRPr lang="en-US" sz="1262" dirty="0"/>
          </a:p>
          <a:p>
            <a:pPr indent="0" marL="0">
              <a:lnSpc>
                <a:spcPct val="105000"/>
              </a:lnSpc>
              <a:buNone/>
            </a:pPr>
            <a:r>
              <a:rPr lang="en-US" sz="1262" b="1" dirty="0">
                <a:solidFill>
                  <a:schemeClr val="accent1"/>
                </a:solidFill>
                <a:latin typeface="Courier New" pitchFamily="34" charset="0"/>
                <a:ea typeface="Courier New" pitchFamily="34" charset="-122"/>
                <a:cs typeface="Courier New" pitchFamily="34" charset="-120"/>
              </a:rPr>
              <a:t>clear</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DB_HOST: &lt;%= tf.(</a:t>
            </a:r>
            <a:pPr indent="0" marL="0">
              <a:lnSpc>
                <a:spcPct val="105000"/>
              </a:lnSpc>
              <a:buNone/>
            </a:pPr>
            <a:r>
              <a:rPr lang="en-US" sz="1262" dirty="0">
                <a:solidFill>
                  <a:schemeClr val="accent4"/>
                </a:solidFill>
                <a:latin typeface="Courier New" pitchFamily="34" charset="0"/>
                <a:ea typeface="Courier New" pitchFamily="34" charset="-122"/>
                <a:cs typeface="Courier New" pitchFamily="34" charset="-120"/>
              </a:rPr>
              <a:t>"db_host"</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%&gt;</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DB_PORT: &lt;%= tf.(</a:t>
            </a:r>
            <a:pPr indent="0" marL="0">
              <a:lnSpc>
                <a:spcPct val="105000"/>
              </a:lnSpc>
              <a:buNone/>
            </a:pPr>
            <a:r>
              <a:rPr lang="en-US" sz="1262" dirty="0">
                <a:solidFill>
                  <a:schemeClr val="accent4"/>
                </a:solidFill>
                <a:latin typeface="Courier New" pitchFamily="34" charset="0"/>
                <a:ea typeface="Courier New" pitchFamily="34" charset="-122"/>
                <a:cs typeface="Courier New" pitchFamily="34" charset="-120"/>
              </a:rPr>
              <a:t>"db_port"</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%&gt;</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S3_BUCKET: &lt;%= tf.(</a:t>
            </a:r>
            <a:pPr indent="0" marL="0">
              <a:lnSpc>
                <a:spcPct val="105000"/>
              </a:lnSpc>
              <a:buNone/>
            </a:pPr>
            <a:r>
              <a:rPr lang="en-US" sz="1262" dirty="0">
                <a:solidFill>
                  <a:schemeClr val="accent4"/>
                </a:solidFill>
                <a:latin typeface="Courier New" pitchFamily="34" charset="0"/>
                <a:ea typeface="Courier New" pitchFamily="34" charset="-122"/>
                <a:cs typeface="Courier New" pitchFamily="34" charset="-120"/>
              </a:rPr>
              <a:t>"s3_bucket"</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%&gt;</a:t>
            </a:r>
            <a:endParaRPr lang="en-US" sz="1262" dirty="0"/>
          </a:p>
          <a:p>
            <a:pPr indent="0" marL="0">
              <a:lnSpc>
                <a:spcPct val="105000"/>
              </a:lnSpc>
              <a:buNone/>
            </a:pPr>
            <a:r>
              <a:rPr lang="en-US" sz="1262" b="1" dirty="0">
                <a:solidFill>
                  <a:schemeClr val="accent1"/>
                </a:solidFill>
                <a:latin typeface="Courier New" pitchFamily="34" charset="0"/>
                <a:ea typeface="Courier New" pitchFamily="34" charset="-122"/>
                <a:cs typeface="Courier New" pitchFamily="34" charset="-120"/>
              </a:rPr>
              <a:t>secret</a:t>
            </a:r>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 DB_PASSWORD      </a:t>
            </a:r>
            <a:pPr indent="0" marL="0">
              <a:lnSpc>
                <a:spcPct val="105000"/>
              </a:lnSpc>
              <a:buNone/>
            </a:pPr>
            <a:r>
              <a:rPr lang="en-US" sz="1262" dirty="0">
                <a:solidFill>
                  <a:schemeClr val="tx2"/>
                </a:solidFill>
                <a:latin typeface="Courier New" pitchFamily="34" charset="0"/>
                <a:ea typeface="Courier New" pitchFamily="34" charset="-122"/>
                <a:cs typeface="Courier New" pitchFamily="34" charset="-120"/>
              </a:rPr>
              <a:t># .kamal/secrets reads</a:t>
            </a:r>
            <a:endParaRPr lang="en-US" sz="1262" dirty="0"/>
          </a:p>
          <a:p>
            <a:pPr indent="0" marL="0">
              <a:lnSpc>
                <a:spcPct val="105000"/>
              </a:lnSpc>
              <a:buNone/>
            </a:pPr>
            <a:r>
              <a:rPr lang="en-US" sz="1262" dirty="0">
                <a:solidFill>
                  <a:schemeClr val="tx1"/>
                </a:solidFill>
                <a:latin typeface="Courier New" pitchFamily="34" charset="0"/>
                <a:ea typeface="Courier New" pitchFamily="34" charset="-122"/>
                <a:cs typeface="Courier New" pitchFamily="34" charset="-120"/>
              </a:rPr>
              <a:t>  - AWS_ACCESS_KEY_ID </a:t>
            </a:r>
            <a:pPr indent="0" marL="0">
              <a:lnSpc>
                <a:spcPct val="105000"/>
              </a:lnSpc>
              <a:buNone/>
            </a:pPr>
            <a:r>
              <a:rPr lang="en-US" sz="1262" dirty="0">
                <a:solidFill>
                  <a:schemeClr val="tx2"/>
                </a:solidFill>
                <a:latin typeface="Courier New" pitchFamily="34" charset="0"/>
                <a:ea typeface="Courier New" pitchFamily="34" charset="-122"/>
                <a:cs typeface="Courier New" pitchFamily="34" charset="-120"/>
              </a:rPr>
              <a:t># these from terraform too</a:t>
            </a:r>
            <a:endParaRPr lang="en-US" sz="1262" dirty="0"/>
          </a:p>
        </p:txBody>
      </p:sp>
      <p:sp>
        <p:nvSpPr>
          <p:cNvPr id="7" name="Text 4"/>
          <p:cNvSpPr txBox="1"/>
          <p:nvPr/>
        </p:nvSpPr>
        <p:spPr>
          <a:xfrm>
            <a:off x="7079985" y="1645920"/>
            <a:ext cx="4426215"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WHAT THE REAL REPO DID</a:t>
            </a:r>
            <a:endParaRPr lang="en-US" sz="1050" dirty="0"/>
          </a:p>
        </p:txBody>
      </p:sp>
      <p:sp>
        <p:nvSpPr>
          <p:cNvPr id="8" name="Code"/>
          <p:cNvSpPr txBox="1"/>
          <p:nvPr/>
        </p:nvSpPr>
        <p:spPr>
          <a:xfrm>
            <a:off x="7079985" y="2039112"/>
            <a:ext cx="4426215" cy="1335786"/>
          </a:xfrm>
          <a:prstGeom prst="roundRect">
            <a:avLst>
              <a:gd name="adj" fmla="val 4107"/>
            </a:avLst>
          </a:prstGeom>
          <a:solidFill>
            <a:srgbClr val="E6EAE4"/>
          </a:solidFill>
          <a:ln/>
        </p:spPr>
        <p:txBody>
          <a:bodyPr wrap="square" lIns="246888" tIns="246888" rIns="246888" bIns="246888" rtlCol="0" anchor="t"/>
          <a:lstStyle/>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servers</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web</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- 203.0.113.10</a:t>
            </a:r>
            <a:endParaRPr lang="en-US" sz="1275" dirty="0"/>
          </a:p>
          <a:p>
            <a:pPr indent="0" marL="0">
              <a:lnSpc>
                <a:spcPct val="105000"/>
              </a:lnSpc>
              <a:buNone/>
            </a:pPr>
            <a:r>
              <a:rPr lang="en-US" sz="1275" dirty="0">
                <a:solidFill>
                  <a:schemeClr val="tx2"/>
                </a:solidFill>
                <a:latin typeface="Courier New" pitchFamily="34" charset="0"/>
                <a:ea typeface="Courier New" pitchFamily="34" charset="-122"/>
                <a:cs typeface="Courier New" pitchFamily="34" charset="-120"/>
              </a:rPr>
              <a:t># POSTGRES_HOST: terraform-2025…rds…</a:t>
            </a:r>
            <a:endParaRPr lang="en-US" sz="1275" dirty="0"/>
          </a:p>
        </p:txBody>
      </p:sp>
      <p:sp>
        <p:nvSpPr>
          <p:cNvPr id="9" name="Callout"/>
          <p:cNvSpPr txBox="1"/>
          <p:nvPr/>
        </p:nvSpPr>
        <p:spPr>
          <a:xfrm>
            <a:off x="7079985" y="3566922"/>
            <a:ext cx="4426215" cy="75438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An IP and another stack's RDS hostname, pasted by hand. It works until the day either one changes.</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3</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DEMO</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Upload, redeploy, no dropped requests</a:t>
            </a:r>
            <a:endParaRPr lang="en-US" sz="3600" dirty="0"/>
          </a:p>
        </p:txBody>
      </p:sp>
      <p:sp>
        <p:nvSpPr>
          <p:cNvPr id="6" name="Terminal"/>
          <p:cNvSpPr txBox="1"/>
          <p:nvPr/>
        </p:nvSpPr>
        <p:spPr>
          <a:xfrm>
            <a:off x="685800" y="1645920"/>
            <a:ext cx="5143652" cy="2846451"/>
          </a:xfrm>
          <a:prstGeom prst="roundRect">
            <a:avLst>
              <a:gd name="adj" fmla="val 1927"/>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rails</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provision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Apply complete! Resources: 19 added</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kamal deploy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First web container is healthy</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Finished all in 9.8 seconds</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while true; do curl -so /dev/null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-w '%{http_code}\n' :3020/up; done</a:t>
            </a:r>
            <a:endParaRPr lang="en-US" sz="1425" dirty="0"/>
          </a:p>
          <a:p>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200 200 200 200 200 200 200 …</a:t>
            </a:r>
            <a:endParaRPr lang="en-US" sz="1425" dirty="0"/>
          </a:p>
        </p:txBody>
      </p:sp>
      <p:sp>
        <p:nvSpPr>
          <p:cNvPr id="7" name="Tag"/>
          <p:cNvSpPr txBox="1"/>
          <p:nvPr/>
        </p:nvSpPr>
        <p:spPr>
          <a:xfrm>
            <a:off x="6362548" y="1673352"/>
            <a:ext cx="960120" cy="237744"/>
          </a:xfrm>
          <a:prstGeom prst="roundRect">
            <a:avLst>
              <a:gd name="adj" fmla="val 11538"/>
            </a:avLst>
          </a:prstGeom>
          <a:noFill/>
          <a:ln w="12700">
            <a:solidFill>
              <a:schemeClr val="accent6"/>
            </a:solidFill>
          </a:ln>
        </p:spPr>
        <p:txBody>
          <a:bodyPr wrap="square" lIns="0" tIns="0" rIns="0" bIns="0" rtlCol="0" anchor="ctr"/>
          <a:lstStyle/>
          <a:p>
            <a:pPr algn="ctr" indent="0" marL="0">
              <a:buNone/>
            </a:pPr>
            <a:r>
              <a:rPr lang="en-US" sz="1000" spc="50" kern="0" dirty="0">
                <a:solidFill>
                  <a:schemeClr val="accent6"/>
                </a:solidFill>
                <a:latin typeface="Courier New" pitchFamily="34" charset="0"/>
                <a:ea typeface="Courier New" pitchFamily="34" charset="-122"/>
                <a:cs typeface="Courier New" pitchFamily="34" charset="-120"/>
              </a:rPr>
              <a:t>REAL</a:t>
            </a:r>
            <a:endParaRPr lang="en-US" sz="1000" dirty="0"/>
          </a:p>
        </p:txBody>
      </p:sp>
      <p:sp>
        <p:nvSpPr>
          <p:cNvPr id="8" name="Note"/>
          <p:cNvSpPr txBox="1"/>
          <p:nvPr/>
        </p:nvSpPr>
        <p:spPr>
          <a:xfrm>
            <a:off x="7505548" y="1645920"/>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kamal-proxy switches traffic only when the new container passes </a:t>
            </a:r>
            <a:pPr indent="0" marL="0">
              <a:buNone/>
            </a:pPr>
            <a:r>
              <a:rPr lang="en-US" sz="1320" dirty="0">
                <a:solidFill>
                  <a:schemeClr val="tx1"/>
                </a:solidFill>
                <a:latin typeface="Courier New" pitchFamily="34" charset="0"/>
                <a:ea typeface="Courier New" pitchFamily="34" charset="-122"/>
                <a:cs typeface="Courier New" pitchFamily="34" charset="-120"/>
              </a:rPr>
              <a:t>/up</a:t>
            </a:r>
            <a:pPr indent="0" marL="0">
              <a:buNone/>
            </a:pPr>
            <a:r>
              <a:rPr lang="en-US" sz="1500" dirty="0">
                <a:solidFill>
                  <a:schemeClr val="tx1"/>
                </a:solidFill>
                <a:latin typeface="Arial" pitchFamily="34" charset="0"/>
                <a:ea typeface="Arial" pitchFamily="34" charset="-122"/>
                <a:cs typeface="Arial" pitchFamily="34" charset="-120"/>
              </a:rPr>
              <a:t>. 47 of 47 checks returned 200 during a deploy.</a:t>
            </a:r>
            <a:endParaRPr lang="en-US" sz="1500" dirty="0"/>
          </a:p>
        </p:txBody>
      </p:sp>
      <p:sp>
        <p:nvSpPr>
          <p:cNvPr id="9" name="Tag"/>
          <p:cNvSpPr txBox="1"/>
          <p:nvPr/>
        </p:nvSpPr>
        <p:spPr>
          <a:xfrm>
            <a:off x="6362548" y="2514600"/>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0" name="Note"/>
          <p:cNvSpPr txBox="1"/>
          <p:nvPr/>
        </p:nvSpPr>
        <p:spPr>
          <a:xfrm>
            <a:off x="7505548" y="2487168"/>
            <a:ext cx="4000652"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The database SG says "app only". A container in no security group connects anyway: Floci stores SGs, it doesn't enforce them.</a:t>
            </a:r>
            <a:endParaRPr lang="en-US" sz="1500" dirty="0"/>
          </a:p>
        </p:txBody>
      </p:sp>
      <p:sp>
        <p:nvSpPr>
          <p:cNvPr id="11" name="Tag"/>
          <p:cNvSpPr txBox="1"/>
          <p:nvPr/>
        </p:nvSpPr>
        <p:spPr>
          <a:xfrm>
            <a:off x="6362548" y="3584448"/>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2" name="Note"/>
          <p:cNvSpPr txBox="1"/>
          <p:nvPr/>
        </p:nvSpPr>
        <p:spPr>
          <a:xfrm>
            <a:off x="7505548" y="3557016"/>
            <a:ext cx="4000652" cy="11430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Terraform creates the EC2 host, but Kamal deploys to a stand-in container: Floci can't route traffic into Docker inside its instances. Images go to a local registry, so no Docker Hub account.</a:t>
            </a:r>
            <a:endParaRPr lang="en-US" sz="15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4</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APP TYPE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Full-stack framework</a:t>
            </a:r>
            <a:endParaRPr lang="en-US" sz="3600" dirty="0"/>
          </a:p>
        </p:txBody>
      </p:sp>
      <p:sp>
        <p:nvSpPr>
          <p:cNvPr id="6" name="Lede"/>
          <p:cNvSpPr txBox="1"/>
          <p:nvPr/>
        </p:nvSpPr>
        <p:spPr>
          <a:xfrm>
            <a:off x="685800" y="1645920"/>
            <a:ext cx="5461428" cy="960120"/>
          </a:xfrm>
          <a:prstGeom prst="rect">
            <a:avLst/>
          </a:prstGeom>
          <a:noFill/>
          <a:ln/>
        </p:spPr>
        <p:txBody>
          <a:bodyPr wrap="square" lIns="0" tIns="0" rIns="0" bIns="0" rtlCol="0" anchor="t"/>
          <a:lstStyle/>
          <a:p>
            <a:pPr indent="0" marL="0">
              <a:lnSpc>
                <a:spcPct val="100000"/>
              </a:lnSpc>
              <a:buNone/>
            </a:pPr>
            <a:r>
              <a:rPr lang="en-US" sz="2100" dirty="0">
                <a:solidFill>
                  <a:schemeClr val="tx2"/>
                </a:solidFill>
                <a:latin typeface="Arial" pitchFamily="34" charset="0"/>
                <a:ea typeface="Arial" pitchFamily="34" charset="-122"/>
                <a:cs typeface="Arial" pitchFamily="34" charset="-120"/>
              </a:rPr>
              <a:t>One TypeScript codebase that renders on the server and hydrates in the browser. The build splits it in two.</a:t>
            </a:r>
            <a:endParaRPr lang="en-US" sz="2100" dirty="0"/>
          </a:p>
        </p:txBody>
      </p:sp>
      <p:sp>
        <p:nvSpPr>
          <p:cNvPr id="7" name="Chip"/>
          <p:cNvSpPr txBox="1"/>
          <p:nvPr/>
        </p:nvSpPr>
        <p:spPr>
          <a:xfrm>
            <a:off x="685800" y="2852928"/>
            <a:ext cx="15179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TanStack Start</a:t>
            </a:r>
            <a:endParaRPr lang="en-US" sz="1200" dirty="0"/>
          </a:p>
        </p:txBody>
      </p:sp>
      <p:sp>
        <p:nvSpPr>
          <p:cNvPr id="8" name="Chip"/>
          <p:cNvSpPr txBox="1"/>
          <p:nvPr/>
        </p:nvSpPr>
        <p:spPr>
          <a:xfrm>
            <a:off x="2299716" y="2852928"/>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Next.js</a:t>
            </a:r>
            <a:endParaRPr lang="en-US" sz="1200" dirty="0"/>
          </a:p>
        </p:txBody>
      </p:sp>
      <p:sp>
        <p:nvSpPr>
          <p:cNvPr id="9" name="Chip"/>
          <p:cNvSpPr txBox="1"/>
          <p:nvPr/>
        </p:nvSpPr>
        <p:spPr>
          <a:xfrm>
            <a:off x="3273552" y="2852928"/>
            <a:ext cx="6035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Nuxt</a:t>
            </a:r>
            <a:endParaRPr lang="en-US" sz="1200" dirty="0"/>
          </a:p>
        </p:txBody>
      </p:sp>
      <p:sp>
        <p:nvSpPr>
          <p:cNvPr id="10" name="Chip"/>
          <p:cNvSpPr txBox="1"/>
          <p:nvPr/>
        </p:nvSpPr>
        <p:spPr>
          <a:xfrm>
            <a:off x="3973068" y="2852928"/>
            <a:ext cx="106070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SvelteKit</a:t>
            </a:r>
            <a:endParaRPr lang="en-US" sz="1200" dirty="0"/>
          </a:p>
        </p:txBody>
      </p:sp>
      <p:sp>
        <p:nvSpPr>
          <p:cNvPr id="11" name="Chip"/>
          <p:cNvSpPr txBox="1"/>
          <p:nvPr/>
        </p:nvSpPr>
        <p:spPr>
          <a:xfrm>
            <a:off x="5129784" y="2852928"/>
            <a:ext cx="69494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Remix</a:t>
            </a:r>
            <a:endParaRPr lang="en-US" sz="1200" dirty="0"/>
          </a:p>
        </p:txBody>
      </p:sp>
      <p:sp>
        <p:nvSpPr>
          <p:cNvPr id="12" name="Chip label"/>
          <p:cNvSpPr txBox="1"/>
          <p:nvPr/>
        </p:nvSpPr>
        <p:spPr>
          <a:xfrm>
            <a:off x="685800" y="3332988"/>
            <a:ext cx="1828800" cy="201168"/>
          </a:xfrm>
          <a:prstGeom prst="rect">
            <a:avLst/>
          </a:prstGeom>
          <a:noFill/>
          <a:ln/>
        </p:spPr>
        <p:txBody>
          <a:bodyPr wrap="none" lIns="0" tIns="0" rIns="0" bIns="0" rtlCol="0" anchor="t"/>
          <a:lstStyle/>
          <a:p>
            <a:pPr indent="0" marL="0">
              <a:buNone/>
            </a:pPr>
            <a:r>
              <a:rPr lang="en-US" sz="1000" spc="100" kern="0" dirty="0">
                <a:solidFill>
                  <a:schemeClr val="tx1"/>
                </a:solidFill>
                <a:latin typeface="Courier New" pitchFamily="34" charset="0"/>
                <a:ea typeface="Courier New" pitchFamily="34" charset="-122"/>
                <a:cs typeface="Courier New" pitchFamily="34" charset="-120"/>
              </a:rPr>
              <a:t>YOU MAY KNOW IT AS</a:t>
            </a:r>
            <a:endParaRPr lang="en-US" sz="1000" dirty="0"/>
          </a:p>
        </p:txBody>
      </p:sp>
      <p:sp>
        <p:nvSpPr>
          <p:cNvPr id="13" name="Chip"/>
          <p:cNvSpPr txBox="1"/>
          <p:nvPr/>
        </p:nvSpPr>
        <p:spPr>
          <a:xfrm>
            <a:off x="2610612" y="3278124"/>
            <a:ext cx="78638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Vercel</a:t>
            </a:r>
            <a:endParaRPr lang="en-US" sz="1200" dirty="0"/>
          </a:p>
        </p:txBody>
      </p:sp>
      <p:sp>
        <p:nvSpPr>
          <p:cNvPr id="14" name="Chip"/>
          <p:cNvSpPr txBox="1"/>
          <p:nvPr/>
        </p:nvSpPr>
        <p:spPr>
          <a:xfrm>
            <a:off x="3493008" y="3278124"/>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Netlify</a:t>
            </a:r>
            <a:endParaRPr lang="en-US" sz="1200" dirty="0"/>
          </a:p>
        </p:txBody>
      </p:sp>
      <p:sp>
        <p:nvSpPr>
          <p:cNvPr id="15" name="Chip"/>
          <p:cNvSpPr txBox="1"/>
          <p:nvPr/>
        </p:nvSpPr>
        <p:spPr>
          <a:xfrm>
            <a:off x="4466844" y="3278124"/>
            <a:ext cx="115214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Cloudflare</a:t>
            </a:r>
            <a:endParaRPr lang="en-US" sz="1200" dirty="0"/>
          </a:p>
        </p:txBody>
      </p:sp>
      <p:sp>
        <p:nvSpPr>
          <p:cNvPr id="16" name="Chip"/>
          <p:cNvSpPr txBox="1"/>
          <p:nvPr/>
        </p:nvSpPr>
        <p:spPr>
          <a:xfrm>
            <a:off x="685800" y="3685032"/>
            <a:ext cx="877824" cy="310896"/>
          </a:xfrm>
          <a:prstGeom prst="roundRect">
            <a:avLst>
              <a:gd name="adj" fmla="val 11765"/>
            </a:avLst>
          </a:prstGeom>
          <a:noFill/>
          <a:ln w="12700">
            <a:solidFill>
              <a:srgbClr val="D3D9D2"/>
            </a:solid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Railway</a:t>
            </a:r>
            <a:endParaRPr lang="en-US" sz="1200" dirty="0"/>
          </a:p>
        </p:txBody>
      </p:sp>
      <p:sp>
        <p:nvSpPr>
          <p:cNvPr id="17" name="Shape 14"/>
          <p:cNvSpPr/>
          <p:nvPr/>
        </p:nvSpPr>
        <p:spPr>
          <a:xfrm>
            <a:off x="6757132" y="1645920"/>
            <a:ext cx="4749068" cy="0"/>
          </a:xfrm>
          <a:prstGeom prst="line">
            <a:avLst/>
          </a:prstGeom>
          <a:noFill/>
          <a:ln w="9525">
            <a:solidFill>
              <a:srgbClr val="D3D9D2"/>
            </a:solidFill>
            <a:prstDash val="solid"/>
          </a:ln>
        </p:spPr>
      </p:sp>
      <p:sp>
        <p:nvSpPr>
          <p:cNvPr id="18" name="Fact label"/>
          <p:cNvSpPr txBox="1"/>
          <p:nvPr/>
        </p:nvSpPr>
        <p:spPr>
          <a:xfrm>
            <a:off x="6757132" y="1801368"/>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RUNS</a:t>
            </a:r>
            <a:endParaRPr lang="en-US" sz="1050" dirty="0"/>
          </a:p>
        </p:txBody>
      </p:sp>
      <p:sp>
        <p:nvSpPr>
          <p:cNvPr id="19" name="Fact"/>
          <p:cNvSpPr txBox="1"/>
          <p:nvPr/>
        </p:nvSpPr>
        <p:spPr>
          <a:xfrm>
            <a:off x="8357332" y="1773936"/>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HTML rendered in a function per request; JS and CSS from files.</a:t>
            </a:r>
            <a:endParaRPr lang="en-US" sz="1650" dirty="0"/>
          </a:p>
        </p:txBody>
      </p:sp>
      <p:sp>
        <p:nvSpPr>
          <p:cNvPr id="20" name="Shape 17"/>
          <p:cNvSpPr/>
          <p:nvPr/>
        </p:nvSpPr>
        <p:spPr>
          <a:xfrm>
            <a:off x="6757132" y="2487168"/>
            <a:ext cx="4749068" cy="0"/>
          </a:xfrm>
          <a:prstGeom prst="line">
            <a:avLst/>
          </a:prstGeom>
          <a:noFill/>
          <a:ln w="9525">
            <a:solidFill>
              <a:srgbClr val="D3D9D2"/>
            </a:solidFill>
            <a:prstDash val="solid"/>
          </a:ln>
        </p:spPr>
      </p:sp>
      <p:sp>
        <p:nvSpPr>
          <p:cNvPr id="21" name="Fact label"/>
          <p:cNvSpPr txBox="1"/>
          <p:nvPr/>
        </p:nvSpPr>
        <p:spPr>
          <a:xfrm>
            <a:off x="6757132" y="2642616"/>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STATE</a:t>
            </a:r>
            <a:endParaRPr lang="en-US" sz="1050" dirty="0"/>
          </a:p>
        </p:txBody>
      </p:sp>
      <p:sp>
        <p:nvSpPr>
          <p:cNvPr id="22" name="Fact"/>
          <p:cNvSpPr txBox="1"/>
          <p:nvPr/>
        </p:nvSpPr>
        <p:spPr>
          <a:xfrm>
            <a:off x="8357332" y="2615184"/>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Whatever the server code reads. This demo keeps none.</a:t>
            </a:r>
            <a:endParaRPr lang="en-US" sz="1650" dirty="0"/>
          </a:p>
        </p:txBody>
      </p:sp>
      <p:sp>
        <p:nvSpPr>
          <p:cNvPr id="23" name="Shape 20"/>
          <p:cNvSpPr/>
          <p:nvPr/>
        </p:nvSpPr>
        <p:spPr>
          <a:xfrm>
            <a:off x="6757132" y="3328416"/>
            <a:ext cx="4749068" cy="0"/>
          </a:xfrm>
          <a:prstGeom prst="line">
            <a:avLst/>
          </a:prstGeom>
          <a:noFill/>
          <a:ln w="9525">
            <a:solidFill>
              <a:srgbClr val="D3D9D2"/>
            </a:solidFill>
            <a:prstDash val="solid"/>
          </a:ln>
        </p:spPr>
      </p:sp>
      <p:sp>
        <p:nvSpPr>
          <p:cNvPr id="24" name="Fact label"/>
          <p:cNvSpPr txBox="1"/>
          <p:nvPr/>
        </p:nvSpPr>
        <p:spPr>
          <a:xfrm>
            <a:off x="6757132" y="3483864"/>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NEEDS</a:t>
            </a:r>
            <a:endParaRPr lang="en-US" sz="1050" dirty="0"/>
          </a:p>
        </p:txBody>
      </p:sp>
      <p:sp>
        <p:nvSpPr>
          <p:cNvPr id="25" name="Fact"/>
          <p:cNvSpPr txBox="1"/>
          <p:nvPr/>
        </p:nvSpPr>
        <p:spPr>
          <a:xfrm>
            <a:off x="8357332" y="3456432"/>
            <a:ext cx="3148868" cy="75438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Stack 1 for the files, stack 2 for the server, and one thing to join them.</a:t>
            </a:r>
            <a:endParaRPr lang="en-US" sz="1650" dirty="0"/>
          </a:p>
        </p:txBody>
      </p:sp>
      <p:sp>
        <p:nvSpPr>
          <p:cNvPr id="26" name="Shape 23"/>
          <p:cNvSpPr/>
          <p:nvPr/>
        </p:nvSpPr>
        <p:spPr>
          <a:xfrm>
            <a:off x="6757132" y="4421124"/>
            <a:ext cx="4749068" cy="0"/>
          </a:xfrm>
          <a:prstGeom prst="line">
            <a:avLst/>
          </a:prstGeom>
          <a:noFill/>
          <a:ln w="9525">
            <a:solidFill>
              <a:srgbClr val="D3D9D2"/>
            </a:solidFill>
            <a:prstDash val="solid"/>
          </a:ln>
        </p:spPr>
      </p:sp>
      <p:sp>
        <p:nvSpPr>
          <p:cNvPr id="27" name="Fact label"/>
          <p:cNvSpPr txBox="1"/>
          <p:nvPr/>
        </p:nvSpPr>
        <p:spPr>
          <a:xfrm>
            <a:off x="6757132" y="4576572"/>
            <a:ext cx="1426464" cy="228600"/>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PICK IT WHEN</a:t>
            </a:r>
            <a:endParaRPr lang="en-US" sz="1050" dirty="0"/>
          </a:p>
        </p:txBody>
      </p:sp>
      <p:sp>
        <p:nvSpPr>
          <p:cNvPr id="28" name="Fact"/>
          <p:cNvSpPr txBox="1"/>
          <p:nvPr/>
        </p:nvSpPr>
        <p:spPr>
          <a:xfrm>
            <a:off x="8357332" y="4549140"/>
            <a:ext cx="3148868" cy="502920"/>
          </a:xfrm>
          <a:prstGeom prst="rect">
            <a:avLst/>
          </a:prstGeom>
          <a:noFill/>
          <a:ln/>
        </p:spPr>
        <p:txBody>
          <a:bodyPr wrap="square" lIns="0" tIns="0" rIns="0" bIns="0" rtlCol="0" anchor="t"/>
          <a:lstStyle/>
          <a:p>
            <a:pPr indent="0" marL="0">
              <a:buNone/>
            </a:pPr>
            <a:r>
              <a:rPr lang="en-US" sz="1650" dirty="0">
                <a:solidFill>
                  <a:schemeClr val="tx1"/>
                </a:solidFill>
                <a:latin typeface="Arial" pitchFamily="34" charset="0"/>
                <a:ea typeface="Arial" pitchFamily="34" charset="-122"/>
                <a:cs typeface="Arial" pitchFamily="34" charset="-120"/>
              </a:rPr>
              <a:t>You want SEO-friendly HTML and a React app in the same repo.</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4</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STRUCTURE</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Stack 1 + stack 2, one join</a:t>
            </a:r>
            <a:endParaRPr lang="en-US" sz="3600" dirty="0"/>
          </a:p>
        </p:txBody>
      </p:sp>
      <p:sp>
        <p:nvSpPr>
          <p:cNvPr id="6" name="Shape 3"/>
          <p:cNvSpPr/>
          <p:nvPr/>
        </p:nvSpPr>
        <p:spPr>
          <a:xfrm>
            <a:off x="685800" y="1645920"/>
            <a:ext cx="2857500" cy="685800"/>
          </a:xfrm>
          <a:prstGeom prst="roundRect">
            <a:avLst>
              <a:gd name="adj" fmla="val 8333"/>
            </a:avLst>
          </a:prstGeom>
          <a:ln w="19050">
            <a:solidFill>
              <a:schemeClr val="tx2"/>
            </a:solidFill>
            <a:prstDash val="dash"/>
          </a:ln>
        </p:spPr>
      </p:sp>
      <p:sp>
        <p:nvSpPr>
          <p:cNvPr id="7" name="Text 4"/>
          <p:cNvSpPr txBox="1"/>
          <p:nvPr/>
        </p:nvSpPr>
        <p:spPr>
          <a:xfrm>
            <a:off x="1485900" y="1826704"/>
            <a:ext cx="1257300" cy="173355"/>
          </a:xfrm>
          <a:prstGeom prst="rect">
            <a:avLst/>
          </a:prstGeom>
          <a:noFill/>
          <a:ln/>
        </p:spPr>
        <p:txBody>
          <a:bodyPr wrap="none" lIns="0" tIns="0" rIns="0" bIns="0" rtlCol="0" anchor="t"/>
          <a:lstStyle/>
          <a:p>
            <a:pPr algn="ctr" indent="0" marL="0">
              <a:buNone/>
            </a:pPr>
            <a:r>
              <a:rPr lang="en-US" sz="1050" dirty="0">
                <a:solidFill>
                  <a:schemeClr val="tx1"/>
                </a:solidFill>
                <a:latin typeface="Courier New" pitchFamily="34" charset="0"/>
                <a:ea typeface="Courier New" pitchFamily="34" charset="-122"/>
                <a:cs typeface="Courier New" pitchFamily="34" charset="-120"/>
              </a:rPr>
              <a:t>vite build</a:t>
            </a:r>
            <a:endParaRPr lang="en-US" sz="1050" dirty="0"/>
          </a:p>
        </p:txBody>
      </p:sp>
      <p:sp>
        <p:nvSpPr>
          <p:cNvPr id="8" name="Text 5"/>
          <p:cNvSpPr txBox="1"/>
          <p:nvPr/>
        </p:nvSpPr>
        <p:spPr>
          <a:xfrm>
            <a:off x="1062990" y="2046446"/>
            <a:ext cx="21031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Nitro preset: aws_lambda</a:t>
            </a:r>
            <a:endParaRPr lang="en-US" sz="1125" dirty="0"/>
          </a:p>
        </p:txBody>
      </p:sp>
      <p:sp>
        <p:nvSpPr>
          <p:cNvPr id="9" name="Shape 6"/>
          <p:cNvSpPr/>
          <p:nvPr/>
        </p:nvSpPr>
        <p:spPr>
          <a:xfrm>
            <a:off x="3543300" y="1893570"/>
            <a:ext cx="4781550" cy="0"/>
          </a:xfrm>
          <a:prstGeom prst="line">
            <a:avLst/>
          </a:prstGeom>
          <a:noFill/>
          <a:ln w="19050">
            <a:solidFill>
              <a:schemeClr val="tx2"/>
            </a:solidFill>
            <a:prstDash val="dash"/>
          </a:ln>
        </p:spPr>
      </p:sp>
      <p:sp>
        <p:nvSpPr>
          <p:cNvPr id="10" name="Shape 7"/>
          <p:cNvSpPr/>
          <p:nvPr/>
        </p:nvSpPr>
        <p:spPr>
          <a:xfrm>
            <a:off x="8324850" y="1893570"/>
            <a:ext cx="0" cy="990600"/>
          </a:xfrm>
          <a:prstGeom prst="line">
            <a:avLst/>
          </a:prstGeom>
          <a:noFill/>
          <a:ln w="19050">
            <a:solidFill>
              <a:schemeClr val="tx2"/>
            </a:solidFill>
            <a:prstDash val="dash"/>
            <a:tailEnd type="triangle"/>
          </a:ln>
        </p:spPr>
      </p:sp>
      <p:sp>
        <p:nvSpPr>
          <p:cNvPr id="11" name="Text 8"/>
          <p:cNvSpPr txBox="1"/>
          <p:nvPr/>
        </p:nvSpPr>
        <p:spPr>
          <a:xfrm>
            <a:off x="4591050" y="1693355"/>
            <a:ext cx="285750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.output/public → aws_s3_object</a:t>
            </a:r>
            <a:endParaRPr lang="en-US" sz="1050" dirty="0"/>
          </a:p>
        </p:txBody>
      </p:sp>
      <p:sp>
        <p:nvSpPr>
          <p:cNvPr id="12" name="Shape 9"/>
          <p:cNvSpPr/>
          <p:nvPr/>
        </p:nvSpPr>
        <p:spPr>
          <a:xfrm>
            <a:off x="3543300" y="2160270"/>
            <a:ext cx="7239000" cy="0"/>
          </a:xfrm>
          <a:prstGeom prst="line">
            <a:avLst/>
          </a:prstGeom>
          <a:noFill/>
          <a:ln w="19050">
            <a:solidFill>
              <a:schemeClr val="tx2"/>
            </a:solidFill>
            <a:prstDash val="dash"/>
          </a:ln>
        </p:spPr>
      </p:sp>
      <p:sp>
        <p:nvSpPr>
          <p:cNvPr id="13" name="Shape 10"/>
          <p:cNvSpPr/>
          <p:nvPr/>
        </p:nvSpPr>
        <p:spPr>
          <a:xfrm>
            <a:off x="10782300" y="2160270"/>
            <a:ext cx="0" cy="2362200"/>
          </a:xfrm>
          <a:prstGeom prst="line">
            <a:avLst/>
          </a:prstGeom>
          <a:noFill/>
          <a:ln w="19050">
            <a:solidFill>
              <a:schemeClr val="tx2"/>
            </a:solidFill>
            <a:prstDash val="dash"/>
            <a:tailEnd type="triangle"/>
          </a:ln>
        </p:spPr>
      </p:sp>
      <p:sp>
        <p:nvSpPr>
          <p:cNvPr id="14" name="Text 11"/>
          <p:cNvSpPr txBox="1"/>
          <p:nvPr/>
        </p:nvSpPr>
        <p:spPr>
          <a:xfrm>
            <a:off x="8515350" y="1960055"/>
            <a:ext cx="205740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.output/server → zip</a:t>
            </a:r>
            <a:endParaRPr lang="en-US" sz="1050" dirty="0"/>
          </a:p>
        </p:txBody>
      </p:sp>
      <p:sp>
        <p:nvSpPr>
          <p:cNvPr id="15" name="Shape 12"/>
          <p:cNvSpPr/>
          <p:nvPr/>
        </p:nvSpPr>
        <p:spPr>
          <a:xfrm>
            <a:off x="685800" y="3608070"/>
            <a:ext cx="1428750" cy="762000"/>
          </a:xfrm>
          <a:prstGeom prst="roundRect">
            <a:avLst>
              <a:gd name="adj" fmla="val 7500"/>
            </a:avLst>
          </a:prstGeom>
          <a:solidFill>
            <a:schemeClr val="bg1"/>
          </a:solidFill>
          <a:ln w="19050">
            <a:solidFill>
              <a:schemeClr val="tx2"/>
            </a:solidFill>
            <a:prstDash val="solid"/>
          </a:ln>
        </p:spPr>
      </p:sp>
      <p:sp>
        <p:nvSpPr>
          <p:cNvPr id="16" name="Text 13"/>
          <p:cNvSpPr txBox="1"/>
          <p:nvPr/>
        </p:nvSpPr>
        <p:spPr>
          <a:xfrm>
            <a:off x="818198" y="3869055"/>
            <a:ext cx="116395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Browser</a:t>
            </a:r>
            <a:endParaRPr lang="en-US" sz="1500" dirty="0"/>
          </a:p>
        </p:txBody>
      </p:sp>
      <p:sp>
        <p:nvSpPr>
          <p:cNvPr id="17" name="Shape 14"/>
          <p:cNvSpPr/>
          <p:nvPr/>
        </p:nvSpPr>
        <p:spPr>
          <a:xfrm>
            <a:off x="2114550" y="3989070"/>
            <a:ext cx="628650" cy="0"/>
          </a:xfrm>
          <a:prstGeom prst="line">
            <a:avLst/>
          </a:prstGeom>
          <a:noFill/>
          <a:ln w="19050">
            <a:solidFill>
              <a:schemeClr val="tx1"/>
            </a:solidFill>
            <a:prstDash val="solid"/>
            <a:tailEnd type="triangle"/>
          </a:ln>
        </p:spPr>
      </p:sp>
      <p:sp>
        <p:nvSpPr>
          <p:cNvPr id="18" name="Shape 15"/>
          <p:cNvSpPr/>
          <p:nvPr/>
        </p:nvSpPr>
        <p:spPr>
          <a:xfrm>
            <a:off x="2781300" y="3074670"/>
            <a:ext cx="3238500" cy="1809750"/>
          </a:xfrm>
          <a:prstGeom prst="roundRect">
            <a:avLst>
              <a:gd name="adj" fmla="val 3158"/>
            </a:avLst>
          </a:prstGeom>
          <a:solidFill>
            <a:schemeClr val="accent2">
              <a:alpha val="10000"/>
            </a:schemeClr>
          </a:solidFill>
          <a:ln w="19050">
            <a:solidFill>
              <a:schemeClr val="accent2"/>
            </a:solidFill>
            <a:prstDash val="solid"/>
          </a:ln>
        </p:spPr>
      </p:sp>
      <p:sp>
        <p:nvSpPr>
          <p:cNvPr id="19" name="Text 16"/>
          <p:cNvSpPr txBox="1"/>
          <p:nvPr/>
        </p:nvSpPr>
        <p:spPr>
          <a:xfrm>
            <a:off x="3667125" y="3259455"/>
            <a:ext cx="146685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CloudFront</a:t>
            </a:r>
            <a:endParaRPr lang="en-US" sz="1500" dirty="0"/>
          </a:p>
        </p:txBody>
      </p:sp>
      <p:sp>
        <p:nvSpPr>
          <p:cNvPr id="20" name="Text 17"/>
          <p:cNvSpPr txBox="1"/>
          <p:nvPr/>
        </p:nvSpPr>
        <p:spPr>
          <a:xfrm>
            <a:off x="3280410" y="3513296"/>
            <a:ext cx="22402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two origins, two behaviors</a:t>
            </a:r>
            <a:endParaRPr lang="en-US" sz="1125" dirty="0"/>
          </a:p>
        </p:txBody>
      </p:sp>
      <p:sp>
        <p:nvSpPr>
          <p:cNvPr id="21" name="Shape 18"/>
          <p:cNvSpPr/>
          <p:nvPr/>
        </p:nvSpPr>
        <p:spPr>
          <a:xfrm>
            <a:off x="2971800" y="3817620"/>
            <a:ext cx="2857500" cy="400050"/>
          </a:xfrm>
          <a:prstGeom prst="roundRect">
            <a:avLst>
              <a:gd name="adj" fmla="val 9524"/>
            </a:avLst>
          </a:prstGeom>
          <a:solidFill>
            <a:schemeClr val="bg1"/>
          </a:solidFill>
          <a:ln w="19050">
            <a:solidFill>
              <a:schemeClr val="tx2"/>
            </a:solidFill>
            <a:prstDash val="solid"/>
          </a:ln>
        </p:spPr>
      </p:sp>
      <p:sp>
        <p:nvSpPr>
          <p:cNvPr id="22" name="Text 19"/>
          <p:cNvSpPr txBox="1"/>
          <p:nvPr/>
        </p:nvSpPr>
        <p:spPr>
          <a:xfrm>
            <a:off x="3124200" y="3950779"/>
            <a:ext cx="2537460" cy="173355"/>
          </a:xfrm>
          <a:prstGeom prst="rect">
            <a:avLst/>
          </a:prstGeom>
          <a:noFill/>
          <a:ln/>
        </p:spPr>
        <p:txBody>
          <a:bodyPr wrap="none" lIns="0" tIns="0" rIns="0" bIns="0" rtlCol="0" anchor="t"/>
          <a:lstStyle/>
          <a:p>
            <a:pPr algn="l" indent="0" marL="0">
              <a:buNone/>
            </a:pPr>
            <a:r>
              <a:rPr lang="en-US" sz="1050" dirty="0">
                <a:solidFill>
                  <a:schemeClr val="tx1"/>
                </a:solidFill>
                <a:latin typeface="Courier New" pitchFamily="34" charset="0"/>
                <a:ea typeface="Courier New" pitchFamily="34" charset="-122"/>
                <a:cs typeface="Courier New" pitchFamily="34" charset="-120"/>
              </a:rPr>
              <a:t>/assets/*  → S3 · cache 1y</a:t>
            </a:r>
            <a:endParaRPr lang="en-US" sz="1050" dirty="0"/>
          </a:p>
        </p:txBody>
      </p:sp>
      <p:sp>
        <p:nvSpPr>
          <p:cNvPr id="23" name="Shape 20"/>
          <p:cNvSpPr/>
          <p:nvPr/>
        </p:nvSpPr>
        <p:spPr>
          <a:xfrm>
            <a:off x="2971800" y="4312920"/>
            <a:ext cx="2857500" cy="400050"/>
          </a:xfrm>
          <a:prstGeom prst="roundRect">
            <a:avLst>
              <a:gd name="adj" fmla="val 9524"/>
            </a:avLst>
          </a:prstGeom>
          <a:solidFill>
            <a:schemeClr val="bg1"/>
          </a:solidFill>
          <a:ln w="19050">
            <a:solidFill>
              <a:schemeClr val="tx2"/>
            </a:solidFill>
            <a:prstDash val="solid"/>
          </a:ln>
        </p:spPr>
      </p:sp>
      <p:sp>
        <p:nvSpPr>
          <p:cNvPr id="24" name="Text 21"/>
          <p:cNvSpPr txBox="1"/>
          <p:nvPr/>
        </p:nvSpPr>
        <p:spPr>
          <a:xfrm>
            <a:off x="3124200" y="4446080"/>
            <a:ext cx="2857500" cy="173355"/>
          </a:xfrm>
          <a:prstGeom prst="rect">
            <a:avLst/>
          </a:prstGeom>
          <a:noFill/>
          <a:ln/>
        </p:spPr>
        <p:txBody>
          <a:bodyPr wrap="none" lIns="0" tIns="0" rIns="0" bIns="0" rtlCol="0" anchor="t"/>
          <a:lstStyle/>
          <a:p>
            <a:pPr algn="l" indent="0" marL="0">
              <a:buNone/>
            </a:pPr>
            <a:r>
              <a:rPr lang="en-US" sz="1050" dirty="0">
                <a:solidFill>
                  <a:schemeClr val="tx1"/>
                </a:solidFill>
                <a:latin typeface="Courier New" pitchFamily="34" charset="0"/>
                <a:ea typeface="Courier New" pitchFamily="34" charset="-122"/>
                <a:cs typeface="Courier New" pitchFamily="34" charset="-120"/>
              </a:rPr>
              <a:t>default    → Lambda · no cache</a:t>
            </a:r>
            <a:endParaRPr lang="en-US" sz="1050" dirty="0"/>
          </a:p>
        </p:txBody>
      </p:sp>
      <p:sp>
        <p:nvSpPr>
          <p:cNvPr id="25" name="Shape 22"/>
          <p:cNvSpPr/>
          <p:nvPr/>
        </p:nvSpPr>
        <p:spPr>
          <a:xfrm>
            <a:off x="5829300" y="4017645"/>
            <a:ext cx="762000" cy="0"/>
          </a:xfrm>
          <a:prstGeom prst="line">
            <a:avLst/>
          </a:prstGeom>
          <a:noFill/>
          <a:ln w="19050">
            <a:solidFill>
              <a:schemeClr val="tx1"/>
            </a:solidFill>
            <a:prstDash val="solid"/>
          </a:ln>
        </p:spPr>
      </p:sp>
      <p:sp>
        <p:nvSpPr>
          <p:cNvPr id="26" name="Shape 23"/>
          <p:cNvSpPr/>
          <p:nvPr/>
        </p:nvSpPr>
        <p:spPr>
          <a:xfrm flipV="1">
            <a:off x="6591300" y="3360420"/>
            <a:ext cx="0" cy="657225"/>
          </a:xfrm>
          <a:prstGeom prst="line">
            <a:avLst/>
          </a:prstGeom>
          <a:noFill/>
          <a:ln w="19050">
            <a:solidFill>
              <a:schemeClr val="tx1"/>
            </a:solidFill>
            <a:prstDash val="solid"/>
          </a:ln>
        </p:spPr>
      </p:sp>
      <p:sp>
        <p:nvSpPr>
          <p:cNvPr id="27" name="Shape 24"/>
          <p:cNvSpPr/>
          <p:nvPr/>
        </p:nvSpPr>
        <p:spPr>
          <a:xfrm>
            <a:off x="6591300" y="3360420"/>
            <a:ext cx="628650" cy="0"/>
          </a:xfrm>
          <a:prstGeom prst="line">
            <a:avLst/>
          </a:prstGeom>
          <a:noFill/>
          <a:ln w="19050">
            <a:solidFill>
              <a:schemeClr val="tx1"/>
            </a:solidFill>
            <a:prstDash val="solid"/>
            <a:tailEnd type="triangle"/>
          </a:ln>
        </p:spPr>
      </p:sp>
      <p:sp>
        <p:nvSpPr>
          <p:cNvPr id="28" name="Text 25"/>
          <p:cNvSpPr txBox="1"/>
          <p:nvPr/>
        </p:nvSpPr>
        <p:spPr>
          <a:xfrm>
            <a:off x="6686550" y="3141155"/>
            <a:ext cx="69723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OAC</a:t>
            </a:r>
            <a:endParaRPr lang="en-US" sz="1050" dirty="0"/>
          </a:p>
        </p:txBody>
      </p:sp>
      <p:sp>
        <p:nvSpPr>
          <p:cNvPr id="29" name="Shape 26"/>
          <p:cNvSpPr/>
          <p:nvPr/>
        </p:nvSpPr>
        <p:spPr>
          <a:xfrm>
            <a:off x="7258050" y="2884170"/>
            <a:ext cx="2133600" cy="952500"/>
          </a:xfrm>
          <a:prstGeom prst="roundRect">
            <a:avLst>
              <a:gd name="adj" fmla="val 6000"/>
            </a:avLst>
          </a:prstGeom>
          <a:solidFill>
            <a:schemeClr val="accent4">
              <a:alpha val="10000"/>
            </a:schemeClr>
          </a:solidFill>
          <a:ln w="19050">
            <a:solidFill>
              <a:schemeClr val="accent4"/>
            </a:solidFill>
            <a:prstDash val="solid"/>
          </a:ln>
        </p:spPr>
      </p:sp>
      <p:sp>
        <p:nvSpPr>
          <p:cNvPr id="30" name="Text 27"/>
          <p:cNvSpPr txBox="1"/>
          <p:nvPr/>
        </p:nvSpPr>
        <p:spPr>
          <a:xfrm>
            <a:off x="7641908" y="3107055"/>
            <a:ext cx="136588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S3 assets</a:t>
            </a:r>
            <a:endParaRPr lang="en-US" sz="1500" dirty="0"/>
          </a:p>
        </p:txBody>
      </p:sp>
      <p:sp>
        <p:nvSpPr>
          <p:cNvPr id="31" name="Text 28"/>
          <p:cNvSpPr txBox="1"/>
          <p:nvPr/>
        </p:nvSpPr>
        <p:spPr>
          <a:xfrm>
            <a:off x="7239000" y="3379946"/>
            <a:ext cx="21717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private · stack 1's shape</a:t>
            </a:r>
            <a:endParaRPr lang="en-US" sz="1125" dirty="0"/>
          </a:p>
        </p:txBody>
      </p:sp>
      <p:sp>
        <p:nvSpPr>
          <p:cNvPr id="32" name="Shape 29"/>
          <p:cNvSpPr/>
          <p:nvPr/>
        </p:nvSpPr>
        <p:spPr>
          <a:xfrm>
            <a:off x="5829300" y="4512945"/>
            <a:ext cx="762000" cy="0"/>
          </a:xfrm>
          <a:prstGeom prst="line">
            <a:avLst/>
          </a:prstGeom>
          <a:noFill/>
          <a:ln w="19050">
            <a:solidFill>
              <a:schemeClr val="tx1"/>
            </a:solidFill>
            <a:prstDash val="solid"/>
          </a:ln>
        </p:spPr>
      </p:sp>
      <p:sp>
        <p:nvSpPr>
          <p:cNvPr id="33" name="Shape 30"/>
          <p:cNvSpPr/>
          <p:nvPr/>
        </p:nvSpPr>
        <p:spPr>
          <a:xfrm>
            <a:off x="6591300" y="4512945"/>
            <a:ext cx="0" cy="485775"/>
          </a:xfrm>
          <a:prstGeom prst="line">
            <a:avLst/>
          </a:prstGeom>
          <a:noFill/>
          <a:ln w="19050">
            <a:solidFill>
              <a:schemeClr val="tx1"/>
            </a:solidFill>
            <a:prstDash val="solid"/>
          </a:ln>
        </p:spPr>
      </p:sp>
      <p:sp>
        <p:nvSpPr>
          <p:cNvPr id="34" name="Shape 31"/>
          <p:cNvSpPr/>
          <p:nvPr/>
        </p:nvSpPr>
        <p:spPr>
          <a:xfrm>
            <a:off x="6591300" y="4998720"/>
            <a:ext cx="628650" cy="0"/>
          </a:xfrm>
          <a:prstGeom prst="line">
            <a:avLst/>
          </a:prstGeom>
          <a:noFill/>
          <a:ln w="19050">
            <a:solidFill>
              <a:schemeClr val="tx1"/>
            </a:solidFill>
            <a:prstDash val="solid"/>
            <a:tailEnd type="triangle"/>
          </a:ln>
        </p:spPr>
      </p:sp>
      <p:sp>
        <p:nvSpPr>
          <p:cNvPr id="35" name="Text 32"/>
          <p:cNvSpPr txBox="1"/>
          <p:nvPr/>
        </p:nvSpPr>
        <p:spPr>
          <a:xfrm>
            <a:off x="6686550" y="5103305"/>
            <a:ext cx="157734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Host rewritten</a:t>
            </a:r>
            <a:endParaRPr lang="en-US" sz="1050" dirty="0"/>
          </a:p>
        </p:txBody>
      </p:sp>
      <p:sp>
        <p:nvSpPr>
          <p:cNvPr id="36" name="Shape 33"/>
          <p:cNvSpPr/>
          <p:nvPr/>
        </p:nvSpPr>
        <p:spPr>
          <a:xfrm>
            <a:off x="7258050" y="4522470"/>
            <a:ext cx="2133600" cy="952500"/>
          </a:xfrm>
          <a:prstGeom prst="roundRect">
            <a:avLst>
              <a:gd name="adj" fmla="val 6000"/>
            </a:avLst>
          </a:prstGeom>
          <a:solidFill>
            <a:schemeClr val="accent3">
              <a:alpha val="10000"/>
            </a:schemeClr>
          </a:solidFill>
          <a:ln w="19050">
            <a:solidFill>
              <a:schemeClr val="accent3"/>
            </a:solidFill>
            <a:prstDash val="solid"/>
          </a:ln>
        </p:spPr>
      </p:sp>
      <p:sp>
        <p:nvSpPr>
          <p:cNvPr id="37" name="Text 34"/>
          <p:cNvSpPr txBox="1"/>
          <p:nvPr/>
        </p:nvSpPr>
        <p:spPr>
          <a:xfrm>
            <a:off x="7490460" y="4745355"/>
            <a:ext cx="166878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Function URL</a:t>
            </a:r>
            <a:endParaRPr lang="en-US" sz="1500" dirty="0"/>
          </a:p>
        </p:txBody>
      </p:sp>
      <p:sp>
        <p:nvSpPr>
          <p:cNvPr id="38" name="Text 35"/>
          <p:cNvSpPr txBox="1"/>
          <p:nvPr/>
        </p:nvSpPr>
        <p:spPr>
          <a:xfrm>
            <a:off x="7581900" y="5018246"/>
            <a:ext cx="14859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stack 2's shape</a:t>
            </a:r>
            <a:endParaRPr lang="en-US" sz="1125" dirty="0"/>
          </a:p>
        </p:txBody>
      </p:sp>
      <p:sp>
        <p:nvSpPr>
          <p:cNvPr id="39" name="Shape 36"/>
          <p:cNvSpPr/>
          <p:nvPr/>
        </p:nvSpPr>
        <p:spPr>
          <a:xfrm>
            <a:off x="9391650" y="4998720"/>
            <a:ext cx="400050" cy="0"/>
          </a:xfrm>
          <a:prstGeom prst="line">
            <a:avLst/>
          </a:prstGeom>
          <a:noFill/>
          <a:ln w="19050">
            <a:solidFill>
              <a:schemeClr val="tx1"/>
            </a:solidFill>
            <a:prstDash val="solid"/>
            <a:tailEnd type="triangle"/>
          </a:ln>
        </p:spPr>
      </p:sp>
      <p:sp>
        <p:nvSpPr>
          <p:cNvPr id="40" name="Shape 37"/>
          <p:cNvSpPr/>
          <p:nvPr/>
        </p:nvSpPr>
        <p:spPr>
          <a:xfrm>
            <a:off x="9829800" y="4522470"/>
            <a:ext cx="1676400" cy="952500"/>
          </a:xfrm>
          <a:prstGeom prst="roundRect">
            <a:avLst>
              <a:gd name="adj" fmla="val 6000"/>
            </a:avLst>
          </a:prstGeom>
          <a:solidFill>
            <a:schemeClr val="accent3">
              <a:alpha val="10000"/>
            </a:schemeClr>
          </a:solidFill>
          <a:ln w="19050">
            <a:solidFill>
              <a:schemeClr val="accent3"/>
            </a:solidFill>
            <a:prstDash val="solid"/>
          </a:ln>
        </p:spPr>
      </p:sp>
      <p:sp>
        <p:nvSpPr>
          <p:cNvPr id="41" name="Text 38"/>
          <p:cNvSpPr txBox="1"/>
          <p:nvPr/>
        </p:nvSpPr>
        <p:spPr>
          <a:xfrm>
            <a:off x="9934575" y="4745355"/>
            <a:ext cx="146685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Lambda SSR</a:t>
            </a:r>
            <a:endParaRPr lang="en-US" sz="1500" dirty="0"/>
          </a:p>
        </p:txBody>
      </p:sp>
      <p:sp>
        <p:nvSpPr>
          <p:cNvPr id="42" name="Text 39"/>
          <p:cNvSpPr txBox="1"/>
          <p:nvPr/>
        </p:nvSpPr>
        <p:spPr>
          <a:xfrm>
            <a:off x="9993630" y="5018246"/>
            <a:ext cx="134874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renders React</a:t>
            </a:r>
            <a:endParaRPr lang="en-US" sz="1125" dirty="0"/>
          </a:p>
        </p:txBody>
      </p:sp>
      <p:sp>
        <p:nvSpPr>
          <p:cNvPr id="43" name="Caption"/>
          <p:cNvSpPr txBox="1"/>
          <p:nvPr/>
        </p:nvSpPr>
        <p:spPr>
          <a:xfrm>
            <a:off x="685800" y="5783580"/>
            <a:ext cx="10058400" cy="43434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The build decides the architecture: two output folders, two origins. Assets upload before the function changes, so new HTML never points at missing CSS.</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4</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TERRAFORM PLAN</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ledger</a:t>
            </a:r>
            <a:endParaRPr lang="en-US" sz="3600" dirty="0"/>
          </a:p>
        </p:txBody>
      </p:sp>
      <p:sp>
        <p:nvSpPr>
          <p:cNvPr id="6" name="Shape 3"/>
          <p:cNvSpPr/>
          <p:nvPr/>
        </p:nvSpPr>
        <p:spPr>
          <a:xfrm>
            <a:off x="685800" y="1801368"/>
            <a:ext cx="114300" cy="114300"/>
          </a:xfrm>
          <a:prstGeom prst="roundRect">
            <a:avLst>
              <a:gd name="adj" fmla="val 16000"/>
            </a:avLst>
          </a:prstGeom>
          <a:solidFill>
            <a:schemeClr val="accent4"/>
          </a:solidFill>
          <a:ln/>
        </p:spPr>
      </p:sp>
      <p:sp>
        <p:nvSpPr>
          <p:cNvPr id="7" name="Ledger group"/>
          <p:cNvSpPr txBox="1"/>
          <p:nvPr/>
        </p:nvSpPr>
        <p:spPr>
          <a:xfrm>
            <a:off x="886968" y="1755648"/>
            <a:ext cx="4980432" cy="219456"/>
          </a:xfrm>
          <a:prstGeom prst="rect">
            <a:avLst/>
          </a:prstGeom>
          <a:noFill/>
          <a:ln/>
        </p:spPr>
        <p:txBody>
          <a:bodyPr wrap="square" lIns="0" tIns="0" rIns="0" bIns="0" rtlCol="0" anchor="t"/>
          <a:lstStyle/>
          <a:p>
            <a:pPr indent="0" marL="0">
              <a:buNone/>
            </a:pPr>
            <a:r>
              <a:rPr lang="en-US" sz="1050" spc="100" kern="0" dirty="0">
                <a:solidFill>
                  <a:schemeClr val="accent4"/>
                </a:solidFill>
                <a:latin typeface="Courier New" pitchFamily="34" charset="0"/>
                <a:ea typeface="Courier New" pitchFamily="34" charset="-122"/>
                <a:cs typeface="Courier New" pitchFamily="34" charset="-120"/>
              </a:rPr>
              <a:t>FROM STACK 1 · ASSETS</a:t>
            </a:r>
            <a:endParaRPr lang="en-US" sz="1050" dirty="0"/>
          </a:p>
        </p:txBody>
      </p:sp>
      <p:sp>
        <p:nvSpPr>
          <p:cNvPr id="8" name="Text 5"/>
          <p:cNvSpPr txBox="1"/>
          <p:nvPr/>
        </p:nvSpPr>
        <p:spPr>
          <a:xfrm>
            <a:off x="685800" y="202996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9" name="Ledger resource"/>
          <p:cNvSpPr txBox="1"/>
          <p:nvPr/>
        </p:nvSpPr>
        <p:spPr>
          <a:xfrm>
            <a:off x="896112" y="202996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aws_s3_bucket.assets</a:t>
            </a:r>
            <a:endParaRPr lang="en-US" sz="1350" dirty="0"/>
          </a:p>
        </p:txBody>
      </p:sp>
      <p:sp>
        <p:nvSpPr>
          <p:cNvPr id="10" name="Text 7"/>
          <p:cNvSpPr txBox="1"/>
          <p:nvPr/>
        </p:nvSpPr>
        <p:spPr>
          <a:xfrm>
            <a:off x="685800" y="233172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1" name="Ledger resource"/>
          <p:cNvSpPr txBox="1"/>
          <p:nvPr/>
        </p:nvSpPr>
        <p:spPr>
          <a:xfrm>
            <a:off x="896112" y="233172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aws_s3_bucket_public_access_block.assets</a:t>
            </a:r>
            <a:endParaRPr lang="en-US" sz="1350" dirty="0"/>
          </a:p>
        </p:txBody>
      </p:sp>
      <p:sp>
        <p:nvSpPr>
          <p:cNvPr id="12" name="Text 9"/>
          <p:cNvSpPr txBox="1"/>
          <p:nvPr/>
        </p:nvSpPr>
        <p:spPr>
          <a:xfrm>
            <a:off x="685800" y="263347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3" name="Ledger resource"/>
          <p:cNvSpPr txBox="1"/>
          <p:nvPr/>
        </p:nvSpPr>
        <p:spPr>
          <a:xfrm>
            <a:off x="896112" y="263347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aws_s3_object.assets["assets/…"] ×3</a:t>
            </a:r>
            <a:endParaRPr lang="en-US" sz="1350" dirty="0"/>
          </a:p>
        </p:txBody>
      </p:sp>
      <p:sp>
        <p:nvSpPr>
          <p:cNvPr id="14" name="Text 11"/>
          <p:cNvSpPr txBox="1"/>
          <p:nvPr/>
        </p:nvSpPr>
        <p:spPr>
          <a:xfrm>
            <a:off x="896112" y="2880360"/>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Fingerprinted, cached for a year</a:t>
            </a:r>
            <a:endParaRPr lang="en-US" sz="1200" dirty="0"/>
          </a:p>
        </p:txBody>
      </p:sp>
      <p:sp>
        <p:nvSpPr>
          <p:cNvPr id="15" name="Text 12"/>
          <p:cNvSpPr txBox="1"/>
          <p:nvPr/>
        </p:nvSpPr>
        <p:spPr>
          <a:xfrm>
            <a:off x="685800" y="313639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6" name="Ledger resource"/>
          <p:cNvSpPr txBox="1"/>
          <p:nvPr/>
        </p:nvSpPr>
        <p:spPr>
          <a:xfrm>
            <a:off x="896112" y="313639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aws_cloudfront_origin_access_control.assets</a:t>
            </a:r>
            <a:endParaRPr lang="en-US" sz="1350" dirty="0"/>
          </a:p>
        </p:txBody>
      </p:sp>
      <p:sp>
        <p:nvSpPr>
          <p:cNvPr id="17" name="Text 14"/>
          <p:cNvSpPr txBox="1"/>
          <p:nvPr/>
        </p:nvSpPr>
        <p:spPr>
          <a:xfrm>
            <a:off x="685800" y="343814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18" name="Ledger resource"/>
          <p:cNvSpPr txBox="1"/>
          <p:nvPr/>
        </p:nvSpPr>
        <p:spPr>
          <a:xfrm>
            <a:off x="896112" y="343814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aws_s3_bucket_policy.assets</a:t>
            </a:r>
            <a:endParaRPr lang="en-US" sz="1350" dirty="0"/>
          </a:p>
        </p:txBody>
      </p:sp>
      <p:sp>
        <p:nvSpPr>
          <p:cNvPr id="19" name="Shape 16"/>
          <p:cNvSpPr/>
          <p:nvPr/>
        </p:nvSpPr>
        <p:spPr>
          <a:xfrm>
            <a:off x="685800" y="3895344"/>
            <a:ext cx="114300" cy="114300"/>
          </a:xfrm>
          <a:prstGeom prst="roundRect">
            <a:avLst>
              <a:gd name="adj" fmla="val 16000"/>
            </a:avLst>
          </a:prstGeom>
          <a:solidFill>
            <a:schemeClr val="accent3"/>
          </a:solidFill>
          <a:ln/>
        </p:spPr>
      </p:sp>
      <p:sp>
        <p:nvSpPr>
          <p:cNvPr id="20" name="Ledger group"/>
          <p:cNvSpPr txBox="1"/>
          <p:nvPr/>
        </p:nvSpPr>
        <p:spPr>
          <a:xfrm>
            <a:off x="886968" y="3849624"/>
            <a:ext cx="4980432" cy="219456"/>
          </a:xfrm>
          <a:prstGeom prst="rect">
            <a:avLst/>
          </a:prstGeom>
          <a:noFill/>
          <a:ln/>
        </p:spPr>
        <p:txBody>
          <a:bodyPr wrap="square" lIns="0" tIns="0" rIns="0" bIns="0" rtlCol="0" anchor="t"/>
          <a:lstStyle/>
          <a:p>
            <a:pPr indent="0" marL="0">
              <a:buNone/>
            </a:pPr>
            <a:r>
              <a:rPr lang="en-US" sz="1050" spc="100" kern="0" dirty="0">
                <a:solidFill>
                  <a:schemeClr val="accent3"/>
                </a:solidFill>
                <a:latin typeface="Courier New" pitchFamily="34" charset="0"/>
                <a:ea typeface="Courier New" pitchFamily="34" charset="-122"/>
                <a:cs typeface="Courier New" pitchFamily="34" charset="-120"/>
              </a:rPr>
              <a:t>FROM STACK 2 · SERVER</a:t>
            </a:r>
            <a:endParaRPr lang="en-US" sz="1050" dirty="0"/>
          </a:p>
        </p:txBody>
      </p:sp>
      <p:sp>
        <p:nvSpPr>
          <p:cNvPr id="21" name="Text 18"/>
          <p:cNvSpPr txBox="1"/>
          <p:nvPr/>
        </p:nvSpPr>
        <p:spPr>
          <a:xfrm>
            <a:off x="685800" y="4123944"/>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2" name="Ledger resource"/>
          <p:cNvSpPr txBox="1"/>
          <p:nvPr/>
        </p:nvSpPr>
        <p:spPr>
          <a:xfrm>
            <a:off x="896112" y="4123944"/>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aws_iam_role.ssr</a:t>
            </a:r>
            <a:endParaRPr lang="en-US" sz="1350" dirty="0"/>
          </a:p>
        </p:txBody>
      </p:sp>
      <p:sp>
        <p:nvSpPr>
          <p:cNvPr id="23" name="Text 20"/>
          <p:cNvSpPr txBox="1"/>
          <p:nvPr/>
        </p:nvSpPr>
        <p:spPr>
          <a:xfrm>
            <a:off x="685800" y="4425696"/>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4" name="Ledger resource"/>
          <p:cNvSpPr txBox="1"/>
          <p:nvPr/>
        </p:nvSpPr>
        <p:spPr>
          <a:xfrm>
            <a:off x="896112" y="4425696"/>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aws_iam_role_policy.logs</a:t>
            </a:r>
            <a:endParaRPr lang="en-US" sz="1350" dirty="0"/>
          </a:p>
        </p:txBody>
      </p:sp>
      <p:sp>
        <p:nvSpPr>
          <p:cNvPr id="25" name="Text 22"/>
          <p:cNvSpPr txBox="1"/>
          <p:nvPr/>
        </p:nvSpPr>
        <p:spPr>
          <a:xfrm>
            <a:off x="685800" y="4727448"/>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6" name="Ledger resource"/>
          <p:cNvSpPr txBox="1"/>
          <p:nvPr/>
        </p:nvSpPr>
        <p:spPr>
          <a:xfrm>
            <a:off x="896112" y="4727448"/>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aws_cloudwatch_log_group.ssr</a:t>
            </a:r>
            <a:endParaRPr lang="en-US" sz="1350" dirty="0"/>
          </a:p>
        </p:txBody>
      </p:sp>
      <p:sp>
        <p:nvSpPr>
          <p:cNvPr id="27" name="Text 24"/>
          <p:cNvSpPr txBox="1"/>
          <p:nvPr/>
        </p:nvSpPr>
        <p:spPr>
          <a:xfrm>
            <a:off x="6324600" y="164592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28" name="Ledger resource"/>
          <p:cNvSpPr txBox="1"/>
          <p:nvPr/>
        </p:nvSpPr>
        <p:spPr>
          <a:xfrm>
            <a:off x="6534912" y="164592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aws_lambda_function.ssr</a:t>
            </a:r>
            <a:endParaRPr lang="en-US" sz="1350" dirty="0"/>
          </a:p>
        </p:txBody>
      </p:sp>
      <p:sp>
        <p:nvSpPr>
          <p:cNvPr id="29" name="Text 26"/>
          <p:cNvSpPr txBox="1"/>
          <p:nvPr/>
        </p:nvSpPr>
        <p:spPr>
          <a:xfrm>
            <a:off x="6534912" y="1892808"/>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Nitro's .output/server, 512 MB</a:t>
            </a:r>
            <a:endParaRPr lang="en-US" sz="1200" dirty="0"/>
          </a:p>
        </p:txBody>
      </p:sp>
      <p:sp>
        <p:nvSpPr>
          <p:cNvPr id="30" name="Text 27"/>
          <p:cNvSpPr txBox="1"/>
          <p:nvPr/>
        </p:nvSpPr>
        <p:spPr>
          <a:xfrm>
            <a:off x="6324600" y="2148840"/>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1" name="Ledger resource"/>
          <p:cNvSpPr txBox="1"/>
          <p:nvPr/>
        </p:nvSpPr>
        <p:spPr>
          <a:xfrm>
            <a:off x="6534912" y="2148840"/>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aws_lambda_function_url.ssr</a:t>
            </a:r>
            <a:endParaRPr lang="en-US" sz="1350" dirty="0"/>
          </a:p>
        </p:txBody>
      </p:sp>
      <p:sp>
        <p:nvSpPr>
          <p:cNvPr id="32" name="Text 29"/>
          <p:cNvSpPr txBox="1"/>
          <p:nvPr/>
        </p:nvSpPr>
        <p:spPr>
          <a:xfrm>
            <a:off x="6324600" y="245059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3" name="Ledger resource"/>
          <p:cNvSpPr txBox="1"/>
          <p:nvPr/>
        </p:nvSpPr>
        <p:spPr>
          <a:xfrm>
            <a:off x="6534912" y="245059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aws_lambda_permission.url, .invoke_via_url</a:t>
            </a:r>
            <a:endParaRPr lang="en-US" sz="1350" dirty="0"/>
          </a:p>
        </p:txBody>
      </p:sp>
      <p:sp>
        <p:nvSpPr>
          <p:cNvPr id="34" name="Shape 31"/>
          <p:cNvSpPr/>
          <p:nvPr/>
        </p:nvSpPr>
        <p:spPr>
          <a:xfrm>
            <a:off x="6324600" y="2907792"/>
            <a:ext cx="114300" cy="114300"/>
          </a:xfrm>
          <a:prstGeom prst="roundRect">
            <a:avLst>
              <a:gd name="adj" fmla="val 16000"/>
            </a:avLst>
          </a:prstGeom>
          <a:solidFill>
            <a:schemeClr val="accent2"/>
          </a:solidFill>
          <a:ln/>
        </p:spPr>
      </p:sp>
      <p:sp>
        <p:nvSpPr>
          <p:cNvPr id="35" name="Ledger group"/>
          <p:cNvSpPr txBox="1"/>
          <p:nvPr/>
        </p:nvSpPr>
        <p:spPr>
          <a:xfrm>
            <a:off x="6525768" y="2862072"/>
            <a:ext cx="4980432" cy="219456"/>
          </a:xfrm>
          <a:prstGeom prst="rect">
            <a:avLst/>
          </a:prstGeom>
          <a:noFill/>
          <a:ln/>
        </p:spPr>
        <p:txBody>
          <a:bodyPr wrap="square" lIns="0" tIns="0" rIns="0" bIns="0" rtlCol="0" anchor="t"/>
          <a:lstStyle/>
          <a:p>
            <a:pPr indent="0" marL="0">
              <a:buNone/>
            </a:pPr>
            <a:r>
              <a:rPr lang="en-US" sz="1050" spc="100" kern="0" dirty="0">
                <a:solidFill>
                  <a:schemeClr val="accent2"/>
                </a:solidFill>
                <a:latin typeface="Courier New" pitchFamily="34" charset="0"/>
                <a:ea typeface="Courier New" pitchFamily="34" charset="-122"/>
                <a:cs typeface="Courier New" pitchFamily="34" charset="-120"/>
              </a:rPr>
              <a:t>NEW</a:t>
            </a:r>
            <a:endParaRPr lang="en-US" sz="1050" dirty="0"/>
          </a:p>
        </p:txBody>
      </p:sp>
      <p:sp>
        <p:nvSpPr>
          <p:cNvPr id="36" name="Text 33"/>
          <p:cNvSpPr txBox="1"/>
          <p:nvPr/>
        </p:nvSpPr>
        <p:spPr>
          <a:xfrm>
            <a:off x="6324600" y="3136392"/>
            <a:ext cx="201168" cy="237744"/>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a:t>
            </a:r>
            <a:endParaRPr lang="en-US" sz="1350" dirty="0"/>
          </a:p>
        </p:txBody>
      </p:sp>
      <p:sp>
        <p:nvSpPr>
          <p:cNvPr id="37" name="Ledger resource"/>
          <p:cNvSpPr txBox="1"/>
          <p:nvPr/>
        </p:nvSpPr>
        <p:spPr>
          <a:xfrm>
            <a:off x="6534912" y="3136392"/>
            <a:ext cx="4971288" cy="237744"/>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aws_cloudfront_distribution.site</a:t>
            </a:r>
            <a:endParaRPr lang="en-US" sz="1350" dirty="0"/>
          </a:p>
        </p:txBody>
      </p:sp>
      <p:sp>
        <p:nvSpPr>
          <p:cNvPr id="38" name="Text 35"/>
          <p:cNvSpPr txBox="1"/>
          <p:nvPr/>
        </p:nvSpPr>
        <p:spPr>
          <a:xfrm>
            <a:off x="6534912" y="3383280"/>
            <a:ext cx="4971288" cy="201168"/>
          </a:xfrm>
          <a:prstGeom prst="rect">
            <a:avLst/>
          </a:prstGeom>
          <a:noFill/>
          <a:ln/>
        </p:spPr>
        <p:txBody>
          <a:bodyPr wrap="square" lIns="0" tIns="0" rIns="0" bIns="0" rtlCol="0" anchor="t"/>
          <a:lstStyle/>
          <a:p>
            <a:pPr indent="0" marL="0">
              <a:buNone/>
            </a:pPr>
            <a:r>
              <a:rPr lang="en-US" sz="1200" dirty="0">
                <a:solidFill>
                  <a:schemeClr val="tx2"/>
                </a:solidFill>
                <a:latin typeface="Arial" pitchFamily="34" charset="0"/>
                <a:ea typeface="Arial" pitchFamily="34" charset="-122"/>
                <a:cs typeface="Arial" pitchFamily="34" charset="-120"/>
              </a:rPr>
              <a:t>Two origins, two behaviors</a:t>
            </a:r>
            <a:endParaRPr lang="en-US" sz="1200" dirty="0"/>
          </a:p>
        </p:txBody>
      </p:sp>
      <p:sp>
        <p:nvSpPr>
          <p:cNvPr id="39" name="Shape 36"/>
          <p:cNvSpPr/>
          <p:nvPr/>
        </p:nvSpPr>
        <p:spPr>
          <a:xfrm>
            <a:off x="685800" y="5836920"/>
            <a:ext cx="10820400" cy="0"/>
          </a:xfrm>
          <a:prstGeom prst="line">
            <a:avLst/>
          </a:prstGeom>
          <a:noFill/>
          <a:ln w="9525">
            <a:solidFill>
              <a:srgbClr val="D3D9D2"/>
            </a:solidFill>
            <a:prstDash val="solid"/>
          </a:ln>
        </p:spPr>
      </p:sp>
      <p:sp>
        <p:nvSpPr>
          <p:cNvPr id="40" name="Plan summary"/>
          <p:cNvSpPr txBox="1"/>
          <p:nvPr/>
        </p:nvSpPr>
        <p:spPr>
          <a:xfrm>
            <a:off x="685800" y="5928360"/>
            <a:ext cx="10820400" cy="274320"/>
          </a:xfrm>
          <a:prstGeom prst="rect">
            <a:avLst/>
          </a:prstGeom>
          <a:noFill/>
          <a:ln/>
        </p:spPr>
        <p:txBody>
          <a:bodyPr wrap="square" lIns="0" tIns="0" rIns="0" bIns="0" rtlCol="0" anchor="t"/>
          <a:lstStyle/>
          <a:p>
            <a:pPr indent="0" marL="0">
              <a:buNone/>
            </a:pPr>
            <a:r>
              <a:rPr lang="en-US" sz="1350" b="1" dirty="0">
                <a:solidFill>
                  <a:schemeClr val="accent6"/>
                </a:solidFill>
                <a:latin typeface="Courier New" pitchFamily="34" charset="0"/>
                <a:ea typeface="Courier New" pitchFamily="34" charset="-122"/>
                <a:cs typeface="Courier New" pitchFamily="34" charset="-120"/>
              </a:rPr>
              <a:t>Plan: 15 to add</a:t>
            </a:r>
            <a:pPr indent="0" marL="0">
              <a:buNone/>
            </a:pPr>
            <a:r>
              <a:rPr lang="en-US" sz="1350" dirty="0">
                <a:solidFill>
                  <a:schemeClr val="tx1"/>
                </a:solidFill>
                <a:latin typeface="Courier New" pitchFamily="34" charset="0"/>
                <a:ea typeface="Courier New" pitchFamily="34" charset="-122"/>
                <a:cs typeface="Courier New" pitchFamily="34" charset="-120"/>
              </a:rPr>
              <a:t>, 0 to change, 0 to destroy.</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main.tf · 295 lines</a:t>
            </a:r>
            <a:pPr indent="0" marL="0">
              <a:buNone/>
            </a:pPr>
            <a:r>
              <a:rPr lang="en-US" sz="1350" dirty="0">
                <a:solidFill>
                  <a:schemeClr val="tx1"/>
                </a:solidFill>
                <a:latin typeface="Courier New" pitchFamily="34" charset="0"/>
                <a:ea typeface="Courier New" pitchFamily="34" charset="-122"/>
                <a:cs typeface="Courier New" pitchFamily="34" charset="-120"/>
              </a:rPr>
              <a:t>     </a:t>
            </a:r>
            <a:pPr indent="0" marL="0">
              <a:buNone/>
            </a:pPr>
            <a:r>
              <a:rPr lang="en-US" sz="1350" dirty="0">
                <a:solidFill>
                  <a:schemeClr val="tx1"/>
                </a:solidFill>
                <a:latin typeface="Courier New" pitchFamily="34" charset="0"/>
                <a:ea typeface="Courier New" pitchFamily="34" charset="-122"/>
                <a:cs typeface="Courier New" pitchFamily="34" charset="-120"/>
              </a:rPr>
              <a:t>new ideas · 1</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4</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CODE THAT MATTERS</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Two behaviors, one managed policy</a:t>
            </a:r>
            <a:endParaRPr lang="en-US" sz="3600" dirty="0"/>
          </a:p>
        </p:txBody>
      </p:sp>
      <p:sp>
        <p:nvSpPr>
          <p:cNvPr id="6" name="Code"/>
          <p:cNvSpPr txBox="1"/>
          <p:nvPr/>
        </p:nvSpPr>
        <p:spPr>
          <a:xfrm>
            <a:off x="685800" y="1645920"/>
            <a:ext cx="5975390" cy="3440811"/>
          </a:xfrm>
          <a:prstGeom prst="roundRect">
            <a:avLst>
              <a:gd name="adj" fmla="val 1595"/>
            </a:avLst>
          </a:prstGeom>
          <a:solidFill>
            <a:srgbClr val="E6EAE4"/>
          </a:solidFill>
          <a:ln/>
        </p:spPr>
        <p:txBody>
          <a:bodyPr wrap="square" lIns="246888" tIns="246888" rIns="246888" bIns="246888" rtlCol="0" anchor="t"/>
          <a:lstStyle/>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ordered_cache_behavior</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path_pattern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"/assets/*"</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target_origin_id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"assets"</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cache_policy_id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"658327ea-…"</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tx2"/>
                </a:solidFill>
                <a:latin typeface="Courier New" pitchFamily="34" charset="0"/>
                <a:ea typeface="Courier New" pitchFamily="34" charset="-122"/>
                <a:cs typeface="Courier New" pitchFamily="34" charset="-120"/>
              </a:rPr>
              <a:t># CachingOptimized</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b="1" dirty="0">
                <a:solidFill>
                  <a:schemeClr val="accent1"/>
                </a:solidFill>
                <a:latin typeface="Courier New" pitchFamily="34" charset="0"/>
                <a:ea typeface="Courier New" pitchFamily="34" charset="-122"/>
                <a:cs typeface="Courier New" pitchFamily="34" charset="-120"/>
              </a:rPr>
              <a:t>default_cache_behavior</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target_origin_id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"ssr"</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allowed_methods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"GET"</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"HEAD"</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"OPTIONS"</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"PUT"</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"POST"</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"PATCH"</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"DELETE"</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cache_policy_id  = </a:t>
            </a:r>
            <a:pPr indent="0" marL="0">
              <a:lnSpc>
                <a:spcPct val="105000"/>
              </a:lnSpc>
              <a:buNone/>
            </a:pPr>
            <a:r>
              <a:rPr lang="en-US" sz="1275" dirty="0">
                <a:solidFill>
                  <a:schemeClr val="accent4"/>
                </a:solidFill>
                <a:latin typeface="Courier New" pitchFamily="34" charset="0"/>
                <a:ea typeface="Courier New" pitchFamily="34" charset="-122"/>
                <a:cs typeface="Courier New" pitchFamily="34" charset="-120"/>
              </a:rPr>
              <a:t>"4135ea2d-…"</a:t>
            </a:r>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 </a:t>
            </a:r>
            <a:pPr indent="0" marL="0">
              <a:lnSpc>
                <a:spcPct val="105000"/>
              </a:lnSpc>
              <a:buNone/>
            </a:pPr>
            <a:r>
              <a:rPr lang="en-US" sz="1275" dirty="0">
                <a:solidFill>
                  <a:schemeClr val="tx2"/>
                </a:solidFill>
                <a:latin typeface="Courier New" pitchFamily="34" charset="0"/>
                <a:ea typeface="Courier New" pitchFamily="34" charset="-122"/>
                <a:cs typeface="Courier New" pitchFamily="34" charset="-120"/>
              </a:rPr>
              <a:t># CachingDisabled</a:t>
            </a:r>
            <a:endParaRPr lang="en-US" sz="1275" dirty="0"/>
          </a:p>
          <a:p>
            <a:pPr indent="0" marL="0">
              <a:lnSpc>
                <a:spcPct val="105000"/>
              </a:lnSpc>
              <a:buNone/>
            </a:pPr>
            <a:r>
              <a:rPr lang="en-US" sz="1275" dirty="0">
                <a:solidFill>
                  <a:schemeClr val="tx1"/>
                </a:solidFill>
                <a:highlight>
                  <a:srgbClr val="CBE3D3"/>
                </a:highlight>
                <a:latin typeface="Courier New" pitchFamily="34" charset="0"/>
                <a:ea typeface="Courier New" pitchFamily="34" charset="-122"/>
                <a:cs typeface="Courier New" pitchFamily="34" charset="-120"/>
              </a:rPr>
              <a:t>origin_request_policy_id = </a:t>
            </a:r>
            <a:pPr indent="0" marL="0">
              <a:lnSpc>
                <a:spcPct val="105000"/>
              </a:lnSpc>
              <a:buNone/>
            </a:pPr>
            <a:r>
              <a:rPr lang="en-US" sz="1275" dirty="0">
                <a:solidFill>
                  <a:schemeClr val="accent4"/>
                </a:solidFill>
                <a:highlight>
                  <a:srgbClr val="CBE3D3"/>
                </a:highlight>
                <a:latin typeface="Courier New" pitchFamily="34" charset="0"/>
                <a:ea typeface="Courier New" pitchFamily="34" charset="-122"/>
                <a:cs typeface="Courier New" pitchFamily="34" charset="-120"/>
              </a:rPr>
              <a:t>"b689b0a8-…"</a:t>
            </a:r>
            <a:endParaRPr lang="en-US" sz="1275" dirty="0"/>
          </a:p>
          <a:p>
            <a:pPr indent="0" marL="0">
              <a:lnSpc>
                <a:spcPct val="105000"/>
              </a:lnSpc>
              <a:buNone/>
            </a:pPr>
            <a:r>
              <a:rPr lang="en-US" sz="1275" dirty="0">
                <a:solidFill>
                  <a:schemeClr val="tx2"/>
                </a:solidFill>
                <a:latin typeface="Courier New" pitchFamily="34" charset="0"/>
                <a:ea typeface="Courier New" pitchFamily="34" charset="-122"/>
                <a:cs typeface="Courier New" pitchFamily="34" charset="-120"/>
              </a:rPr>
              <a:t># AllViewerExceptHostHeader</a:t>
            </a:r>
            <a:endParaRPr lang="en-US" sz="1275" dirty="0"/>
          </a:p>
          <a:p>
            <a:pPr indent="0" marL="0">
              <a:lnSpc>
                <a:spcPct val="105000"/>
              </a:lnSpc>
              <a:buNone/>
            </a:pPr>
            <a:r>
              <a:rPr lang="en-US" sz="1275" dirty="0">
                <a:solidFill>
                  <a:schemeClr val="tx1"/>
                </a:solidFill>
                <a:latin typeface="Courier New" pitchFamily="34" charset="0"/>
                <a:ea typeface="Courier New" pitchFamily="34" charset="-122"/>
                <a:cs typeface="Courier New" pitchFamily="34" charset="-120"/>
              </a:rPr>
              <a:t>}</a:t>
            </a:r>
            <a:endParaRPr lang="en-US" sz="1275" dirty="0"/>
          </a:p>
        </p:txBody>
      </p:sp>
      <p:sp>
        <p:nvSpPr>
          <p:cNvPr id="7" name="Text 4"/>
          <p:cNvSpPr txBox="1"/>
          <p:nvPr/>
        </p:nvSpPr>
        <p:spPr>
          <a:xfrm>
            <a:off x="7079985" y="1645920"/>
            <a:ext cx="4426215"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THE CLASSIC CLOUDFRONT → LAMBDA BUG</a:t>
            </a:r>
            <a:endParaRPr lang="en-US" sz="1050" dirty="0"/>
          </a:p>
        </p:txBody>
      </p:sp>
      <p:sp>
        <p:nvSpPr>
          <p:cNvPr id="8" name="Callout"/>
          <p:cNvSpPr txBox="1"/>
          <p:nvPr/>
        </p:nvSpPr>
        <p:spPr>
          <a:xfrm>
            <a:off x="7079985" y="2039112"/>
            <a:ext cx="4426215" cy="100584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Forward all viewer headers and you forward </a:t>
            </a:r>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Host</a:t>
            </a:r>
            <a:pPr indent="0" marL="0">
              <a:lnSpc>
                <a:spcPct val="100000"/>
              </a:lnSpc>
              <a:buNone/>
            </a:pPr>
            <a:r>
              <a:rPr lang="en-US" sz="1650" dirty="0">
                <a:solidFill>
                  <a:schemeClr val="tx1"/>
                </a:solidFill>
                <a:latin typeface="Arial" pitchFamily="34" charset="0"/>
                <a:ea typeface="Arial" pitchFamily="34" charset="-122"/>
                <a:cs typeface="Arial" pitchFamily="34" charset="-120"/>
              </a:rPr>
              <a:t>. The function URL routes on its own hostname, sees </a:t>
            </a:r>
            <a:pPr indent="0" marL="0">
              <a:lnSpc>
                <a:spcPct val="100000"/>
              </a:lnSpc>
              <a:buNone/>
            </a:pPr>
            <a:r>
              <a:rPr lang="en-US" sz="1450" dirty="0">
                <a:solidFill>
                  <a:schemeClr val="tx1"/>
                </a:solidFill>
                <a:latin typeface="Courier New" pitchFamily="34" charset="0"/>
                <a:ea typeface="Courier New" pitchFamily="34" charset="-122"/>
                <a:cs typeface="Courier New" pitchFamily="34" charset="-120"/>
              </a:rPr>
              <a:t>abc.cloudfront.net</a:t>
            </a:r>
            <a:pPr indent="0" marL="0">
              <a:lnSpc>
                <a:spcPct val="100000"/>
              </a:lnSpc>
              <a:buNone/>
            </a:pPr>
            <a:r>
              <a:rPr lang="en-US" sz="1650" dirty="0">
                <a:solidFill>
                  <a:schemeClr val="tx1"/>
                </a:solidFill>
                <a:latin typeface="Arial" pitchFamily="34" charset="0"/>
                <a:ea typeface="Arial" pitchFamily="34" charset="-122"/>
                <a:cs typeface="Arial" pitchFamily="34" charset="-120"/>
              </a:rPr>
              <a:t>, and refuses.</a:t>
            </a:r>
            <a:endParaRPr lang="en-US" sz="1650" dirty="0"/>
          </a:p>
        </p:txBody>
      </p:sp>
      <p:sp>
        <p:nvSpPr>
          <p:cNvPr id="9" name="Callout"/>
          <p:cNvSpPr txBox="1"/>
          <p:nvPr/>
        </p:nvSpPr>
        <p:spPr>
          <a:xfrm>
            <a:off x="7079985" y="3236976"/>
            <a:ext cx="4426215" cy="100584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These IDs are literal, but AWS owns them and they're identical in every account. That's not the cross-state hardcoding bug; that one's next.</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Eyebrow chip"/>
          <p:cNvSpPr txBox="1"/>
          <p:nvPr/>
        </p:nvSpPr>
        <p:spPr>
          <a:xfrm>
            <a:off x="685800" y="457200"/>
            <a:ext cx="752856" cy="237744"/>
          </a:xfrm>
          <a:prstGeom prst="roundRect">
            <a:avLst>
              <a:gd name="adj" fmla="val 11538"/>
            </a:avLst>
          </a:prstGeom>
          <a:solidFill>
            <a:schemeClr val="tx1"/>
          </a:solidFill>
          <a:ln/>
        </p:spPr>
        <p:txBody>
          <a:bodyPr wrap="square" lIns="0" tIns="0" rIns="0" bIns="0" rtlCol="0" anchor="ctr"/>
          <a:lstStyle/>
          <a:p>
            <a:pPr algn="ctr" indent="0" marL="0">
              <a:buNone/>
            </a:pPr>
            <a:r>
              <a:rPr lang="en-US" sz="1000" b="1" spc="50" kern="0" dirty="0">
                <a:solidFill>
                  <a:schemeClr val="bg2"/>
                </a:solidFill>
                <a:latin typeface="Courier New" pitchFamily="34" charset="0"/>
                <a:ea typeface="Courier New" pitchFamily="34" charset="-122"/>
                <a:cs typeface="Courier New" pitchFamily="34" charset="-120"/>
              </a:rPr>
              <a:t>STACK 4</a:t>
            </a:r>
            <a:endParaRPr lang="en-US" sz="1000" dirty="0"/>
          </a:p>
        </p:txBody>
      </p:sp>
      <p:sp>
        <p:nvSpPr>
          <p:cNvPr id="4" name="Eyebrow"/>
          <p:cNvSpPr txBox="1"/>
          <p:nvPr/>
        </p:nvSpPr>
        <p:spPr>
          <a:xfrm>
            <a:off x="1566672" y="475488"/>
            <a:ext cx="9939528"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DEMO</a:t>
            </a:r>
            <a:endParaRPr lang="en-US" sz="1100" dirty="0"/>
          </a:p>
        </p:txBody>
      </p:sp>
      <p:sp>
        <p:nvSpPr>
          <p:cNvPr id="5"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HTML from a function, CSS from a bucket</a:t>
            </a:r>
            <a:endParaRPr lang="en-US" sz="3600" dirty="0"/>
          </a:p>
        </p:txBody>
      </p:sp>
      <p:sp>
        <p:nvSpPr>
          <p:cNvPr id="6" name="Terminal"/>
          <p:cNvSpPr txBox="1"/>
          <p:nvPr/>
        </p:nvSpPr>
        <p:spPr>
          <a:xfrm>
            <a:off x="685800" y="1645920"/>
            <a:ext cx="5143652" cy="2375916"/>
          </a:xfrm>
          <a:prstGeom prst="roundRect">
            <a:avLst>
              <a:gd name="adj" fmla="val 2309"/>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tanstack</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[nitro] Building (preset: aws-lambda)</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.output/server/index.mjs  978 kB</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Apply complete! Resources: 15 added</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page:  </a:t>
            </a:r>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HTTP 200, 2740 bytes (Lambda)</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asset: </a:t>
            </a:r>
            <a:pPr indent="0" marL="0">
              <a:lnSpc>
                <a:spcPct val="105000"/>
              </a:lnSpc>
              <a:buNone/>
            </a:pPr>
            <a:r>
              <a:rPr lang="en-US" sz="1425" dirty="0">
                <a:solidFill>
                  <a:srgbClr val="8FD0A8"/>
                </a:solidFill>
                <a:latin typeface="Courier New" pitchFamily="34" charset="0"/>
                <a:ea typeface="Courier New" pitchFamily="34" charset="-122"/>
                <a:cs typeface="Courier New" pitchFamily="34" charset="-120"/>
              </a:rPr>
              <a:t>HTTP 200, text/css (S3)</a:t>
            </a:r>
            <a:endParaRPr lang="en-US" sz="1425" dirty="0"/>
          </a:p>
          <a:p>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a:t>
            </a:r>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 ~52s</a:t>
            </a:r>
            <a:endParaRPr lang="en-US" sz="1425" dirty="0"/>
          </a:p>
        </p:txBody>
      </p:sp>
      <p:sp>
        <p:nvSpPr>
          <p:cNvPr id="7" name="Tag"/>
          <p:cNvSpPr txBox="1"/>
          <p:nvPr/>
        </p:nvSpPr>
        <p:spPr>
          <a:xfrm>
            <a:off x="6362548" y="1673352"/>
            <a:ext cx="960120" cy="237744"/>
          </a:xfrm>
          <a:prstGeom prst="roundRect">
            <a:avLst>
              <a:gd name="adj" fmla="val 11538"/>
            </a:avLst>
          </a:prstGeom>
          <a:noFill/>
          <a:ln w="12700">
            <a:solidFill>
              <a:schemeClr val="accent6"/>
            </a:solidFill>
          </a:ln>
        </p:spPr>
        <p:txBody>
          <a:bodyPr wrap="square" lIns="0" tIns="0" rIns="0" bIns="0" rtlCol="0" anchor="ctr"/>
          <a:lstStyle/>
          <a:p>
            <a:pPr algn="ctr" indent="0" marL="0">
              <a:buNone/>
            </a:pPr>
            <a:r>
              <a:rPr lang="en-US" sz="1000" spc="50" kern="0" dirty="0">
                <a:solidFill>
                  <a:schemeClr val="accent6"/>
                </a:solidFill>
                <a:latin typeface="Courier New" pitchFamily="34" charset="0"/>
                <a:ea typeface="Courier New" pitchFamily="34" charset="-122"/>
                <a:cs typeface="Courier New" pitchFamily="34" charset="-120"/>
              </a:rPr>
              <a:t>REAL</a:t>
            </a:r>
            <a:endParaRPr lang="en-US" sz="1000" dirty="0"/>
          </a:p>
        </p:txBody>
      </p:sp>
      <p:sp>
        <p:nvSpPr>
          <p:cNvPr id="8" name="Note"/>
          <p:cNvSpPr txBox="1"/>
          <p:nvPr/>
        </p:nvSpPr>
        <p:spPr>
          <a:xfrm>
            <a:off x="7505548" y="1645920"/>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Reload the page: the request count climbs while the Lambda container stays warm. Wait, and it resets. That's a cold start.</a:t>
            </a:r>
            <a:endParaRPr lang="en-US" sz="1500" dirty="0"/>
          </a:p>
        </p:txBody>
      </p:sp>
      <p:sp>
        <p:nvSpPr>
          <p:cNvPr id="9" name="Tag"/>
          <p:cNvSpPr txBox="1"/>
          <p:nvPr/>
        </p:nvSpPr>
        <p:spPr>
          <a:xfrm>
            <a:off x="6362548" y="2514600"/>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0" name="Note"/>
          <p:cNvSpPr txBox="1"/>
          <p:nvPr/>
        </p:nvSpPr>
        <p:spPr>
          <a:xfrm>
            <a:off x="7505548" y="2487168"/>
            <a:ext cx="4000652" cy="9144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Floci's CloudFront forwards only GET, HEAD and OPTIONS to Lambda, and drops the query string. So this app renders on the server only: no client-side server functions.</a:t>
            </a:r>
            <a:endParaRPr lang="en-US" sz="1500" dirty="0"/>
          </a:p>
        </p:txBody>
      </p:sp>
      <p:sp>
        <p:nvSpPr>
          <p:cNvPr id="11" name="Tag"/>
          <p:cNvSpPr txBox="1"/>
          <p:nvPr/>
        </p:nvSpPr>
        <p:spPr>
          <a:xfrm>
            <a:off x="6362548" y="3584448"/>
            <a:ext cx="960120" cy="237744"/>
          </a:xfrm>
          <a:prstGeom prst="roundRect">
            <a:avLst>
              <a:gd name="adj" fmla="val 11538"/>
            </a:avLst>
          </a:prstGeom>
          <a:noFill/>
          <a:ln w="12700">
            <a:solidFill>
              <a:schemeClr val="accent5"/>
            </a:solidFill>
          </a:ln>
        </p:spPr>
        <p:txBody>
          <a:bodyPr wrap="square" lIns="0" tIns="0" rIns="0" bIns="0" rtlCol="0" anchor="ctr"/>
          <a:lstStyle/>
          <a:p>
            <a:pPr algn="ctr" indent="0" marL="0">
              <a:buNone/>
            </a:pPr>
            <a:r>
              <a:rPr lang="en-US" sz="1000" spc="50" kern="0" dirty="0">
                <a:solidFill>
                  <a:schemeClr val="accent5"/>
                </a:solidFill>
                <a:latin typeface="Courier New" pitchFamily="34" charset="0"/>
                <a:ea typeface="Courier New" pitchFamily="34" charset="-122"/>
                <a:cs typeface="Courier New" pitchFamily="34" charset="-120"/>
              </a:rPr>
              <a:t>EMULATOR</a:t>
            </a:r>
            <a:endParaRPr lang="en-US" sz="1000" dirty="0"/>
          </a:p>
        </p:txBody>
      </p:sp>
      <p:sp>
        <p:nvSpPr>
          <p:cNvPr id="12" name="Note"/>
          <p:cNvSpPr txBox="1"/>
          <p:nvPr/>
        </p:nvSpPr>
        <p:spPr>
          <a:xfrm>
            <a:off x="7505548" y="3557016"/>
            <a:ext cx="4000652" cy="685800"/>
          </a:xfrm>
          <a:prstGeom prst="rect">
            <a:avLst/>
          </a:prstGeom>
          <a:noFill/>
          <a:ln/>
        </p:spPr>
        <p:txBody>
          <a:bodyPr wrap="square" lIns="0" tIns="0" rIns="0" bIns="0" rtlCol="0" anchor="t"/>
          <a:lstStyle/>
          <a:p>
            <a:pPr indent="0" marL="0">
              <a:buNone/>
            </a:pPr>
            <a:r>
              <a:rPr lang="en-US" sz="1500" dirty="0">
                <a:solidFill>
                  <a:schemeClr val="tx1"/>
                </a:solidFill>
                <a:latin typeface="Arial" pitchFamily="34" charset="0"/>
                <a:ea typeface="Arial" pitchFamily="34" charset="-122"/>
                <a:cs typeface="Arial" pitchFamily="34" charset="-120"/>
              </a:rPr>
              <a:t>CloudFront refuses loopback origins by default. One allowlist line in </a:t>
            </a:r>
            <a:pPr indent="0" marL="0">
              <a:buNone/>
            </a:pPr>
            <a:r>
              <a:rPr lang="en-US" sz="1320" dirty="0">
                <a:solidFill>
                  <a:schemeClr val="tx1"/>
                </a:solidFill>
                <a:latin typeface="Courier New" pitchFamily="34" charset="0"/>
                <a:ea typeface="Courier New" pitchFamily="34" charset="-122"/>
                <a:cs typeface="Courier New" pitchFamily="34" charset="-120"/>
              </a:rPr>
              <a:t>docker-compose.yml</a:t>
            </a:r>
            <a:pPr indent="0" marL="0">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AFTER THE FOUR DEMOS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Where the resources went</a:t>
            </a:r>
            <a:endParaRPr lang="en-US" sz="3600" dirty="0"/>
          </a:p>
        </p:txBody>
      </p:sp>
      <p:sp>
        <p:nvSpPr>
          <p:cNvPr id="5" name="Shape 2"/>
          <p:cNvSpPr/>
          <p:nvPr/>
        </p:nvSpPr>
        <p:spPr>
          <a:xfrm>
            <a:off x="685800" y="1700784"/>
            <a:ext cx="137160" cy="137160"/>
          </a:xfrm>
          <a:prstGeom prst="roundRect">
            <a:avLst>
              <a:gd name="adj" fmla="val 13333"/>
            </a:avLst>
          </a:prstGeom>
          <a:solidFill>
            <a:schemeClr val="accent1"/>
          </a:solidFill>
          <a:ln/>
        </p:spPr>
      </p:sp>
      <p:sp>
        <p:nvSpPr>
          <p:cNvPr id="6" name="Legend"/>
          <p:cNvSpPr txBox="1"/>
          <p:nvPr/>
        </p:nvSpPr>
        <p:spPr>
          <a:xfrm>
            <a:off x="896112" y="1645920"/>
            <a:ext cx="934403" cy="237744"/>
          </a:xfrm>
          <a:prstGeom prst="rect">
            <a:avLst/>
          </a:prstGeom>
          <a:noFill/>
          <a:ln/>
        </p:spPr>
        <p:txBody>
          <a:bodyPr wrap="none" lIns="0" tIns="0" rIns="0" bIns="0" rtlCol="0" anchor="t"/>
          <a:lstStyle/>
          <a:p>
            <a:pPr indent="0" marL="0">
              <a:buNone/>
            </a:pPr>
            <a:r>
              <a:rPr lang="en-US" sz="1350" dirty="0">
                <a:solidFill>
                  <a:schemeClr val="tx1"/>
                </a:solidFill>
                <a:latin typeface="Arial" pitchFamily="34" charset="0"/>
                <a:ea typeface="Arial" pitchFamily="34" charset="-122"/>
                <a:cs typeface="Arial" pitchFamily="34" charset="-120"/>
              </a:rPr>
              <a:t>Network</a:t>
            </a:r>
            <a:endParaRPr lang="en-US" sz="1350" dirty="0"/>
          </a:p>
        </p:txBody>
      </p:sp>
      <p:sp>
        <p:nvSpPr>
          <p:cNvPr id="7" name="Shape 4"/>
          <p:cNvSpPr/>
          <p:nvPr/>
        </p:nvSpPr>
        <p:spPr>
          <a:xfrm>
            <a:off x="2013395" y="1700784"/>
            <a:ext cx="137160" cy="137160"/>
          </a:xfrm>
          <a:prstGeom prst="roundRect">
            <a:avLst>
              <a:gd name="adj" fmla="val 13333"/>
            </a:avLst>
          </a:prstGeom>
          <a:solidFill>
            <a:schemeClr val="accent2"/>
          </a:solidFill>
          <a:ln/>
        </p:spPr>
      </p:sp>
      <p:sp>
        <p:nvSpPr>
          <p:cNvPr id="8" name="Legend"/>
          <p:cNvSpPr txBox="1"/>
          <p:nvPr/>
        </p:nvSpPr>
        <p:spPr>
          <a:xfrm>
            <a:off x="2223707" y="1645920"/>
            <a:ext cx="1217295" cy="237744"/>
          </a:xfrm>
          <a:prstGeom prst="rect">
            <a:avLst/>
          </a:prstGeom>
          <a:noFill/>
          <a:ln/>
        </p:spPr>
        <p:txBody>
          <a:bodyPr wrap="none" lIns="0" tIns="0" rIns="0" bIns="0" rtlCol="0" anchor="t"/>
          <a:lstStyle/>
          <a:p>
            <a:pPr indent="0" marL="0">
              <a:buNone/>
            </a:pPr>
            <a:r>
              <a:rPr lang="en-US" sz="1350" dirty="0">
                <a:solidFill>
                  <a:schemeClr val="tx1"/>
                </a:solidFill>
                <a:latin typeface="Arial" pitchFamily="34" charset="0"/>
                <a:ea typeface="Arial" pitchFamily="34" charset="-122"/>
                <a:cs typeface="Arial" pitchFamily="34" charset="-120"/>
              </a:rPr>
              <a:t>Edge / CDN</a:t>
            </a:r>
            <a:endParaRPr lang="en-US" sz="1350" dirty="0"/>
          </a:p>
        </p:txBody>
      </p:sp>
      <p:sp>
        <p:nvSpPr>
          <p:cNvPr id="9" name="Shape 6"/>
          <p:cNvSpPr/>
          <p:nvPr/>
        </p:nvSpPr>
        <p:spPr>
          <a:xfrm>
            <a:off x="3623882" y="1700784"/>
            <a:ext cx="137160" cy="137160"/>
          </a:xfrm>
          <a:prstGeom prst="roundRect">
            <a:avLst>
              <a:gd name="adj" fmla="val 13333"/>
            </a:avLst>
          </a:prstGeom>
          <a:solidFill>
            <a:schemeClr val="accent3"/>
          </a:solidFill>
          <a:ln/>
        </p:spPr>
      </p:sp>
      <p:sp>
        <p:nvSpPr>
          <p:cNvPr id="10" name="Legend"/>
          <p:cNvSpPr txBox="1"/>
          <p:nvPr/>
        </p:nvSpPr>
        <p:spPr>
          <a:xfrm>
            <a:off x="3834194" y="1645920"/>
            <a:ext cx="934403" cy="237744"/>
          </a:xfrm>
          <a:prstGeom prst="rect">
            <a:avLst/>
          </a:prstGeom>
          <a:noFill/>
          <a:ln/>
        </p:spPr>
        <p:txBody>
          <a:bodyPr wrap="none" lIns="0" tIns="0" rIns="0" bIns="0" rtlCol="0" anchor="t"/>
          <a:lstStyle/>
          <a:p>
            <a:pPr indent="0" marL="0">
              <a:buNone/>
            </a:pPr>
            <a:r>
              <a:rPr lang="en-US" sz="1350" dirty="0">
                <a:solidFill>
                  <a:schemeClr val="tx1"/>
                </a:solidFill>
                <a:latin typeface="Arial" pitchFamily="34" charset="0"/>
                <a:ea typeface="Arial" pitchFamily="34" charset="-122"/>
                <a:cs typeface="Arial" pitchFamily="34" charset="-120"/>
              </a:rPr>
              <a:t>Compute</a:t>
            </a:r>
            <a:endParaRPr lang="en-US" sz="1350" dirty="0"/>
          </a:p>
        </p:txBody>
      </p:sp>
      <p:sp>
        <p:nvSpPr>
          <p:cNvPr id="11" name="Shape 8"/>
          <p:cNvSpPr/>
          <p:nvPr/>
        </p:nvSpPr>
        <p:spPr>
          <a:xfrm>
            <a:off x="4951476" y="1700784"/>
            <a:ext cx="137160" cy="137160"/>
          </a:xfrm>
          <a:prstGeom prst="roundRect">
            <a:avLst>
              <a:gd name="adj" fmla="val 13333"/>
            </a:avLst>
          </a:prstGeom>
          <a:solidFill>
            <a:schemeClr val="accent4"/>
          </a:solidFill>
          <a:ln/>
        </p:spPr>
      </p:sp>
      <p:sp>
        <p:nvSpPr>
          <p:cNvPr id="12" name="Legend"/>
          <p:cNvSpPr txBox="1"/>
          <p:nvPr/>
        </p:nvSpPr>
        <p:spPr>
          <a:xfrm>
            <a:off x="5161788" y="1645920"/>
            <a:ext cx="651510" cy="237744"/>
          </a:xfrm>
          <a:prstGeom prst="rect">
            <a:avLst/>
          </a:prstGeom>
          <a:noFill/>
          <a:ln/>
        </p:spPr>
        <p:txBody>
          <a:bodyPr wrap="none" lIns="0" tIns="0" rIns="0" bIns="0" rtlCol="0" anchor="t"/>
          <a:lstStyle/>
          <a:p>
            <a:pPr indent="0" marL="0">
              <a:buNone/>
            </a:pPr>
            <a:r>
              <a:rPr lang="en-US" sz="1350" dirty="0">
                <a:solidFill>
                  <a:schemeClr val="tx1"/>
                </a:solidFill>
                <a:latin typeface="Arial" pitchFamily="34" charset="0"/>
                <a:ea typeface="Arial" pitchFamily="34" charset="-122"/>
                <a:cs typeface="Arial" pitchFamily="34" charset="-120"/>
              </a:rPr>
              <a:t>Data</a:t>
            </a:r>
            <a:endParaRPr lang="en-US" sz="1350" dirty="0"/>
          </a:p>
        </p:txBody>
      </p:sp>
      <p:sp>
        <p:nvSpPr>
          <p:cNvPr id="13" name="Shape 10"/>
          <p:cNvSpPr/>
          <p:nvPr/>
        </p:nvSpPr>
        <p:spPr>
          <a:xfrm>
            <a:off x="5996178" y="1700784"/>
            <a:ext cx="137160" cy="137160"/>
          </a:xfrm>
          <a:prstGeom prst="roundRect">
            <a:avLst>
              <a:gd name="adj" fmla="val 13333"/>
            </a:avLst>
          </a:prstGeom>
          <a:solidFill>
            <a:schemeClr val="accent5"/>
          </a:solidFill>
          <a:ln/>
        </p:spPr>
      </p:sp>
      <p:sp>
        <p:nvSpPr>
          <p:cNvPr id="14" name="Legend"/>
          <p:cNvSpPr txBox="1"/>
          <p:nvPr/>
        </p:nvSpPr>
        <p:spPr>
          <a:xfrm>
            <a:off x="6206490" y="1645920"/>
            <a:ext cx="1405890" cy="237744"/>
          </a:xfrm>
          <a:prstGeom prst="rect">
            <a:avLst/>
          </a:prstGeom>
          <a:noFill/>
          <a:ln/>
        </p:spPr>
        <p:txBody>
          <a:bodyPr wrap="none" lIns="0" tIns="0" rIns="0" bIns="0" rtlCol="0" anchor="t"/>
          <a:lstStyle/>
          <a:p>
            <a:pPr indent="0" marL="0">
              <a:buNone/>
            </a:pPr>
            <a:r>
              <a:rPr lang="en-US" sz="1350" dirty="0">
                <a:solidFill>
                  <a:schemeClr val="tx1"/>
                </a:solidFill>
                <a:latin typeface="Arial" pitchFamily="34" charset="0"/>
                <a:ea typeface="Arial" pitchFamily="34" charset="-122"/>
                <a:cs typeface="Arial" pitchFamily="34" charset="-120"/>
              </a:rPr>
              <a:t>Access / IAM</a:t>
            </a:r>
            <a:endParaRPr lang="en-US" sz="1350" dirty="0"/>
          </a:p>
        </p:txBody>
      </p:sp>
      <p:sp>
        <p:nvSpPr>
          <p:cNvPr id="15" name="Shape 12"/>
          <p:cNvSpPr/>
          <p:nvPr/>
        </p:nvSpPr>
        <p:spPr>
          <a:xfrm>
            <a:off x="2919413" y="2210333"/>
            <a:ext cx="0" cy="2733942"/>
          </a:xfrm>
          <a:prstGeom prst="line">
            <a:avLst/>
          </a:prstGeom>
          <a:noFill/>
          <a:ln w="9525">
            <a:solidFill>
              <a:srgbClr val="D3D9D2"/>
            </a:solidFill>
            <a:prstDash val="solid"/>
          </a:ln>
        </p:spPr>
      </p:sp>
      <p:sp>
        <p:nvSpPr>
          <p:cNvPr id="16" name="Shape 13"/>
          <p:cNvSpPr/>
          <p:nvPr/>
        </p:nvSpPr>
        <p:spPr>
          <a:xfrm>
            <a:off x="4929664" y="2210333"/>
            <a:ext cx="0" cy="2733942"/>
          </a:xfrm>
          <a:prstGeom prst="line">
            <a:avLst/>
          </a:prstGeom>
          <a:noFill/>
          <a:ln w="9525">
            <a:solidFill>
              <a:srgbClr val="D3D9D2"/>
            </a:solidFill>
            <a:prstDash val="solid"/>
          </a:ln>
        </p:spPr>
      </p:sp>
      <p:sp>
        <p:nvSpPr>
          <p:cNvPr id="17" name="Shape 14"/>
          <p:cNvSpPr/>
          <p:nvPr/>
        </p:nvSpPr>
        <p:spPr>
          <a:xfrm>
            <a:off x="6939915" y="2210333"/>
            <a:ext cx="0" cy="2733942"/>
          </a:xfrm>
          <a:prstGeom prst="line">
            <a:avLst/>
          </a:prstGeom>
          <a:noFill/>
          <a:ln w="9525">
            <a:solidFill>
              <a:srgbClr val="D3D9D2"/>
            </a:solidFill>
            <a:prstDash val="solid"/>
          </a:ln>
        </p:spPr>
      </p:sp>
      <p:sp>
        <p:nvSpPr>
          <p:cNvPr id="18" name="Shape 15"/>
          <p:cNvSpPr/>
          <p:nvPr/>
        </p:nvSpPr>
        <p:spPr>
          <a:xfrm>
            <a:off x="8950166" y="2210333"/>
            <a:ext cx="0" cy="2733942"/>
          </a:xfrm>
          <a:prstGeom prst="line">
            <a:avLst/>
          </a:prstGeom>
          <a:noFill/>
          <a:ln w="9525">
            <a:solidFill>
              <a:srgbClr val="D3D9D2"/>
            </a:solidFill>
            <a:prstDash val="solid"/>
          </a:ln>
        </p:spPr>
      </p:sp>
      <p:sp>
        <p:nvSpPr>
          <p:cNvPr id="19" name="Text 16"/>
          <p:cNvSpPr txBox="1"/>
          <p:nvPr/>
        </p:nvSpPr>
        <p:spPr>
          <a:xfrm>
            <a:off x="2653288" y="5060244"/>
            <a:ext cx="532249" cy="162607"/>
          </a:xfrm>
          <a:prstGeom prst="rect">
            <a:avLst/>
          </a:prstGeom>
          <a:noFill/>
          <a:ln/>
        </p:spPr>
        <p:txBody>
          <a:bodyPr wrap="none" lIns="0" tIns="0" rIns="0" bIns="0" rtlCol="0" anchor="t"/>
          <a:lstStyle/>
          <a:p>
            <a:pPr algn="ctr" indent="0" marL="0">
              <a:buNone/>
            </a:pPr>
            <a:r>
              <a:rPr lang="en-US" sz="985" dirty="0">
                <a:solidFill>
                  <a:schemeClr val="tx2"/>
                </a:solidFill>
                <a:latin typeface="Courier New" pitchFamily="34" charset="0"/>
                <a:ea typeface="Courier New" pitchFamily="34" charset="-122"/>
                <a:cs typeface="Courier New" pitchFamily="34" charset="-120"/>
              </a:rPr>
              <a:t>0</a:t>
            </a:r>
            <a:endParaRPr lang="en-US" sz="985" dirty="0"/>
          </a:p>
        </p:txBody>
      </p:sp>
      <p:sp>
        <p:nvSpPr>
          <p:cNvPr id="20" name="Text 17"/>
          <p:cNvSpPr txBox="1"/>
          <p:nvPr/>
        </p:nvSpPr>
        <p:spPr>
          <a:xfrm>
            <a:off x="4663539" y="5060244"/>
            <a:ext cx="532249" cy="162607"/>
          </a:xfrm>
          <a:prstGeom prst="rect">
            <a:avLst/>
          </a:prstGeom>
          <a:noFill/>
          <a:ln/>
        </p:spPr>
        <p:txBody>
          <a:bodyPr wrap="none" lIns="0" tIns="0" rIns="0" bIns="0" rtlCol="0" anchor="t"/>
          <a:lstStyle/>
          <a:p>
            <a:pPr algn="ctr" indent="0" marL="0">
              <a:buNone/>
            </a:pPr>
            <a:r>
              <a:rPr lang="en-US" sz="985" dirty="0">
                <a:solidFill>
                  <a:schemeClr val="tx2"/>
                </a:solidFill>
                <a:latin typeface="Courier New" pitchFamily="34" charset="0"/>
                <a:ea typeface="Courier New" pitchFamily="34" charset="-122"/>
                <a:cs typeface="Courier New" pitchFamily="34" charset="-120"/>
              </a:rPr>
              <a:t>5</a:t>
            </a:r>
            <a:endParaRPr lang="en-US" sz="985" dirty="0"/>
          </a:p>
        </p:txBody>
      </p:sp>
      <p:sp>
        <p:nvSpPr>
          <p:cNvPr id="21" name="Text 18"/>
          <p:cNvSpPr txBox="1"/>
          <p:nvPr/>
        </p:nvSpPr>
        <p:spPr>
          <a:xfrm>
            <a:off x="6636266" y="5060244"/>
            <a:ext cx="607299" cy="162607"/>
          </a:xfrm>
          <a:prstGeom prst="rect">
            <a:avLst/>
          </a:prstGeom>
          <a:noFill/>
          <a:ln/>
        </p:spPr>
        <p:txBody>
          <a:bodyPr wrap="none" lIns="0" tIns="0" rIns="0" bIns="0" rtlCol="0" anchor="t"/>
          <a:lstStyle/>
          <a:p>
            <a:pPr algn="ctr" indent="0" marL="0">
              <a:buNone/>
            </a:pPr>
            <a:r>
              <a:rPr lang="en-US" sz="985" dirty="0">
                <a:solidFill>
                  <a:schemeClr val="tx2"/>
                </a:solidFill>
                <a:latin typeface="Courier New" pitchFamily="34" charset="0"/>
                <a:ea typeface="Courier New" pitchFamily="34" charset="-122"/>
                <a:cs typeface="Courier New" pitchFamily="34" charset="-120"/>
              </a:rPr>
              <a:t>10</a:t>
            </a:r>
            <a:endParaRPr lang="en-US" sz="985" dirty="0"/>
          </a:p>
        </p:txBody>
      </p:sp>
      <p:sp>
        <p:nvSpPr>
          <p:cNvPr id="22" name="Text 19"/>
          <p:cNvSpPr txBox="1"/>
          <p:nvPr/>
        </p:nvSpPr>
        <p:spPr>
          <a:xfrm>
            <a:off x="8646517" y="5060244"/>
            <a:ext cx="607299" cy="162607"/>
          </a:xfrm>
          <a:prstGeom prst="rect">
            <a:avLst/>
          </a:prstGeom>
          <a:noFill/>
          <a:ln/>
        </p:spPr>
        <p:txBody>
          <a:bodyPr wrap="none" lIns="0" tIns="0" rIns="0" bIns="0" rtlCol="0" anchor="t"/>
          <a:lstStyle/>
          <a:p>
            <a:pPr algn="ctr" indent="0" marL="0">
              <a:buNone/>
            </a:pPr>
            <a:r>
              <a:rPr lang="en-US" sz="985" dirty="0">
                <a:solidFill>
                  <a:schemeClr val="tx2"/>
                </a:solidFill>
                <a:latin typeface="Courier New" pitchFamily="34" charset="0"/>
                <a:ea typeface="Courier New" pitchFamily="34" charset="-122"/>
                <a:cs typeface="Courier New" pitchFamily="34" charset="-120"/>
              </a:rPr>
              <a:t>15</a:t>
            </a:r>
            <a:endParaRPr lang="en-US" sz="985" dirty="0"/>
          </a:p>
        </p:txBody>
      </p:sp>
      <p:sp>
        <p:nvSpPr>
          <p:cNvPr id="23" name="Text 20"/>
          <p:cNvSpPr txBox="1"/>
          <p:nvPr/>
        </p:nvSpPr>
        <p:spPr>
          <a:xfrm>
            <a:off x="1241767" y="2401531"/>
            <a:ext cx="1498957" cy="232296"/>
          </a:xfrm>
          <a:prstGeom prst="rect">
            <a:avLst/>
          </a:prstGeom>
          <a:noFill/>
          <a:ln/>
        </p:spPr>
        <p:txBody>
          <a:bodyPr wrap="none" lIns="0" tIns="0" rIns="0" bIns="0" rtlCol="0" anchor="t"/>
          <a:lstStyle/>
          <a:p>
            <a:pPr algn="r" indent="0" marL="0">
              <a:buNone/>
            </a:pPr>
            <a:r>
              <a:rPr lang="en-US" sz="1407" b="1" dirty="0">
                <a:solidFill>
                  <a:schemeClr val="tx1"/>
                </a:solidFill>
                <a:latin typeface="Arial" pitchFamily="34" charset="0"/>
                <a:ea typeface="Arial" pitchFamily="34" charset="-122"/>
                <a:cs typeface="Arial" pitchFamily="34" charset="-120"/>
              </a:rPr>
              <a:t>Static site</a:t>
            </a:r>
            <a:endParaRPr lang="en-US" sz="1407" dirty="0"/>
          </a:p>
        </p:txBody>
      </p:sp>
      <p:sp>
        <p:nvSpPr>
          <p:cNvPr id="24" name="Shape 21"/>
          <p:cNvSpPr/>
          <p:nvPr/>
        </p:nvSpPr>
        <p:spPr>
          <a:xfrm>
            <a:off x="2919413" y="2317547"/>
            <a:ext cx="804101" cy="393116"/>
          </a:xfrm>
          <a:prstGeom prst="rect">
            <a:avLst/>
          </a:prstGeom>
          <a:solidFill>
            <a:schemeClr val="accent2"/>
          </a:solidFill>
          <a:ln w="9525">
            <a:solidFill>
              <a:schemeClr val="bg2"/>
            </a:solidFill>
            <a:prstDash val="solid"/>
          </a:ln>
        </p:spPr>
      </p:sp>
      <p:sp>
        <p:nvSpPr>
          <p:cNvPr id="25" name="Text 22"/>
          <p:cNvSpPr txBox="1"/>
          <p:nvPr/>
        </p:nvSpPr>
        <p:spPr>
          <a:xfrm>
            <a:off x="3049977" y="2434767"/>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2</a:t>
            </a:r>
            <a:endParaRPr lang="en-US" sz="1126" dirty="0"/>
          </a:p>
        </p:txBody>
      </p:sp>
      <p:sp>
        <p:nvSpPr>
          <p:cNvPr id="26" name="Shape 23"/>
          <p:cNvSpPr/>
          <p:nvPr/>
        </p:nvSpPr>
        <p:spPr>
          <a:xfrm>
            <a:off x="3723513" y="2317547"/>
            <a:ext cx="804101" cy="393116"/>
          </a:xfrm>
          <a:prstGeom prst="rect">
            <a:avLst/>
          </a:prstGeom>
          <a:solidFill>
            <a:schemeClr val="accent4"/>
          </a:solidFill>
          <a:ln w="9525">
            <a:solidFill>
              <a:schemeClr val="bg2"/>
            </a:solidFill>
            <a:prstDash val="solid"/>
          </a:ln>
        </p:spPr>
      </p:sp>
      <p:sp>
        <p:nvSpPr>
          <p:cNvPr id="27" name="Text 24"/>
          <p:cNvSpPr txBox="1"/>
          <p:nvPr/>
        </p:nvSpPr>
        <p:spPr>
          <a:xfrm>
            <a:off x="3854078" y="2434767"/>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2</a:t>
            </a:r>
            <a:endParaRPr lang="en-US" sz="1126" dirty="0"/>
          </a:p>
        </p:txBody>
      </p:sp>
      <p:sp>
        <p:nvSpPr>
          <p:cNvPr id="28" name="Shape 25"/>
          <p:cNvSpPr/>
          <p:nvPr/>
        </p:nvSpPr>
        <p:spPr>
          <a:xfrm>
            <a:off x="4527614" y="2317547"/>
            <a:ext cx="402050" cy="393116"/>
          </a:xfrm>
          <a:prstGeom prst="rect">
            <a:avLst/>
          </a:prstGeom>
          <a:solidFill>
            <a:schemeClr val="accent5"/>
          </a:solidFill>
          <a:ln w="9525">
            <a:solidFill>
              <a:schemeClr val="bg2"/>
            </a:solidFill>
            <a:prstDash val="solid"/>
          </a:ln>
        </p:spPr>
      </p:sp>
      <p:sp>
        <p:nvSpPr>
          <p:cNvPr id="29" name="Text 26"/>
          <p:cNvSpPr txBox="1"/>
          <p:nvPr/>
        </p:nvSpPr>
        <p:spPr>
          <a:xfrm>
            <a:off x="4452686" y="2434767"/>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1</a:t>
            </a:r>
            <a:endParaRPr lang="en-US" sz="1126" dirty="0"/>
          </a:p>
        </p:txBody>
      </p:sp>
      <p:sp>
        <p:nvSpPr>
          <p:cNvPr id="30" name="Text 27"/>
          <p:cNvSpPr txBox="1"/>
          <p:nvPr/>
        </p:nvSpPr>
        <p:spPr>
          <a:xfrm>
            <a:off x="5054746" y="2451385"/>
            <a:ext cx="532249" cy="162607"/>
          </a:xfrm>
          <a:prstGeom prst="rect">
            <a:avLst/>
          </a:prstGeom>
          <a:noFill/>
          <a:ln/>
        </p:spPr>
        <p:txBody>
          <a:bodyPr wrap="none" lIns="0" tIns="0" rIns="0" bIns="0" rtlCol="0" anchor="t"/>
          <a:lstStyle/>
          <a:p>
            <a:pPr algn="l" indent="0" marL="0">
              <a:buNone/>
            </a:pPr>
            <a:r>
              <a:rPr lang="en-US" sz="985" dirty="0">
                <a:solidFill>
                  <a:schemeClr val="tx2"/>
                </a:solidFill>
                <a:latin typeface="Courier New" pitchFamily="34" charset="0"/>
                <a:ea typeface="Courier New" pitchFamily="34" charset="-122"/>
                <a:cs typeface="Courier New" pitchFamily="34" charset="-120"/>
              </a:rPr>
              <a:t>5</a:t>
            </a:r>
            <a:endParaRPr lang="en-US" sz="985" dirty="0"/>
          </a:p>
        </p:txBody>
      </p:sp>
      <p:sp>
        <p:nvSpPr>
          <p:cNvPr id="31" name="Text 28"/>
          <p:cNvSpPr txBox="1"/>
          <p:nvPr/>
        </p:nvSpPr>
        <p:spPr>
          <a:xfrm>
            <a:off x="1715292" y="3080549"/>
            <a:ext cx="1025431" cy="232296"/>
          </a:xfrm>
          <a:prstGeom prst="rect">
            <a:avLst/>
          </a:prstGeom>
          <a:noFill/>
          <a:ln/>
        </p:spPr>
        <p:txBody>
          <a:bodyPr wrap="none" lIns="0" tIns="0" rIns="0" bIns="0" rtlCol="0" anchor="t"/>
          <a:lstStyle/>
          <a:p>
            <a:pPr algn="r" indent="0" marL="0">
              <a:buNone/>
            </a:pPr>
            <a:r>
              <a:rPr lang="en-US" sz="1407" b="1" dirty="0">
                <a:solidFill>
                  <a:schemeClr val="tx1"/>
                </a:solidFill>
                <a:latin typeface="Arial" pitchFamily="34" charset="0"/>
                <a:ea typeface="Arial" pitchFamily="34" charset="-122"/>
                <a:cs typeface="Arial" pitchFamily="34" charset="-120"/>
              </a:rPr>
              <a:t>Lambda</a:t>
            </a:r>
            <a:endParaRPr lang="en-US" sz="1407" dirty="0"/>
          </a:p>
        </p:txBody>
      </p:sp>
      <p:sp>
        <p:nvSpPr>
          <p:cNvPr id="32" name="Shape 29"/>
          <p:cNvSpPr/>
          <p:nvPr/>
        </p:nvSpPr>
        <p:spPr>
          <a:xfrm>
            <a:off x="2919413" y="2996565"/>
            <a:ext cx="1206151" cy="393116"/>
          </a:xfrm>
          <a:prstGeom prst="rect">
            <a:avLst/>
          </a:prstGeom>
          <a:solidFill>
            <a:schemeClr val="accent3"/>
          </a:solidFill>
          <a:ln w="9525">
            <a:solidFill>
              <a:schemeClr val="bg2"/>
            </a:solidFill>
            <a:prstDash val="solid"/>
          </a:ln>
        </p:spPr>
      </p:sp>
      <p:sp>
        <p:nvSpPr>
          <p:cNvPr id="33" name="Text 30"/>
          <p:cNvSpPr txBox="1"/>
          <p:nvPr/>
        </p:nvSpPr>
        <p:spPr>
          <a:xfrm>
            <a:off x="3246535" y="3113785"/>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3</a:t>
            </a:r>
            <a:endParaRPr lang="en-US" sz="1126" dirty="0"/>
          </a:p>
        </p:txBody>
      </p:sp>
      <p:sp>
        <p:nvSpPr>
          <p:cNvPr id="34" name="Shape 31"/>
          <p:cNvSpPr/>
          <p:nvPr/>
        </p:nvSpPr>
        <p:spPr>
          <a:xfrm>
            <a:off x="4125563" y="2996565"/>
            <a:ext cx="402050" cy="393116"/>
          </a:xfrm>
          <a:prstGeom prst="rect">
            <a:avLst/>
          </a:prstGeom>
          <a:solidFill>
            <a:schemeClr val="accent4"/>
          </a:solidFill>
          <a:ln w="9525">
            <a:solidFill>
              <a:schemeClr val="bg2"/>
            </a:solidFill>
            <a:prstDash val="solid"/>
          </a:ln>
        </p:spPr>
      </p:sp>
      <p:sp>
        <p:nvSpPr>
          <p:cNvPr id="35" name="Text 32"/>
          <p:cNvSpPr txBox="1"/>
          <p:nvPr/>
        </p:nvSpPr>
        <p:spPr>
          <a:xfrm>
            <a:off x="4050636" y="3113785"/>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1</a:t>
            </a:r>
            <a:endParaRPr lang="en-US" sz="1126" dirty="0"/>
          </a:p>
        </p:txBody>
      </p:sp>
      <p:sp>
        <p:nvSpPr>
          <p:cNvPr id="36" name="Shape 33"/>
          <p:cNvSpPr/>
          <p:nvPr/>
        </p:nvSpPr>
        <p:spPr>
          <a:xfrm>
            <a:off x="4527614" y="2996565"/>
            <a:ext cx="2010251" cy="393116"/>
          </a:xfrm>
          <a:prstGeom prst="rect">
            <a:avLst/>
          </a:prstGeom>
          <a:solidFill>
            <a:schemeClr val="accent5"/>
          </a:solidFill>
          <a:ln w="9525">
            <a:solidFill>
              <a:schemeClr val="bg2"/>
            </a:solidFill>
            <a:prstDash val="solid"/>
          </a:ln>
        </p:spPr>
      </p:sp>
      <p:sp>
        <p:nvSpPr>
          <p:cNvPr id="37" name="Text 34"/>
          <p:cNvSpPr txBox="1"/>
          <p:nvPr/>
        </p:nvSpPr>
        <p:spPr>
          <a:xfrm>
            <a:off x="5256787" y="3113785"/>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5</a:t>
            </a:r>
            <a:endParaRPr lang="en-US" sz="1126" dirty="0"/>
          </a:p>
        </p:txBody>
      </p:sp>
      <p:sp>
        <p:nvSpPr>
          <p:cNvPr id="38" name="Text 35"/>
          <p:cNvSpPr txBox="1"/>
          <p:nvPr/>
        </p:nvSpPr>
        <p:spPr>
          <a:xfrm>
            <a:off x="6662947" y="3130403"/>
            <a:ext cx="532249" cy="162607"/>
          </a:xfrm>
          <a:prstGeom prst="rect">
            <a:avLst/>
          </a:prstGeom>
          <a:noFill/>
          <a:ln/>
        </p:spPr>
        <p:txBody>
          <a:bodyPr wrap="none" lIns="0" tIns="0" rIns="0" bIns="0" rtlCol="0" anchor="t"/>
          <a:lstStyle/>
          <a:p>
            <a:pPr algn="l" indent="0" marL="0">
              <a:buNone/>
            </a:pPr>
            <a:r>
              <a:rPr lang="en-US" sz="985" dirty="0">
                <a:solidFill>
                  <a:schemeClr val="tx2"/>
                </a:solidFill>
                <a:latin typeface="Courier New" pitchFamily="34" charset="0"/>
                <a:ea typeface="Courier New" pitchFamily="34" charset="-122"/>
                <a:cs typeface="Courier New" pitchFamily="34" charset="-120"/>
              </a:rPr>
              <a:t>9</a:t>
            </a:r>
            <a:endParaRPr lang="en-US" sz="985" dirty="0"/>
          </a:p>
        </p:txBody>
      </p:sp>
      <p:sp>
        <p:nvSpPr>
          <p:cNvPr id="39" name="Text 36"/>
          <p:cNvSpPr txBox="1"/>
          <p:nvPr/>
        </p:nvSpPr>
        <p:spPr>
          <a:xfrm>
            <a:off x="1809998" y="3759567"/>
            <a:ext cx="930726" cy="232296"/>
          </a:xfrm>
          <a:prstGeom prst="rect">
            <a:avLst/>
          </a:prstGeom>
          <a:noFill/>
          <a:ln/>
        </p:spPr>
        <p:txBody>
          <a:bodyPr wrap="none" lIns="0" tIns="0" rIns="0" bIns="0" rtlCol="0" anchor="t"/>
          <a:lstStyle/>
          <a:p>
            <a:pPr algn="r" indent="0" marL="0">
              <a:buNone/>
            </a:pPr>
            <a:r>
              <a:rPr lang="en-US" sz="1407" b="1" dirty="0">
                <a:solidFill>
                  <a:schemeClr val="tx1"/>
                </a:solidFill>
                <a:latin typeface="Arial" pitchFamily="34" charset="0"/>
                <a:ea typeface="Arial" pitchFamily="34" charset="-122"/>
                <a:cs typeface="Arial" pitchFamily="34" charset="-120"/>
              </a:rPr>
              <a:t>Rails</a:t>
            </a:r>
            <a:endParaRPr lang="en-US" sz="1407" dirty="0"/>
          </a:p>
        </p:txBody>
      </p:sp>
      <p:sp>
        <p:nvSpPr>
          <p:cNvPr id="40" name="Shape 37"/>
          <p:cNvSpPr/>
          <p:nvPr/>
        </p:nvSpPr>
        <p:spPr>
          <a:xfrm>
            <a:off x="2919413" y="3675583"/>
            <a:ext cx="3618452" cy="393116"/>
          </a:xfrm>
          <a:prstGeom prst="rect">
            <a:avLst/>
          </a:prstGeom>
          <a:solidFill>
            <a:schemeClr val="accent1"/>
          </a:solidFill>
          <a:ln w="9525">
            <a:solidFill>
              <a:schemeClr val="bg2"/>
            </a:solidFill>
            <a:prstDash val="solid"/>
          </a:ln>
        </p:spPr>
      </p:sp>
      <p:sp>
        <p:nvSpPr>
          <p:cNvPr id="41" name="Text 38"/>
          <p:cNvSpPr txBox="1"/>
          <p:nvPr/>
        </p:nvSpPr>
        <p:spPr>
          <a:xfrm>
            <a:off x="4452686" y="3792803"/>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9</a:t>
            </a:r>
            <a:endParaRPr lang="en-US" sz="1126" dirty="0"/>
          </a:p>
        </p:txBody>
      </p:sp>
      <p:sp>
        <p:nvSpPr>
          <p:cNvPr id="42" name="Shape 39"/>
          <p:cNvSpPr/>
          <p:nvPr/>
        </p:nvSpPr>
        <p:spPr>
          <a:xfrm>
            <a:off x="6537865" y="3675583"/>
            <a:ext cx="804101" cy="393116"/>
          </a:xfrm>
          <a:prstGeom prst="rect">
            <a:avLst/>
          </a:prstGeom>
          <a:solidFill>
            <a:schemeClr val="accent3"/>
          </a:solidFill>
          <a:ln w="9525">
            <a:solidFill>
              <a:schemeClr val="bg2"/>
            </a:solidFill>
            <a:prstDash val="solid"/>
          </a:ln>
        </p:spPr>
      </p:sp>
      <p:sp>
        <p:nvSpPr>
          <p:cNvPr id="43" name="Text 40"/>
          <p:cNvSpPr txBox="1"/>
          <p:nvPr/>
        </p:nvSpPr>
        <p:spPr>
          <a:xfrm>
            <a:off x="6668430" y="3792803"/>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2</a:t>
            </a:r>
            <a:endParaRPr lang="en-US" sz="1126" dirty="0"/>
          </a:p>
        </p:txBody>
      </p:sp>
      <p:sp>
        <p:nvSpPr>
          <p:cNvPr id="44" name="Shape 41"/>
          <p:cNvSpPr/>
          <p:nvPr/>
        </p:nvSpPr>
        <p:spPr>
          <a:xfrm>
            <a:off x="7341965" y="3675583"/>
            <a:ext cx="2010251" cy="393116"/>
          </a:xfrm>
          <a:prstGeom prst="rect">
            <a:avLst/>
          </a:prstGeom>
          <a:solidFill>
            <a:schemeClr val="accent4"/>
          </a:solidFill>
          <a:ln w="9525">
            <a:solidFill>
              <a:schemeClr val="bg2"/>
            </a:solidFill>
            <a:prstDash val="solid"/>
          </a:ln>
        </p:spPr>
      </p:sp>
      <p:sp>
        <p:nvSpPr>
          <p:cNvPr id="45" name="Text 42"/>
          <p:cNvSpPr txBox="1"/>
          <p:nvPr/>
        </p:nvSpPr>
        <p:spPr>
          <a:xfrm>
            <a:off x="8071138" y="3792803"/>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5</a:t>
            </a:r>
            <a:endParaRPr lang="en-US" sz="1126" dirty="0"/>
          </a:p>
        </p:txBody>
      </p:sp>
      <p:sp>
        <p:nvSpPr>
          <p:cNvPr id="46" name="Shape 43"/>
          <p:cNvSpPr/>
          <p:nvPr/>
        </p:nvSpPr>
        <p:spPr>
          <a:xfrm>
            <a:off x="9352217" y="3675583"/>
            <a:ext cx="1206151" cy="393116"/>
          </a:xfrm>
          <a:prstGeom prst="rect">
            <a:avLst/>
          </a:prstGeom>
          <a:solidFill>
            <a:schemeClr val="accent5"/>
          </a:solidFill>
          <a:ln w="9525">
            <a:solidFill>
              <a:schemeClr val="bg2"/>
            </a:solidFill>
            <a:prstDash val="solid"/>
          </a:ln>
        </p:spPr>
      </p:sp>
      <p:sp>
        <p:nvSpPr>
          <p:cNvPr id="47" name="Text 44"/>
          <p:cNvSpPr txBox="1"/>
          <p:nvPr/>
        </p:nvSpPr>
        <p:spPr>
          <a:xfrm>
            <a:off x="9679339" y="3792803"/>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3</a:t>
            </a:r>
            <a:endParaRPr lang="en-US" sz="1126" dirty="0"/>
          </a:p>
        </p:txBody>
      </p:sp>
      <p:sp>
        <p:nvSpPr>
          <p:cNvPr id="48" name="Text 45"/>
          <p:cNvSpPr txBox="1"/>
          <p:nvPr/>
        </p:nvSpPr>
        <p:spPr>
          <a:xfrm>
            <a:off x="10683450" y="3809421"/>
            <a:ext cx="607299" cy="162607"/>
          </a:xfrm>
          <a:prstGeom prst="rect">
            <a:avLst/>
          </a:prstGeom>
          <a:noFill/>
          <a:ln/>
        </p:spPr>
        <p:txBody>
          <a:bodyPr wrap="none" lIns="0" tIns="0" rIns="0" bIns="0" rtlCol="0" anchor="t"/>
          <a:lstStyle/>
          <a:p>
            <a:pPr algn="l" indent="0" marL="0">
              <a:buNone/>
            </a:pPr>
            <a:r>
              <a:rPr lang="en-US" sz="985" dirty="0">
                <a:solidFill>
                  <a:schemeClr val="tx2"/>
                </a:solidFill>
                <a:latin typeface="Courier New" pitchFamily="34" charset="0"/>
                <a:ea typeface="Courier New" pitchFamily="34" charset="-122"/>
                <a:cs typeface="Courier New" pitchFamily="34" charset="-120"/>
              </a:rPr>
              <a:t>19</a:t>
            </a:r>
            <a:endParaRPr lang="en-US" sz="985" dirty="0"/>
          </a:p>
        </p:txBody>
      </p:sp>
      <p:sp>
        <p:nvSpPr>
          <p:cNvPr id="49" name="Text 46"/>
          <p:cNvSpPr txBox="1"/>
          <p:nvPr/>
        </p:nvSpPr>
        <p:spPr>
          <a:xfrm>
            <a:off x="957651" y="4438585"/>
            <a:ext cx="1783072" cy="232296"/>
          </a:xfrm>
          <a:prstGeom prst="rect">
            <a:avLst/>
          </a:prstGeom>
          <a:noFill/>
          <a:ln/>
        </p:spPr>
        <p:txBody>
          <a:bodyPr wrap="none" lIns="0" tIns="0" rIns="0" bIns="0" rtlCol="0" anchor="t"/>
          <a:lstStyle/>
          <a:p>
            <a:pPr algn="r" indent="0" marL="0">
              <a:buNone/>
            </a:pPr>
            <a:r>
              <a:rPr lang="en-US" sz="1407" b="1" dirty="0">
                <a:solidFill>
                  <a:schemeClr val="tx1"/>
                </a:solidFill>
                <a:latin typeface="Arial" pitchFamily="34" charset="0"/>
                <a:ea typeface="Arial" pitchFamily="34" charset="-122"/>
                <a:cs typeface="Arial" pitchFamily="34" charset="-120"/>
              </a:rPr>
              <a:t>TanStack Start</a:t>
            </a:r>
            <a:endParaRPr lang="en-US" sz="1407" dirty="0"/>
          </a:p>
        </p:txBody>
      </p:sp>
      <p:sp>
        <p:nvSpPr>
          <p:cNvPr id="50" name="Shape 47"/>
          <p:cNvSpPr/>
          <p:nvPr/>
        </p:nvSpPr>
        <p:spPr>
          <a:xfrm>
            <a:off x="2919413" y="4354601"/>
            <a:ext cx="804101" cy="393116"/>
          </a:xfrm>
          <a:prstGeom prst="rect">
            <a:avLst/>
          </a:prstGeom>
          <a:solidFill>
            <a:schemeClr val="accent2"/>
          </a:solidFill>
          <a:ln w="9525">
            <a:solidFill>
              <a:schemeClr val="bg2"/>
            </a:solidFill>
            <a:prstDash val="solid"/>
          </a:ln>
        </p:spPr>
      </p:sp>
      <p:sp>
        <p:nvSpPr>
          <p:cNvPr id="51" name="Text 48"/>
          <p:cNvSpPr txBox="1"/>
          <p:nvPr/>
        </p:nvSpPr>
        <p:spPr>
          <a:xfrm>
            <a:off x="3049977" y="4471821"/>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2</a:t>
            </a:r>
            <a:endParaRPr lang="en-US" sz="1126" dirty="0"/>
          </a:p>
        </p:txBody>
      </p:sp>
      <p:sp>
        <p:nvSpPr>
          <p:cNvPr id="52" name="Shape 49"/>
          <p:cNvSpPr/>
          <p:nvPr/>
        </p:nvSpPr>
        <p:spPr>
          <a:xfrm>
            <a:off x="3723513" y="4354601"/>
            <a:ext cx="1206151" cy="393116"/>
          </a:xfrm>
          <a:prstGeom prst="rect">
            <a:avLst/>
          </a:prstGeom>
          <a:solidFill>
            <a:schemeClr val="accent3"/>
          </a:solidFill>
          <a:ln w="9525">
            <a:solidFill>
              <a:schemeClr val="bg2"/>
            </a:solidFill>
            <a:prstDash val="solid"/>
          </a:ln>
        </p:spPr>
      </p:sp>
      <p:sp>
        <p:nvSpPr>
          <p:cNvPr id="53" name="Text 50"/>
          <p:cNvSpPr txBox="1"/>
          <p:nvPr/>
        </p:nvSpPr>
        <p:spPr>
          <a:xfrm>
            <a:off x="4050636" y="4471821"/>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3</a:t>
            </a:r>
            <a:endParaRPr lang="en-US" sz="1126" dirty="0"/>
          </a:p>
        </p:txBody>
      </p:sp>
      <p:sp>
        <p:nvSpPr>
          <p:cNvPr id="54" name="Shape 51"/>
          <p:cNvSpPr/>
          <p:nvPr/>
        </p:nvSpPr>
        <p:spPr>
          <a:xfrm>
            <a:off x="4929664" y="4354601"/>
            <a:ext cx="2010251" cy="393116"/>
          </a:xfrm>
          <a:prstGeom prst="rect">
            <a:avLst/>
          </a:prstGeom>
          <a:solidFill>
            <a:schemeClr val="accent4"/>
          </a:solidFill>
          <a:ln w="9525">
            <a:solidFill>
              <a:schemeClr val="bg2"/>
            </a:solidFill>
            <a:prstDash val="solid"/>
          </a:ln>
        </p:spPr>
      </p:sp>
      <p:sp>
        <p:nvSpPr>
          <p:cNvPr id="55" name="Text 52"/>
          <p:cNvSpPr txBox="1"/>
          <p:nvPr/>
        </p:nvSpPr>
        <p:spPr>
          <a:xfrm>
            <a:off x="5658837" y="4471821"/>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5</a:t>
            </a:r>
            <a:endParaRPr lang="en-US" sz="1126" dirty="0"/>
          </a:p>
        </p:txBody>
      </p:sp>
      <p:sp>
        <p:nvSpPr>
          <p:cNvPr id="56" name="Shape 53"/>
          <p:cNvSpPr/>
          <p:nvPr/>
        </p:nvSpPr>
        <p:spPr>
          <a:xfrm>
            <a:off x="6939915" y="4354601"/>
            <a:ext cx="2010251" cy="393116"/>
          </a:xfrm>
          <a:prstGeom prst="rect">
            <a:avLst/>
          </a:prstGeom>
          <a:solidFill>
            <a:schemeClr val="accent5"/>
          </a:solidFill>
          <a:ln w="9525">
            <a:solidFill>
              <a:schemeClr val="bg2"/>
            </a:solidFill>
            <a:prstDash val="solid"/>
          </a:ln>
        </p:spPr>
      </p:sp>
      <p:sp>
        <p:nvSpPr>
          <p:cNvPr id="57" name="Text 54"/>
          <p:cNvSpPr txBox="1"/>
          <p:nvPr/>
        </p:nvSpPr>
        <p:spPr>
          <a:xfrm>
            <a:off x="7669088" y="4471821"/>
            <a:ext cx="542971" cy="185837"/>
          </a:xfrm>
          <a:prstGeom prst="rect">
            <a:avLst/>
          </a:prstGeom>
          <a:noFill/>
          <a:ln/>
        </p:spPr>
        <p:txBody>
          <a:bodyPr wrap="none" lIns="0" tIns="0" rIns="0" bIns="0" rtlCol="0" anchor="t"/>
          <a:lstStyle/>
          <a:p>
            <a:pPr algn="ctr" indent="0" marL="0">
              <a:buNone/>
            </a:pPr>
            <a:r>
              <a:rPr lang="en-US" sz="1126" b="1" dirty="0">
                <a:solidFill>
                  <a:schemeClr val="bg2"/>
                </a:solidFill>
                <a:latin typeface="Courier New" pitchFamily="34" charset="0"/>
                <a:ea typeface="Courier New" pitchFamily="34" charset="-122"/>
                <a:cs typeface="Courier New" pitchFamily="34" charset="-120"/>
              </a:rPr>
              <a:t>5</a:t>
            </a:r>
            <a:endParaRPr lang="en-US" sz="1126" dirty="0"/>
          </a:p>
        </p:txBody>
      </p:sp>
      <p:sp>
        <p:nvSpPr>
          <p:cNvPr id="58" name="Text 55"/>
          <p:cNvSpPr txBox="1"/>
          <p:nvPr/>
        </p:nvSpPr>
        <p:spPr>
          <a:xfrm>
            <a:off x="9075249" y="4488439"/>
            <a:ext cx="607299" cy="162607"/>
          </a:xfrm>
          <a:prstGeom prst="rect">
            <a:avLst/>
          </a:prstGeom>
          <a:noFill/>
          <a:ln/>
        </p:spPr>
        <p:txBody>
          <a:bodyPr wrap="none" lIns="0" tIns="0" rIns="0" bIns="0" rtlCol="0" anchor="t"/>
          <a:lstStyle/>
          <a:p>
            <a:pPr algn="l" indent="0" marL="0">
              <a:buNone/>
            </a:pPr>
            <a:r>
              <a:rPr lang="en-US" sz="985" dirty="0">
                <a:solidFill>
                  <a:schemeClr val="tx2"/>
                </a:solidFill>
                <a:latin typeface="Courier New" pitchFamily="34" charset="0"/>
                <a:ea typeface="Courier New" pitchFamily="34" charset="-122"/>
                <a:cs typeface="Courier New" pitchFamily="34" charset="-120"/>
              </a:rPr>
              <a:t>15</a:t>
            </a:r>
            <a:endParaRPr lang="en-US" sz="985" dirty="0"/>
          </a:p>
        </p:txBody>
      </p:sp>
      <p:sp>
        <p:nvSpPr>
          <p:cNvPr id="59" name="Text 56"/>
          <p:cNvSpPr txBox="1"/>
          <p:nvPr/>
        </p:nvSpPr>
        <p:spPr>
          <a:xfrm>
            <a:off x="5555197" y="5391444"/>
            <a:ext cx="2322713" cy="174222"/>
          </a:xfrm>
          <a:prstGeom prst="rect">
            <a:avLst/>
          </a:prstGeom>
          <a:noFill/>
          <a:ln/>
        </p:spPr>
        <p:txBody>
          <a:bodyPr wrap="none" lIns="0" tIns="0" rIns="0" bIns="0" rtlCol="0" anchor="t"/>
          <a:lstStyle/>
          <a:p>
            <a:pPr algn="ctr" indent="0" marL="0">
              <a:buNone/>
            </a:pPr>
            <a:r>
              <a:rPr lang="en-US" sz="1055" dirty="0">
                <a:solidFill>
                  <a:schemeClr val="tx2"/>
                </a:solidFill>
                <a:latin typeface="Arial" pitchFamily="34" charset="0"/>
                <a:ea typeface="Arial" pitchFamily="34" charset="-122"/>
                <a:cs typeface="Arial" pitchFamily="34" charset="-120"/>
              </a:rPr>
              <a:t>Number of Terraform resources</a:t>
            </a:r>
            <a:endParaRPr lang="en-US" sz="1055" dirty="0"/>
          </a:p>
        </p:txBody>
      </p:sp>
      <p:sp>
        <p:nvSpPr>
          <p:cNvPr id="60" name="Caption"/>
          <p:cNvSpPr txBox="1"/>
          <p:nvPr/>
        </p:nvSpPr>
        <p:spPr>
          <a:xfrm>
            <a:off x="685800" y="5814060"/>
            <a:ext cx="10058400" cy="43434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Numbers inside each color count that category; the number at the end is the total. Only the Rails demo defines a VPC and subnets.</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SIDE BY SIDE</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Four stacks</a:t>
            </a:r>
            <a:endParaRPr lang="en-US" sz="3600" dirty="0"/>
          </a:p>
        </p:txBody>
      </p:sp>
      <p:graphicFrame>
        <p:nvGraphicFramePr>
          <p:cNvPr id="42" name="Table"/>
          <p:cNvGraphicFramePr>
            <a:graphicFrameLocks noGrp="1"/>
          </p:cNvGraphicFramePr>
          <p:nvPr>
            <p:extLst>
              <p:ext uri="{D42A27DB-BD31-4B8C-83A1-F6EECF244321}">
                <p14:modId xmlns:p14="http://schemas.microsoft.com/office/powerpoint/2010/main" val="1579011935"/>
              </p:ext>
            </p:extLst>
          </p:nvPr>
        </p:nvGraphicFramePr>
        <p:xfrm>
          <a:off x="685800" y="1645920"/>
          <a:ext cx="10820400" cy="914400"/>
        </p:xfrm>
        <a:graphic>
          <a:graphicData uri="http://schemas.openxmlformats.org/drawingml/2006/table">
            <a:tbl>
              <a:tblPr/>
              <a:tblGrid>
                <a:gridCol w="1426464"/>
                <a:gridCol w="1878787"/>
                <a:gridCol w="3170453"/>
                <a:gridCol w="1761363"/>
                <a:gridCol w="2583332"/>
              </a:tblGrid>
              <a:tr h="361188">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 </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STATIC SITE</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FUNCTION API</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SERVER APP</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FULL-STACK</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4297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RESOURCES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5</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9</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19</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15</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4297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MOSTLY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CDN + one policy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IAM</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Network</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Stacks 1 + 2, joined</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4297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DEPLOY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aws s3 sync</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none: apply uploads the zip</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Kamal, ~10s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vite build</a:t>
                      </a:r>
                      <a:pPr indent="0" marL="0">
                        <a:buNone/>
                      </a:pPr>
                      <a:r>
                        <a:rPr lang="en-US" sz="1500" dirty="0">
                          <a:solidFill>
                            <a:schemeClr val="tx1"/>
                          </a:solidFill>
                          <a:latin typeface="Arial" pitchFamily="34" charset="0"/>
                          <a:ea typeface="Arial" pitchFamily="34" charset="-122"/>
                          <a:cs typeface="Arial" pitchFamily="34" charset="-120"/>
                        </a:rPr>
                        <a:t>, then apply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4297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LOCAL SETUP TIME</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50s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31s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~4 min</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52s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4297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CAN'T TEST HERE</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Bucket policy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Least privilege</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Security groups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POST through the CDN</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POINTING A NAME AT YOUR APP</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 records and CNAMEs</a:t>
            </a:r>
            <a:endParaRPr lang="en-US" sz="3600" dirty="0"/>
          </a:p>
        </p:txBody>
      </p:sp>
      <p:sp>
        <p:nvSpPr>
          <p:cNvPr id="5" name="Text 2"/>
          <p:cNvSpPr txBox="1"/>
          <p:nvPr/>
        </p:nvSpPr>
        <p:spPr>
          <a:xfrm>
            <a:off x="685800" y="1684496"/>
            <a:ext cx="169164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the name you typed</a:t>
            </a:r>
            <a:endParaRPr lang="en-US" sz="1125" dirty="0"/>
          </a:p>
        </p:txBody>
      </p:sp>
      <p:sp>
        <p:nvSpPr>
          <p:cNvPr id="6" name="Text 3"/>
          <p:cNvSpPr txBox="1"/>
          <p:nvPr/>
        </p:nvSpPr>
        <p:spPr>
          <a:xfrm>
            <a:off x="8305800" y="1684496"/>
            <a:ext cx="155448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where it ends up</a:t>
            </a:r>
            <a:endParaRPr lang="en-US" sz="1125" dirty="0"/>
          </a:p>
        </p:txBody>
      </p:sp>
      <p:sp>
        <p:nvSpPr>
          <p:cNvPr id="7" name="Shape 4"/>
          <p:cNvSpPr/>
          <p:nvPr/>
        </p:nvSpPr>
        <p:spPr>
          <a:xfrm>
            <a:off x="685800" y="2065020"/>
            <a:ext cx="2857500" cy="857250"/>
          </a:xfrm>
          <a:prstGeom prst="roundRect">
            <a:avLst>
              <a:gd name="adj" fmla="val 6667"/>
            </a:avLst>
          </a:prstGeom>
          <a:solidFill>
            <a:schemeClr val="accent2">
              <a:alpha val="10000"/>
            </a:schemeClr>
          </a:solidFill>
          <a:ln w="19050">
            <a:solidFill>
              <a:schemeClr val="accent2"/>
            </a:solidFill>
            <a:prstDash val="solid"/>
          </a:ln>
        </p:spPr>
      </p:sp>
      <p:sp>
        <p:nvSpPr>
          <p:cNvPr id="8" name="Text 5"/>
          <p:cNvSpPr txBox="1"/>
          <p:nvPr/>
        </p:nvSpPr>
        <p:spPr>
          <a:xfrm>
            <a:off x="1128713" y="2287905"/>
            <a:ext cx="197167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app.yourapp.com</a:t>
            </a:r>
            <a:endParaRPr lang="en-US" sz="1500" dirty="0"/>
          </a:p>
        </p:txBody>
      </p:sp>
      <p:sp>
        <p:nvSpPr>
          <p:cNvPr id="9" name="Text 6"/>
          <p:cNvSpPr txBox="1"/>
          <p:nvPr/>
        </p:nvSpPr>
        <p:spPr>
          <a:xfrm>
            <a:off x="1680210" y="2579846"/>
            <a:ext cx="8686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 name</a:t>
            </a:r>
            <a:endParaRPr lang="en-US" sz="1125" dirty="0"/>
          </a:p>
        </p:txBody>
      </p:sp>
      <p:sp>
        <p:nvSpPr>
          <p:cNvPr id="10" name="Shape 7"/>
          <p:cNvSpPr/>
          <p:nvPr/>
        </p:nvSpPr>
        <p:spPr>
          <a:xfrm>
            <a:off x="3543300" y="2493645"/>
            <a:ext cx="4724400" cy="0"/>
          </a:xfrm>
          <a:prstGeom prst="line">
            <a:avLst/>
          </a:prstGeom>
          <a:noFill/>
          <a:ln w="19050">
            <a:solidFill>
              <a:schemeClr val="tx1"/>
            </a:solidFill>
            <a:prstDash val="solid"/>
            <a:tailEnd type="triangle"/>
          </a:ln>
        </p:spPr>
      </p:sp>
      <p:sp>
        <p:nvSpPr>
          <p:cNvPr id="11" name="Text 8"/>
          <p:cNvSpPr txBox="1"/>
          <p:nvPr/>
        </p:nvSpPr>
        <p:spPr>
          <a:xfrm>
            <a:off x="4716780" y="2245805"/>
            <a:ext cx="237744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A record: name → address</a:t>
            </a:r>
            <a:endParaRPr lang="en-US" sz="1050" dirty="0"/>
          </a:p>
        </p:txBody>
      </p:sp>
      <p:sp>
        <p:nvSpPr>
          <p:cNvPr id="12" name="Shape 9"/>
          <p:cNvSpPr/>
          <p:nvPr/>
        </p:nvSpPr>
        <p:spPr>
          <a:xfrm>
            <a:off x="8305800" y="2065020"/>
            <a:ext cx="3200400" cy="857250"/>
          </a:xfrm>
          <a:prstGeom prst="roundRect">
            <a:avLst>
              <a:gd name="adj" fmla="val 6667"/>
            </a:avLst>
          </a:prstGeom>
          <a:solidFill>
            <a:schemeClr val="accent3">
              <a:alpha val="10000"/>
            </a:schemeClr>
          </a:solidFill>
          <a:ln w="19050">
            <a:solidFill>
              <a:schemeClr val="accent3"/>
            </a:solidFill>
            <a:prstDash val="solid"/>
          </a:ln>
        </p:spPr>
      </p:sp>
      <p:sp>
        <p:nvSpPr>
          <p:cNvPr id="13" name="Text 10"/>
          <p:cNvSpPr txBox="1"/>
          <p:nvPr/>
        </p:nvSpPr>
        <p:spPr>
          <a:xfrm>
            <a:off x="9071610" y="2287905"/>
            <a:ext cx="166878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203.0.113.10</a:t>
            </a:r>
            <a:endParaRPr lang="en-US" sz="1500" dirty="0"/>
          </a:p>
        </p:txBody>
      </p:sp>
      <p:sp>
        <p:nvSpPr>
          <p:cNvPr id="14" name="Text 11"/>
          <p:cNvSpPr txBox="1"/>
          <p:nvPr/>
        </p:nvSpPr>
        <p:spPr>
          <a:xfrm>
            <a:off x="9025890" y="2579846"/>
            <a:ext cx="176022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your host · stack 3</a:t>
            </a:r>
            <a:endParaRPr lang="en-US" sz="1125" dirty="0"/>
          </a:p>
        </p:txBody>
      </p:sp>
      <p:sp>
        <p:nvSpPr>
          <p:cNvPr id="15" name="Shape 12"/>
          <p:cNvSpPr/>
          <p:nvPr/>
        </p:nvSpPr>
        <p:spPr>
          <a:xfrm>
            <a:off x="685800" y="3684270"/>
            <a:ext cx="2857500" cy="857250"/>
          </a:xfrm>
          <a:prstGeom prst="roundRect">
            <a:avLst>
              <a:gd name="adj" fmla="val 6667"/>
            </a:avLst>
          </a:prstGeom>
          <a:solidFill>
            <a:schemeClr val="accent2">
              <a:alpha val="10000"/>
            </a:schemeClr>
          </a:solidFill>
          <a:ln w="19050">
            <a:solidFill>
              <a:schemeClr val="accent2"/>
            </a:solidFill>
            <a:prstDash val="solid"/>
          </a:ln>
        </p:spPr>
      </p:sp>
      <p:sp>
        <p:nvSpPr>
          <p:cNvPr id="16" name="Text 13"/>
          <p:cNvSpPr txBox="1"/>
          <p:nvPr/>
        </p:nvSpPr>
        <p:spPr>
          <a:xfrm>
            <a:off x="1128713" y="3907155"/>
            <a:ext cx="197167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www.yourapp.com</a:t>
            </a:r>
            <a:endParaRPr lang="en-US" sz="1500" dirty="0"/>
          </a:p>
        </p:txBody>
      </p:sp>
      <p:sp>
        <p:nvSpPr>
          <p:cNvPr id="17" name="Text 14"/>
          <p:cNvSpPr txBox="1"/>
          <p:nvPr/>
        </p:nvSpPr>
        <p:spPr>
          <a:xfrm>
            <a:off x="1680210" y="4199096"/>
            <a:ext cx="8686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 name</a:t>
            </a:r>
            <a:endParaRPr lang="en-US" sz="1125" dirty="0"/>
          </a:p>
        </p:txBody>
      </p:sp>
      <p:sp>
        <p:nvSpPr>
          <p:cNvPr id="18" name="Shape 15"/>
          <p:cNvSpPr/>
          <p:nvPr/>
        </p:nvSpPr>
        <p:spPr>
          <a:xfrm>
            <a:off x="3543300" y="4112895"/>
            <a:ext cx="723900" cy="0"/>
          </a:xfrm>
          <a:prstGeom prst="line">
            <a:avLst/>
          </a:prstGeom>
          <a:noFill/>
          <a:ln w="19050">
            <a:solidFill>
              <a:schemeClr val="tx1"/>
            </a:solidFill>
            <a:prstDash val="solid"/>
            <a:tailEnd type="triangle"/>
          </a:ln>
        </p:spPr>
      </p:sp>
      <p:sp>
        <p:nvSpPr>
          <p:cNvPr id="19" name="Text 16"/>
          <p:cNvSpPr txBox="1"/>
          <p:nvPr/>
        </p:nvSpPr>
        <p:spPr>
          <a:xfrm>
            <a:off x="3476625" y="3865054"/>
            <a:ext cx="85725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CNAME</a:t>
            </a:r>
            <a:endParaRPr lang="en-US" sz="1050" dirty="0"/>
          </a:p>
        </p:txBody>
      </p:sp>
      <p:sp>
        <p:nvSpPr>
          <p:cNvPr id="20" name="Shape 17"/>
          <p:cNvSpPr/>
          <p:nvPr/>
        </p:nvSpPr>
        <p:spPr>
          <a:xfrm>
            <a:off x="4305300" y="3684270"/>
            <a:ext cx="3238500" cy="857250"/>
          </a:xfrm>
          <a:prstGeom prst="roundRect">
            <a:avLst>
              <a:gd name="adj" fmla="val 6667"/>
            </a:avLst>
          </a:prstGeom>
          <a:solidFill>
            <a:schemeClr val="accent2">
              <a:alpha val="10000"/>
            </a:schemeClr>
          </a:solidFill>
          <a:ln w="19050">
            <a:solidFill>
              <a:schemeClr val="accent2"/>
            </a:solidFill>
            <a:prstDash val="solid"/>
          </a:ln>
        </p:spPr>
      </p:sp>
      <p:sp>
        <p:nvSpPr>
          <p:cNvPr id="21" name="Text 18"/>
          <p:cNvSpPr txBox="1"/>
          <p:nvPr/>
        </p:nvSpPr>
        <p:spPr>
          <a:xfrm>
            <a:off x="4383405" y="3907155"/>
            <a:ext cx="308229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d111abcdef8.cloudfront.net</a:t>
            </a:r>
            <a:endParaRPr lang="en-US" sz="1500" dirty="0"/>
          </a:p>
        </p:txBody>
      </p:sp>
      <p:sp>
        <p:nvSpPr>
          <p:cNvPr id="22" name="Text 19"/>
          <p:cNvSpPr txBox="1"/>
          <p:nvPr/>
        </p:nvSpPr>
        <p:spPr>
          <a:xfrm>
            <a:off x="4667250" y="4199096"/>
            <a:ext cx="251460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another name: look it up again</a:t>
            </a:r>
            <a:endParaRPr lang="en-US" sz="1125" dirty="0"/>
          </a:p>
        </p:txBody>
      </p:sp>
      <p:sp>
        <p:nvSpPr>
          <p:cNvPr id="23" name="Shape 20"/>
          <p:cNvSpPr/>
          <p:nvPr/>
        </p:nvSpPr>
        <p:spPr>
          <a:xfrm>
            <a:off x="7543800" y="4112895"/>
            <a:ext cx="723900" cy="0"/>
          </a:xfrm>
          <a:prstGeom prst="line">
            <a:avLst/>
          </a:prstGeom>
          <a:noFill/>
          <a:ln w="19050">
            <a:solidFill>
              <a:schemeClr val="tx1"/>
            </a:solidFill>
            <a:prstDash val="solid"/>
            <a:tailEnd type="triangle"/>
          </a:ln>
        </p:spPr>
      </p:sp>
      <p:sp>
        <p:nvSpPr>
          <p:cNvPr id="24" name="Text 21"/>
          <p:cNvSpPr txBox="1"/>
          <p:nvPr/>
        </p:nvSpPr>
        <p:spPr>
          <a:xfrm>
            <a:off x="7637145" y="3865054"/>
            <a:ext cx="537210" cy="173355"/>
          </a:xfrm>
          <a:prstGeom prst="rect">
            <a:avLst/>
          </a:prstGeom>
          <a:noFill/>
          <a:ln/>
        </p:spPr>
        <p:txBody>
          <a:bodyPr wrap="none" lIns="0" tIns="0" rIns="0" bIns="0" rtlCol="0" anchor="t"/>
          <a:lstStyle/>
          <a:p>
            <a:pPr algn="ctr" indent="0" marL="0">
              <a:buNone/>
            </a:pPr>
            <a:r>
              <a:rPr lang="en-US" sz="1050" dirty="0">
                <a:solidFill>
                  <a:schemeClr val="tx2"/>
                </a:solidFill>
                <a:latin typeface="Courier New" pitchFamily="34" charset="0"/>
                <a:ea typeface="Courier New" pitchFamily="34" charset="-122"/>
                <a:cs typeface="Courier New" pitchFamily="34" charset="-120"/>
              </a:rPr>
              <a:t>A</a:t>
            </a:r>
            <a:endParaRPr lang="en-US" sz="1050" dirty="0"/>
          </a:p>
        </p:txBody>
      </p:sp>
      <p:sp>
        <p:nvSpPr>
          <p:cNvPr id="25" name="Shape 22"/>
          <p:cNvSpPr/>
          <p:nvPr/>
        </p:nvSpPr>
        <p:spPr>
          <a:xfrm>
            <a:off x="8305800" y="3684270"/>
            <a:ext cx="3200400" cy="857250"/>
          </a:xfrm>
          <a:prstGeom prst="roundRect">
            <a:avLst>
              <a:gd name="adj" fmla="val 6667"/>
            </a:avLst>
          </a:prstGeom>
          <a:solidFill>
            <a:schemeClr val="accent2">
              <a:alpha val="10000"/>
            </a:schemeClr>
          </a:solidFill>
          <a:ln w="19050">
            <a:solidFill>
              <a:schemeClr val="accent2"/>
            </a:solidFill>
            <a:prstDash val="solid"/>
          </a:ln>
        </p:spPr>
      </p:sp>
      <p:sp>
        <p:nvSpPr>
          <p:cNvPr id="26" name="Text 23"/>
          <p:cNvSpPr txBox="1"/>
          <p:nvPr/>
        </p:nvSpPr>
        <p:spPr>
          <a:xfrm>
            <a:off x="9071610" y="3907155"/>
            <a:ext cx="166878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198.51.100.7</a:t>
            </a:r>
            <a:endParaRPr lang="en-US" sz="1500" dirty="0"/>
          </a:p>
        </p:txBody>
      </p:sp>
      <p:sp>
        <p:nvSpPr>
          <p:cNvPr id="27" name="Text 24"/>
          <p:cNvSpPr txBox="1"/>
          <p:nvPr/>
        </p:nvSpPr>
        <p:spPr>
          <a:xfrm>
            <a:off x="8614410" y="4199096"/>
            <a:ext cx="25831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a CloudFront edge · stacks 1, 4</a:t>
            </a:r>
            <a:endParaRPr lang="en-US" sz="1125" dirty="0"/>
          </a:p>
        </p:txBody>
      </p:sp>
      <p:sp>
        <p:nvSpPr>
          <p:cNvPr id="28" name="Caption"/>
          <p:cNvSpPr txBox="1"/>
          <p:nvPr/>
        </p:nvSpPr>
        <p:spPr>
          <a:xfrm>
            <a:off x="685800" y="4831080"/>
            <a:ext cx="10058400" cy="43434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An A record points a name at an address. A CNAME points a name at another name, and the lookup starts over. Either way the answer carries a TTL saying how long it may be cached.</a:t>
            </a:r>
            <a:endParaRPr lang="en-US" sz="1425"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FRONT DOOR</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Which record, for which stack</a:t>
            </a:r>
            <a:endParaRPr lang="en-US" sz="3600" dirty="0"/>
          </a:p>
        </p:txBody>
      </p:sp>
      <p:graphicFrame>
        <p:nvGraphicFramePr>
          <p:cNvPr id="44" name="Table"/>
          <p:cNvGraphicFramePr>
            <a:graphicFrameLocks noGrp="1"/>
          </p:cNvGraphicFramePr>
          <p:nvPr>
            <p:extLst>
              <p:ext uri="{D42A27DB-BD31-4B8C-83A1-F6EECF244321}">
                <p14:modId xmlns:p14="http://schemas.microsoft.com/office/powerpoint/2010/main" val="1579011935"/>
              </p:ext>
            </p:extLst>
          </p:nvPr>
        </p:nvGraphicFramePr>
        <p:xfrm>
          <a:off x="685800" y="1645920"/>
          <a:ext cx="10820400" cy="914400"/>
        </p:xfrm>
        <a:graphic>
          <a:graphicData uri="http://schemas.openxmlformats.org/drawingml/2006/table">
            <a:tbl>
              <a:tblPr/>
              <a:tblGrid>
                <a:gridCol w="1426464"/>
                <a:gridCol w="2054923"/>
                <a:gridCol w="2642044"/>
                <a:gridCol w="4696968"/>
              </a:tblGrid>
              <a:tr h="361188">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STACK</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POINTS AT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RECORD</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050" dirty="0">
                          <a:solidFill>
                            <a:schemeClr val="tx2"/>
                          </a:solidFill>
                          <a:latin typeface="Courier New" pitchFamily="34" charset="0"/>
                          <a:ea typeface="Courier New" pitchFamily="34" charset="-122"/>
                          <a:cs typeface="Courier New" pitchFamily="34" charset="-120"/>
                        </a:rPr>
                        <a:t>THE CATCH</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STATIC SITE</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&lt;id&gt;.cloudfront.net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CNAME, or alias at the apex</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The distribution must list your name and hold a certificate for it. Ours has neither.</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FUNCTION API</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a function URL</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none directly</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AWS lists custom domain names under API Gateway, not function URLs. Or put CloudFront in front.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SERVER APP</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the host's IP address</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A</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Kamal can get an HTTPS certificate for you, once the name points at the host.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r h="658368">
                <a:tc>
                  <a:txBody>
                    <a:bodyPr/>
                    <a:lstStyle/>
                    <a:p>
                      <a:pPr indent="0" marL="0">
                        <a:buNone/>
                      </a:pPr>
                      <a:r>
                        <a:rPr lang="en-US" sz="1125" dirty="0">
                          <a:solidFill>
                            <a:schemeClr val="tx2"/>
                          </a:solidFill>
                          <a:latin typeface="Courier New" pitchFamily="34" charset="0"/>
                          <a:ea typeface="Courier New" pitchFamily="34" charset="-122"/>
                          <a:cs typeface="Courier New" pitchFamily="34" charset="-120"/>
                        </a:rPr>
                        <a:t>FULL-STACK</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320" dirty="0">
                          <a:solidFill>
                            <a:schemeClr val="tx1"/>
                          </a:solidFill>
                          <a:latin typeface="Courier New" pitchFamily="34" charset="0"/>
                          <a:ea typeface="Courier New" pitchFamily="34" charset="-122"/>
                          <a:cs typeface="Courier New" pitchFamily="34" charset="-120"/>
                        </a:rPr>
                        <a:t>&lt;id&gt;.cloudfront.net</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CNAME, or alias at the apex</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c>
                  <a:txBody>
                    <a:bodyPr/>
                    <a:lstStyle/>
                    <a:p>
                      <a:pPr indent="0" marL="0">
                        <a:buNone/>
                      </a:pPr>
                      <a:r>
                        <a:rPr lang="en-US" sz="1500" dirty="0">
                          <a:solidFill>
                            <a:schemeClr val="tx1"/>
                          </a:solidFill>
                          <a:latin typeface="Arial" pitchFamily="34" charset="0"/>
                          <a:ea typeface="Arial" pitchFamily="34" charset="-122"/>
                          <a:cs typeface="Arial" pitchFamily="34" charset="-120"/>
                        </a:rPr>
                        <a:t>Same as the static site: stack 1's shape, stack 2's server.</a:t>
                      </a:r>
                      <a:endParaRPr lang="en-US" sz="1200" dirty="0"/>
                    </a:p>
                  </a:txBody>
                  <a:tcPr marL="101600" marR="101600" marT="63500" marB="63500" anchor="t">
                    <a:lnL w="0" cap="flat" cmpd="sng" algn="ctr">
                      <a:noFill/>
                    </a:lnL>
                    <a:lnR w="0" cap="flat" cmpd="sng" algn="ctr">
                      <a:noFill/>
                    </a:lnR>
                    <a:lnT w="0" cap="flat" cmpd="sng" algn="ctr">
                      <a:noFill/>
                    </a:lnT>
                    <a:lnB w="9525" cap="flat" cmpd="sng" algn="ctr">
                      <a:solidFill>
                        <a:srgbClr val="D3D9D2"/>
                      </a:solidFill>
                      <a:prstDash val="solid"/>
                      <a:round/>
                      <a:headEnd type="none" w="med" len="med"/>
                      <a:tailEnd type="none" w="med" len="med"/>
                    </a:lnB>
                  </a:tcPr>
                </a:tc>
              </a:tr>
            </a:tbl>
          </a:graphicData>
        </a:graphic>
      </p:graphicFrame>
      <p:sp>
        <p:nvSpPr>
          <p:cNvPr id="6" name="Text 2"/>
          <p:cNvSpPr txBox="1"/>
          <p:nvPr/>
        </p:nvSpPr>
        <p:spPr>
          <a:xfrm>
            <a:off x="685800" y="4812030"/>
            <a:ext cx="10820400" cy="41148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Custom domains are not configured in these demos. In production, add the DNS records and the endpoint's domain and certificate configuration.</a:t>
            </a:r>
            <a:endParaRPr lang="en-US" sz="13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THE SETUP · WHAT NEEDS TO TALK TO WHAT</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Two apps, one private connection</a:t>
            </a:r>
            <a:endParaRPr lang="en-US" sz="3600" dirty="0"/>
          </a:p>
        </p:txBody>
      </p:sp>
      <p:sp>
        <p:nvSpPr>
          <p:cNvPr id="5" name="Text 2"/>
          <p:cNvSpPr txBox="1"/>
          <p:nvPr/>
        </p:nvSpPr>
        <p:spPr>
          <a:xfrm>
            <a:off x="685800" y="1697355"/>
            <a:ext cx="3284220" cy="247650"/>
          </a:xfrm>
          <a:prstGeom prst="rect">
            <a:avLst/>
          </a:prstGeom>
          <a:noFill/>
          <a:ln/>
        </p:spPr>
        <p:txBody>
          <a:bodyPr wrap="none" lIns="0" tIns="0" rIns="0" bIns="0" rtlCol="0" anchor="t"/>
          <a:lstStyle/>
          <a:p>
            <a:pPr algn="l" indent="0" marL="0">
              <a:buNone/>
            </a:pPr>
            <a:r>
              <a:rPr lang="en-US" sz="1500" b="1" dirty="0">
                <a:solidFill>
                  <a:schemeClr val="tx1"/>
                </a:solidFill>
                <a:latin typeface="Arial" pitchFamily="34" charset="0"/>
                <a:ea typeface="Arial" pitchFamily="34" charset="-122"/>
                <a:cs typeface="Arial" pitchFamily="34" charset="-120"/>
              </a:rPr>
              <a:t>Portal stack · its own state</a:t>
            </a:r>
            <a:endParaRPr lang="en-US" sz="1500" dirty="0"/>
          </a:p>
        </p:txBody>
      </p:sp>
      <p:sp>
        <p:nvSpPr>
          <p:cNvPr id="6" name="Text 3"/>
          <p:cNvSpPr txBox="1"/>
          <p:nvPr/>
        </p:nvSpPr>
        <p:spPr>
          <a:xfrm>
            <a:off x="7886700" y="1697355"/>
            <a:ext cx="3486150" cy="247650"/>
          </a:xfrm>
          <a:prstGeom prst="rect">
            <a:avLst/>
          </a:prstGeom>
          <a:noFill/>
          <a:ln/>
        </p:spPr>
        <p:txBody>
          <a:bodyPr wrap="none" lIns="0" tIns="0" rIns="0" bIns="0" rtlCol="0" anchor="t"/>
          <a:lstStyle/>
          <a:p>
            <a:pPr algn="l" indent="0" marL="0">
              <a:buNone/>
            </a:pPr>
            <a:r>
              <a:rPr lang="en-US" sz="1500" b="1" dirty="0">
                <a:solidFill>
                  <a:schemeClr val="tx1"/>
                </a:solidFill>
                <a:latin typeface="Arial" pitchFamily="34" charset="0"/>
                <a:ea typeface="Arial" pitchFamily="34" charset="-122"/>
                <a:cs typeface="Arial" pitchFamily="34" charset="-120"/>
              </a:rPr>
              <a:t>Pipeline stack · its own state</a:t>
            </a:r>
            <a:endParaRPr lang="en-US" sz="1500" dirty="0"/>
          </a:p>
        </p:txBody>
      </p:sp>
      <p:sp>
        <p:nvSpPr>
          <p:cNvPr id="7" name="Shape 4"/>
          <p:cNvSpPr/>
          <p:nvPr/>
        </p:nvSpPr>
        <p:spPr>
          <a:xfrm>
            <a:off x="685800" y="2065020"/>
            <a:ext cx="3619500" cy="2571750"/>
          </a:xfrm>
          <a:prstGeom prst="roundRect">
            <a:avLst>
              <a:gd name="adj" fmla="val 2222"/>
            </a:avLst>
          </a:prstGeom>
          <a:solidFill>
            <a:schemeClr val="accent1">
              <a:alpha val="10000"/>
            </a:schemeClr>
          </a:solidFill>
          <a:ln w="19050">
            <a:solidFill>
              <a:schemeClr val="accent1"/>
            </a:solidFill>
            <a:prstDash val="solid"/>
          </a:ln>
        </p:spPr>
      </p:sp>
      <p:sp>
        <p:nvSpPr>
          <p:cNvPr id="8" name="Text 5"/>
          <p:cNvSpPr txBox="1"/>
          <p:nvPr/>
        </p:nvSpPr>
        <p:spPr>
          <a:xfrm>
            <a:off x="876300" y="2255996"/>
            <a:ext cx="237744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Portal VPC · private network</a:t>
            </a:r>
            <a:endParaRPr lang="en-US" sz="1125" dirty="0"/>
          </a:p>
        </p:txBody>
      </p:sp>
      <p:sp>
        <p:nvSpPr>
          <p:cNvPr id="9" name="Shape 6"/>
          <p:cNvSpPr/>
          <p:nvPr/>
        </p:nvSpPr>
        <p:spPr>
          <a:xfrm>
            <a:off x="971550" y="3074670"/>
            <a:ext cx="3048000" cy="952500"/>
          </a:xfrm>
          <a:prstGeom prst="roundRect">
            <a:avLst>
              <a:gd name="adj" fmla="val 6000"/>
            </a:avLst>
          </a:prstGeom>
          <a:solidFill>
            <a:schemeClr val="accent3">
              <a:alpha val="10000"/>
            </a:schemeClr>
          </a:solidFill>
          <a:ln w="19050">
            <a:solidFill>
              <a:schemeClr val="accent3"/>
            </a:solidFill>
            <a:prstDash val="solid"/>
          </a:ln>
        </p:spPr>
      </p:sp>
      <p:sp>
        <p:nvSpPr>
          <p:cNvPr id="10" name="Text 7"/>
          <p:cNvSpPr txBox="1"/>
          <p:nvPr/>
        </p:nvSpPr>
        <p:spPr>
          <a:xfrm>
            <a:off x="1560195" y="3297555"/>
            <a:ext cx="1870710"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Portal web app</a:t>
            </a:r>
            <a:endParaRPr lang="en-US" sz="1500" dirty="0"/>
          </a:p>
        </p:txBody>
      </p:sp>
      <p:sp>
        <p:nvSpPr>
          <p:cNvPr id="11" name="Text 8"/>
          <p:cNvSpPr txBox="1"/>
          <p:nvPr/>
        </p:nvSpPr>
        <p:spPr>
          <a:xfrm>
            <a:off x="1341120" y="3608546"/>
            <a:ext cx="230886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reads the processed results</a:t>
            </a:r>
            <a:endParaRPr lang="en-US" sz="1125" dirty="0"/>
          </a:p>
        </p:txBody>
      </p:sp>
      <p:sp>
        <p:nvSpPr>
          <p:cNvPr id="12" name="Shape 9"/>
          <p:cNvSpPr/>
          <p:nvPr/>
        </p:nvSpPr>
        <p:spPr>
          <a:xfrm>
            <a:off x="7886700" y="2065020"/>
            <a:ext cx="3619500" cy="2571750"/>
          </a:xfrm>
          <a:prstGeom prst="roundRect">
            <a:avLst>
              <a:gd name="adj" fmla="val 2222"/>
            </a:avLst>
          </a:prstGeom>
          <a:solidFill>
            <a:schemeClr val="accent1">
              <a:alpha val="10000"/>
            </a:schemeClr>
          </a:solidFill>
          <a:ln w="19050">
            <a:solidFill>
              <a:schemeClr val="accent1"/>
            </a:solidFill>
            <a:prstDash val="solid"/>
          </a:ln>
        </p:spPr>
      </p:sp>
      <p:sp>
        <p:nvSpPr>
          <p:cNvPr id="13" name="Text 10"/>
          <p:cNvSpPr txBox="1"/>
          <p:nvPr/>
        </p:nvSpPr>
        <p:spPr>
          <a:xfrm>
            <a:off x="8077200" y="2255996"/>
            <a:ext cx="2514600" cy="185738"/>
          </a:xfrm>
          <a:prstGeom prst="rect">
            <a:avLst/>
          </a:prstGeom>
          <a:noFill/>
          <a:ln/>
        </p:spPr>
        <p:txBody>
          <a:bodyPr wrap="none" lIns="0" tIns="0" rIns="0" bIns="0" rtlCol="0" anchor="t"/>
          <a:lstStyle/>
          <a:p>
            <a:pPr algn="l" indent="0" marL="0">
              <a:buNone/>
            </a:pPr>
            <a:r>
              <a:rPr lang="en-US" sz="1125" dirty="0">
                <a:solidFill>
                  <a:schemeClr val="tx2"/>
                </a:solidFill>
                <a:latin typeface="Arial" pitchFamily="34" charset="0"/>
                <a:ea typeface="Arial" pitchFamily="34" charset="-122"/>
                <a:cs typeface="Arial" pitchFamily="34" charset="-120"/>
              </a:rPr>
              <a:t>Pipeline VPC · private network</a:t>
            </a:r>
            <a:endParaRPr lang="en-US" sz="1125" dirty="0"/>
          </a:p>
        </p:txBody>
      </p:sp>
      <p:sp>
        <p:nvSpPr>
          <p:cNvPr id="14" name="Shape 11"/>
          <p:cNvSpPr/>
          <p:nvPr/>
        </p:nvSpPr>
        <p:spPr>
          <a:xfrm>
            <a:off x="8172450" y="2579370"/>
            <a:ext cx="3048000" cy="723900"/>
          </a:xfrm>
          <a:prstGeom prst="roundRect">
            <a:avLst>
              <a:gd name="adj" fmla="val 7895"/>
            </a:avLst>
          </a:prstGeom>
          <a:solidFill>
            <a:schemeClr val="accent3">
              <a:alpha val="10000"/>
            </a:schemeClr>
          </a:solidFill>
          <a:ln w="19050">
            <a:solidFill>
              <a:schemeClr val="accent3"/>
            </a:solidFill>
            <a:prstDash val="solid"/>
          </a:ln>
        </p:spPr>
      </p:sp>
      <p:sp>
        <p:nvSpPr>
          <p:cNvPr id="15" name="Text 12"/>
          <p:cNvSpPr txBox="1"/>
          <p:nvPr/>
        </p:nvSpPr>
        <p:spPr>
          <a:xfrm>
            <a:off x="8508683" y="2830830"/>
            <a:ext cx="237553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Data-processing app</a:t>
            </a:r>
            <a:endParaRPr lang="en-US" sz="1500" dirty="0"/>
          </a:p>
        </p:txBody>
      </p:sp>
      <p:sp>
        <p:nvSpPr>
          <p:cNvPr id="16" name="Shape 13"/>
          <p:cNvSpPr/>
          <p:nvPr/>
        </p:nvSpPr>
        <p:spPr>
          <a:xfrm>
            <a:off x="9696450" y="3303270"/>
            <a:ext cx="0" cy="419100"/>
          </a:xfrm>
          <a:prstGeom prst="line">
            <a:avLst/>
          </a:prstGeom>
          <a:noFill/>
          <a:ln w="19050">
            <a:solidFill>
              <a:schemeClr val="tx1"/>
            </a:solidFill>
            <a:prstDash val="solid"/>
            <a:tailEnd type="triangle"/>
          </a:ln>
        </p:spPr>
      </p:sp>
      <p:sp>
        <p:nvSpPr>
          <p:cNvPr id="17" name="Text 14"/>
          <p:cNvSpPr txBox="1"/>
          <p:nvPr/>
        </p:nvSpPr>
        <p:spPr>
          <a:xfrm>
            <a:off x="9848850" y="3465004"/>
            <a:ext cx="1577340" cy="173355"/>
          </a:xfrm>
          <a:prstGeom prst="rect">
            <a:avLst/>
          </a:prstGeom>
          <a:noFill/>
          <a:ln/>
        </p:spPr>
        <p:txBody>
          <a:bodyPr wrap="none" lIns="0" tIns="0" rIns="0" bIns="0" rtlCol="0" anchor="t"/>
          <a:lstStyle/>
          <a:p>
            <a:pPr algn="l" indent="0" marL="0">
              <a:buNone/>
            </a:pPr>
            <a:r>
              <a:rPr lang="en-US" sz="1050" dirty="0">
                <a:solidFill>
                  <a:schemeClr val="tx2"/>
                </a:solidFill>
                <a:latin typeface="Courier New" pitchFamily="34" charset="0"/>
                <a:ea typeface="Courier New" pitchFamily="34" charset="-122"/>
                <a:cs typeface="Courier New" pitchFamily="34" charset="-120"/>
              </a:rPr>
              <a:t>writes results</a:t>
            </a:r>
            <a:endParaRPr lang="en-US" sz="1050" dirty="0"/>
          </a:p>
        </p:txBody>
      </p:sp>
      <p:sp>
        <p:nvSpPr>
          <p:cNvPr id="18" name="Shape 15"/>
          <p:cNvSpPr/>
          <p:nvPr/>
        </p:nvSpPr>
        <p:spPr>
          <a:xfrm>
            <a:off x="8172450" y="3760470"/>
            <a:ext cx="3048000" cy="666750"/>
          </a:xfrm>
          <a:prstGeom prst="roundRect">
            <a:avLst>
              <a:gd name="adj" fmla="val 8571"/>
            </a:avLst>
          </a:prstGeom>
          <a:solidFill>
            <a:schemeClr val="accent4">
              <a:alpha val="10000"/>
            </a:schemeClr>
          </a:solidFill>
          <a:ln w="19050">
            <a:solidFill>
              <a:schemeClr val="accent4"/>
            </a:solidFill>
            <a:prstDash val="solid"/>
          </a:ln>
        </p:spPr>
      </p:sp>
      <p:sp>
        <p:nvSpPr>
          <p:cNvPr id="19" name="Text 16"/>
          <p:cNvSpPr txBox="1"/>
          <p:nvPr/>
        </p:nvSpPr>
        <p:spPr>
          <a:xfrm>
            <a:off x="8609647" y="3992880"/>
            <a:ext cx="217360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Postgres database</a:t>
            </a:r>
            <a:endParaRPr lang="en-US" sz="1500" dirty="0"/>
          </a:p>
        </p:txBody>
      </p:sp>
      <p:sp>
        <p:nvSpPr>
          <p:cNvPr id="20" name="Shape 17"/>
          <p:cNvSpPr/>
          <p:nvPr/>
        </p:nvSpPr>
        <p:spPr>
          <a:xfrm>
            <a:off x="4019550" y="3550920"/>
            <a:ext cx="819150" cy="0"/>
          </a:xfrm>
          <a:prstGeom prst="line">
            <a:avLst/>
          </a:prstGeom>
          <a:noFill/>
          <a:ln w="19050">
            <a:solidFill>
              <a:schemeClr val="tx1"/>
            </a:solidFill>
            <a:prstDash val="solid"/>
            <a:tailEnd type="triangle"/>
          </a:ln>
        </p:spPr>
      </p:sp>
      <p:sp>
        <p:nvSpPr>
          <p:cNvPr id="21" name="Shape 18"/>
          <p:cNvSpPr/>
          <p:nvPr/>
        </p:nvSpPr>
        <p:spPr>
          <a:xfrm>
            <a:off x="4876800" y="3074670"/>
            <a:ext cx="2438400" cy="952500"/>
          </a:xfrm>
          <a:prstGeom prst="roundRect">
            <a:avLst>
              <a:gd name="adj" fmla="val 6000"/>
            </a:avLst>
          </a:prstGeom>
          <a:solidFill>
            <a:schemeClr val="accent1">
              <a:alpha val="10000"/>
            </a:schemeClr>
          </a:solidFill>
          <a:ln w="19050">
            <a:solidFill>
              <a:schemeClr val="accent1"/>
            </a:solidFill>
            <a:prstDash val="solid"/>
          </a:ln>
        </p:spPr>
      </p:sp>
      <p:sp>
        <p:nvSpPr>
          <p:cNvPr id="22" name="Text 19"/>
          <p:cNvSpPr txBox="1"/>
          <p:nvPr/>
        </p:nvSpPr>
        <p:spPr>
          <a:xfrm>
            <a:off x="5312092" y="3297555"/>
            <a:ext cx="1567815" cy="247650"/>
          </a:xfrm>
          <a:prstGeom prst="rect">
            <a:avLst/>
          </a:prstGeom>
          <a:noFill/>
          <a:ln/>
        </p:spPr>
        <p:txBody>
          <a:bodyPr wrap="none" lIns="0" tIns="0" rIns="0" bIns="0" rtlCol="0" anchor="t"/>
          <a:lstStyle/>
          <a:p>
            <a:pPr algn="ctr" indent="0" marL="0">
              <a:buNone/>
            </a:pPr>
            <a:r>
              <a:rPr lang="en-US" sz="1500" b="1" dirty="0">
                <a:solidFill>
                  <a:schemeClr val="tx1"/>
                </a:solidFill>
                <a:latin typeface="Arial" pitchFamily="34" charset="0"/>
                <a:ea typeface="Arial" pitchFamily="34" charset="-122"/>
                <a:cs typeface="Arial" pitchFamily="34" charset="-120"/>
              </a:rPr>
              <a:t>VPC peering</a:t>
            </a:r>
            <a:endParaRPr lang="en-US" sz="1500" dirty="0"/>
          </a:p>
        </p:txBody>
      </p:sp>
      <p:sp>
        <p:nvSpPr>
          <p:cNvPr id="23" name="Text 20"/>
          <p:cNvSpPr txBox="1"/>
          <p:nvPr/>
        </p:nvSpPr>
        <p:spPr>
          <a:xfrm>
            <a:off x="5147310" y="3608546"/>
            <a:ext cx="1897380" cy="185738"/>
          </a:xfrm>
          <a:prstGeom prst="rect">
            <a:avLst/>
          </a:prstGeom>
          <a:noFill/>
          <a:ln/>
        </p:spPr>
        <p:txBody>
          <a:bodyPr wrap="none" lIns="0" tIns="0" rIns="0" bIns="0" rtlCol="0" anchor="t"/>
          <a:lstStyle/>
          <a:p>
            <a:pPr algn="ctr" indent="0" marL="0">
              <a:buNone/>
            </a:pPr>
            <a:r>
              <a:rPr lang="en-US" sz="1125" dirty="0">
                <a:solidFill>
                  <a:schemeClr val="tx2"/>
                </a:solidFill>
                <a:latin typeface="Arial" pitchFamily="34" charset="0"/>
                <a:ea typeface="Arial" pitchFamily="34" charset="-122"/>
                <a:cs typeface="Arial" pitchFamily="34" charset="-120"/>
              </a:rPr>
              <a:t>connects the networks</a:t>
            </a:r>
            <a:endParaRPr lang="en-US" sz="1125" dirty="0"/>
          </a:p>
        </p:txBody>
      </p:sp>
      <p:sp>
        <p:nvSpPr>
          <p:cNvPr id="24" name="Shape 21"/>
          <p:cNvSpPr/>
          <p:nvPr/>
        </p:nvSpPr>
        <p:spPr>
          <a:xfrm>
            <a:off x="7315200" y="3550920"/>
            <a:ext cx="323850" cy="0"/>
          </a:xfrm>
          <a:prstGeom prst="line">
            <a:avLst/>
          </a:prstGeom>
          <a:noFill/>
          <a:ln w="19050">
            <a:solidFill>
              <a:schemeClr val="tx1"/>
            </a:solidFill>
            <a:prstDash val="solid"/>
          </a:ln>
        </p:spPr>
      </p:sp>
      <p:sp>
        <p:nvSpPr>
          <p:cNvPr id="25" name="Shape 22"/>
          <p:cNvSpPr/>
          <p:nvPr/>
        </p:nvSpPr>
        <p:spPr>
          <a:xfrm>
            <a:off x="7639050" y="3550920"/>
            <a:ext cx="0" cy="542925"/>
          </a:xfrm>
          <a:prstGeom prst="line">
            <a:avLst/>
          </a:prstGeom>
          <a:noFill/>
          <a:ln w="19050">
            <a:solidFill>
              <a:schemeClr val="tx1"/>
            </a:solidFill>
            <a:prstDash val="solid"/>
          </a:ln>
        </p:spPr>
      </p:sp>
      <p:sp>
        <p:nvSpPr>
          <p:cNvPr id="26" name="Shape 23"/>
          <p:cNvSpPr/>
          <p:nvPr/>
        </p:nvSpPr>
        <p:spPr>
          <a:xfrm>
            <a:off x="7639050" y="4093845"/>
            <a:ext cx="495300" cy="0"/>
          </a:xfrm>
          <a:prstGeom prst="line">
            <a:avLst/>
          </a:prstGeom>
          <a:noFill/>
          <a:ln w="19050">
            <a:solidFill>
              <a:schemeClr val="tx1"/>
            </a:solidFill>
            <a:prstDash val="solid"/>
            <a:tailEnd type="triangle"/>
          </a:ln>
        </p:spPr>
      </p:sp>
      <p:sp>
        <p:nvSpPr>
          <p:cNvPr id="27" name="Caption"/>
          <p:cNvSpPr txBox="1"/>
          <p:nvPr/>
        </p:nvSpPr>
        <p:spPr>
          <a:xfrm>
            <a:off x="685800" y="5021580"/>
            <a:ext cx="10058400" cy="217170"/>
          </a:xfrm>
          <a:prstGeom prst="rect">
            <a:avLst/>
          </a:prstGeom>
          <a:noFill/>
          <a:ln/>
        </p:spPr>
        <p:txBody>
          <a:bodyPr wrap="square" lIns="0" tIns="0" rIns="0" bIns="0" rtlCol="0" anchor="t"/>
          <a:lstStyle/>
          <a:p>
            <a:pPr indent="0" marL="0">
              <a:buNone/>
            </a:pPr>
            <a:r>
              <a:rPr lang="en-US" sz="1425" dirty="0">
                <a:solidFill>
                  <a:schemeClr val="tx2"/>
                </a:solidFill>
                <a:latin typeface="Arial" pitchFamily="34" charset="0"/>
                <a:ea typeface="Arial" pitchFamily="34" charset="-122"/>
                <a:cs typeface="Arial" pitchFamily="34" charset="-120"/>
              </a:rPr>
              <a:t>The portal needs the pipeline's data. Their private networks need a connection before the portal can read it.</a:t>
            </a:r>
            <a:endParaRPr lang="en-US" sz="1425" dirty="0"/>
          </a:p>
        </p:txBody>
      </p:sp>
      <p:sp>
        <p:nvSpPr>
          <p:cNvPr id="28" name="Statement"/>
          <p:cNvSpPr txBox="1"/>
          <p:nvPr/>
        </p:nvSpPr>
        <p:spPr>
          <a:xfrm>
            <a:off x="685800" y="5429250"/>
            <a:ext cx="8595360" cy="914400"/>
          </a:xfrm>
          <a:prstGeom prst="rect">
            <a:avLst/>
          </a:prstGeom>
          <a:noFill/>
          <a:ln/>
        </p:spPr>
        <p:txBody>
          <a:bodyPr wrap="square" lIns="0" tIns="0" rIns="0" bIns="0" rtlCol="0" anchor="t"/>
          <a:lstStyle/>
          <a:p>
            <a:pPr indent="0" marL="0">
              <a:lnSpc>
                <a:spcPct val="100000"/>
              </a:lnSpc>
              <a:buNone/>
            </a:pPr>
            <a:r>
              <a:rPr lang="en-US" sz="3000" dirty="0">
                <a:solidFill>
                  <a:schemeClr val="tx1"/>
                </a:solidFill>
                <a:latin typeface="Arial" pitchFamily="34" charset="0"/>
                <a:ea typeface="Arial" pitchFamily="34" charset="-122"/>
                <a:cs typeface="Arial" pitchFamily="34" charset="-120"/>
              </a:rPr>
              <a:t>Who creates that connection, and what must exist first?</a:t>
            </a:r>
            <a:endParaRPr lang="en-US" sz="30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WHEN STACKS SHARE THINGS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Which stack owns the thing both need?</a:t>
            </a:r>
            <a:endParaRPr lang="en-US" sz="3600" dirty="0"/>
          </a:p>
        </p:txBody>
      </p:sp>
      <p:sp>
        <p:nvSpPr>
          <p:cNvPr id="5" name="Code"/>
          <p:cNvSpPr txBox="1"/>
          <p:nvPr/>
        </p:nvSpPr>
        <p:spPr>
          <a:xfrm>
            <a:off x="685800" y="1645920"/>
            <a:ext cx="5143652" cy="1876582"/>
          </a:xfrm>
          <a:prstGeom prst="roundRect">
            <a:avLst>
              <a:gd name="adj" fmla="val 2924"/>
            </a:avLst>
          </a:prstGeom>
          <a:solidFill>
            <a:srgbClr val="E6EAE4"/>
          </a:solidFill>
          <a:ln/>
        </p:spPr>
        <p:txBody>
          <a:bodyPr wrap="square" lIns="246888" tIns="246888" rIns="246888" bIns="246888" rtlCol="0" anchor="t"/>
          <a:lstStyle/>
          <a:p>
            <a:pPr indent="0" marL="0">
              <a:lnSpc>
                <a:spcPct val="105000"/>
              </a:lnSpc>
              <a:buNone/>
            </a:pPr>
            <a:r>
              <a:rPr lang="en-US" sz="1197" dirty="0">
                <a:solidFill>
                  <a:schemeClr val="tx2"/>
                </a:solidFill>
                <a:latin typeface="Courier New" pitchFamily="34" charset="0"/>
                <a:ea typeface="Courier New" pitchFamily="34" charset="-122"/>
                <a:cs typeface="Courier New" pitchFamily="34" charset="-120"/>
              </a:rPr>
              <a:t># pipeline stack</a:t>
            </a:r>
            <a:endParaRPr lang="en-US" sz="1197" dirty="0"/>
          </a:p>
          <a:p>
            <a:pPr indent="0" marL="0">
              <a:lnSpc>
                <a:spcPct val="105000"/>
              </a:lnSpc>
              <a:buNone/>
            </a:pPr>
            <a:r>
              <a:rPr lang="en-US" sz="1197" dirty="0">
                <a:solidFill>
                  <a:schemeClr val="tx1"/>
                </a:solidFill>
                <a:latin typeface="Courier New" pitchFamily="34" charset="0"/>
                <a:ea typeface="Courier New" pitchFamily="34" charset="-122"/>
                <a:cs typeface="Courier New" pitchFamily="34" charset="-120"/>
              </a:rPr>
              <a:t>peer_vpc_id = </a:t>
            </a:r>
            <a:pPr indent="0" marL="0">
              <a:lnSpc>
                <a:spcPct val="105000"/>
              </a:lnSpc>
              <a:buNone/>
            </a:pPr>
            <a:r>
              <a:rPr lang="en-US" sz="1197" dirty="0">
                <a:solidFill>
                  <a:schemeClr val="accent4"/>
                </a:solidFill>
                <a:highlight>
                  <a:srgbClr val="CBE3D3"/>
                </a:highlight>
                <a:latin typeface="Courier New" pitchFamily="34" charset="0"/>
                <a:ea typeface="Courier New" pitchFamily="34" charset="-122"/>
                <a:cs typeface="Courier New" pitchFamily="34" charset="-120"/>
              </a:rPr>
              <a:t>"vpc-0aaaaaaaaaaaaaaaa"</a:t>
            </a:r>
            <a:endParaRPr lang="en-US" sz="1197" dirty="0"/>
          </a:p>
          <a:p>
            <a:pPr indent="0" marL="0">
              <a:lnSpc>
                <a:spcPct val="105000"/>
              </a:lnSpc>
              <a:buNone/>
            </a:pPr>
            <a:r>
              <a:rPr lang="en-US" sz="1197" dirty="0">
                <a:solidFill>
                  <a:schemeClr val="tx2"/>
                </a:solidFill>
                <a:latin typeface="Courier New" pitchFamily="34" charset="0"/>
                <a:ea typeface="Courier New" pitchFamily="34" charset="-122"/>
                <a:cs typeface="Courier New" pitchFamily="34" charset="-120"/>
              </a:rPr>
              <a:t># owned by the portal's state</a:t>
            </a:r>
            <a:endParaRPr lang="en-US" sz="1197" dirty="0"/>
          </a:p>
          <a:p>
            <a:pPr indent="0" marL="0">
              <a:lnSpc>
                <a:spcPct val="105000"/>
              </a:lnSpc>
              <a:buNone/>
            </a:pPr>
            <a:r>
              <a:rPr lang="en-US" sz="1197" dirty="0">
                <a:solidFill>
                  <a:schemeClr val="tx1"/>
                </a:solidFill>
                <a:latin typeface="Courier New" pitchFamily="34" charset="0"/>
                <a:ea typeface="Courier New" pitchFamily="34" charset="-122"/>
                <a:cs typeface="Courier New" pitchFamily="34" charset="-120"/>
              </a:rPr>
              <a:t> </a:t>
            </a:r>
            <a:endParaRPr lang="en-US" sz="1197" dirty="0"/>
          </a:p>
          <a:p>
            <a:pPr indent="0" marL="0">
              <a:lnSpc>
                <a:spcPct val="105000"/>
              </a:lnSpc>
              <a:buNone/>
            </a:pPr>
            <a:r>
              <a:rPr lang="en-US" sz="1197" dirty="0">
                <a:solidFill>
                  <a:schemeClr val="tx2"/>
                </a:solidFill>
                <a:latin typeface="Courier New" pitchFamily="34" charset="0"/>
                <a:ea typeface="Courier New" pitchFamily="34" charset="-122"/>
                <a:cs typeface="Courier New" pitchFamily="34" charset="-120"/>
              </a:rPr>
              <a:t># portal stack</a:t>
            </a:r>
            <a:endParaRPr lang="en-US" sz="1197" dirty="0"/>
          </a:p>
          <a:p>
            <a:pPr indent="0" marL="0">
              <a:lnSpc>
                <a:spcPct val="105000"/>
              </a:lnSpc>
              <a:buNone/>
            </a:pPr>
            <a:r>
              <a:rPr lang="en-US" sz="1197" dirty="0">
                <a:solidFill>
                  <a:schemeClr val="tx1"/>
                </a:solidFill>
                <a:latin typeface="Courier New" pitchFamily="34" charset="0"/>
                <a:ea typeface="Courier New" pitchFamily="34" charset="-122"/>
                <a:cs typeface="Courier New" pitchFamily="34" charset="-120"/>
              </a:rPr>
              <a:t>vpc_peering_connection_id = </a:t>
            </a:r>
            <a:pPr indent="0" marL="0">
              <a:lnSpc>
                <a:spcPct val="105000"/>
              </a:lnSpc>
              <a:buNone/>
            </a:pPr>
            <a:r>
              <a:rPr lang="en-US" sz="1197" dirty="0">
                <a:solidFill>
                  <a:schemeClr val="accent4"/>
                </a:solidFill>
                <a:highlight>
                  <a:srgbClr val="CBE3D3"/>
                </a:highlight>
                <a:latin typeface="Courier New" pitchFamily="34" charset="0"/>
                <a:ea typeface="Courier New" pitchFamily="34" charset="-122"/>
                <a:cs typeface="Courier New" pitchFamily="34" charset="-120"/>
              </a:rPr>
              <a:t>"pcx-0bbbbbbbbbbbbbbbb"</a:t>
            </a:r>
            <a:endParaRPr lang="en-US" sz="1197" dirty="0"/>
          </a:p>
          <a:p>
            <a:pPr indent="0" marL="0">
              <a:lnSpc>
                <a:spcPct val="105000"/>
              </a:lnSpc>
              <a:buNone/>
            </a:pPr>
            <a:r>
              <a:rPr lang="en-US" sz="1197" dirty="0">
                <a:solidFill>
                  <a:schemeClr val="tx2"/>
                </a:solidFill>
                <a:latin typeface="Courier New" pitchFamily="34" charset="0"/>
                <a:ea typeface="Courier New" pitchFamily="34" charset="-122"/>
                <a:cs typeface="Courier New" pitchFamily="34" charset="-120"/>
              </a:rPr>
              <a:t># owned by the pipeline's state</a:t>
            </a:r>
            <a:endParaRPr lang="en-US" sz="1197" dirty="0"/>
          </a:p>
        </p:txBody>
      </p:sp>
      <p:sp>
        <p:nvSpPr>
          <p:cNvPr id="6" name="Bullets"/>
          <p:cNvSpPr txBox="1"/>
          <p:nvPr/>
        </p:nvSpPr>
        <p:spPr>
          <a:xfrm>
            <a:off x="6362548" y="1645920"/>
            <a:ext cx="5143652" cy="1947672"/>
          </a:xfrm>
          <a:prstGeom prst="rect">
            <a:avLst/>
          </a:prstGeom>
          <a:noFill/>
          <a:ln/>
        </p:spPr>
        <p:txBody>
          <a:bodyPr wrap="square" lIns="0" tIns="0" rIns="0" bIns="0" rtlCol="0" anchor="t"/>
          <a:lstStyle/>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Each stack hardcodes an ID the </a:t>
            </a:r>
            <a:pPr indent="0" marL="0">
              <a:lnSpc>
                <a:spcPct val="100000"/>
              </a:lnSpc>
              <a:buNone/>
            </a:pPr>
            <a:r>
              <a:rPr lang="en-US" sz="1650" i="1" dirty="0">
                <a:solidFill>
                  <a:schemeClr val="tx1"/>
                </a:solidFill>
                <a:latin typeface="Arial" pitchFamily="34" charset="0"/>
                <a:ea typeface="Arial" pitchFamily="34" charset="-122"/>
                <a:cs typeface="Arial" pitchFamily="34" charset="-120"/>
              </a:rPr>
              <a:t>other</a:t>
            </a:r>
            <a:pPr indent="0" marL="0">
              <a:lnSpc>
                <a:spcPct val="100000"/>
              </a:lnSpc>
              <a:buNone/>
            </a:pPr>
            <a:r>
              <a:rPr lang="en-US" sz="1650" dirty="0">
                <a:solidFill>
                  <a:schemeClr val="tx1"/>
                </a:solidFill>
                <a:latin typeface="Arial" pitchFamily="34" charset="0"/>
                <a:ea typeface="Arial" pitchFamily="34" charset="-122"/>
                <a:cs typeface="Arial" pitchFamily="34" charset="-120"/>
              </a:rPr>
              <a:t> state file owns.</a:t>
            </a:r>
            <a:endParaRPr lang="en-US" sz="1650" dirty="0"/>
          </a:p>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Apply either first: the other ID doesn't exist yet.</a:t>
            </a:r>
            <a:endParaRPr lang="en-US" sz="1650" dirty="0"/>
          </a:p>
          <a:p>
            <a:pPr marL="279400" indent="-279400">
              <a:lnSpc>
                <a:spcPct val="100000"/>
              </a:lnSpc>
              <a:spcAft>
                <a:spcPts val="1300"/>
              </a:spcAft>
              <a:buSzPct val="100000"/>
              <a:buChar char="–"/>
            </a:pPr>
            <a:r>
              <a:rPr lang="en-US" sz="1650" dirty="0">
                <a:solidFill>
                  <a:schemeClr val="tx1"/>
                </a:solidFill>
                <a:latin typeface="Arial" pitchFamily="34" charset="0"/>
                <a:ea typeface="Arial" pitchFamily="34" charset="-122"/>
                <a:cs typeface="Arial" pitchFamily="34" charset="-120"/>
              </a:rPr>
              <a:t>The config can only describe infrastructure that already exists. It can't create it.</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WHEN STACKS SHARE THINGS</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A bad failure, a good failure, a fix</a:t>
            </a:r>
            <a:endParaRPr lang="en-US" sz="3600" dirty="0"/>
          </a:p>
        </p:txBody>
      </p:sp>
      <p:sp>
        <p:nvSpPr>
          <p:cNvPr id="5" name="Text 2"/>
          <p:cNvSpPr txBox="1"/>
          <p:nvPr/>
        </p:nvSpPr>
        <p:spPr>
          <a:xfrm>
            <a:off x="685800" y="1645920"/>
            <a:ext cx="3378200" cy="320040"/>
          </a:xfrm>
          <a:prstGeom prst="rect">
            <a:avLst/>
          </a:prstGeom>
          <a:noFill/>
          <a:ln/>
        </p:spPr>
        <p:txBody>
          <a:bodyPr wrap="square" lIns="0" tIns="0" rIns="0" bIns="0" rtlCol="0" anchor="t"/>
          <a:lstStyle/>
          <a:p>
            <a:pPr indent="0" marL="0">
              <a:lnSpc>
                <a:spcPct val="100000"/>
              </a:lnSpc>
              <a:buNone/>
            </a:pPr>
            <a:r>
              <a:rPr lang="en-US" sz="1850" b="1" dirty="0">
                <a:solidFill>
                  <a:schemeClr val="tx1"/>
                </a:solidFill>
                <a:latin typeface="Courier New" pitchFamily="34" charset="0"/>
                <a:ea typeface="Courier New" pitchFamily="34" charset="-122"/>
                <a:cs typeface="Courier New" pitchFamily="34" charset="-120"/>
              </a:rPr>
              <a:t>make broken</a:t>
            </a:r>
            <a:endParaRPr lang="en-US" sz="1850" dirty="0"/>
          </a:p>
        </p:txBody>
      </p:sp>
      <p:sp>
        <p:nvSpPr>
          <p:cNvPr id="6" name="Text 3"/>
          <p:cNvSpPr txBox="1"/>
          <p:nvPr/>
        </p:nvSpPr>
        <p:spPr>
          <a:xfrm>
            <a:off x="685800" y="2221992"/>
            <a:ext cx="3378200" cy="41148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Fails at </a:t>
            </a:r>
            <a:pPr indent="0" marL="0">
              <a:lnSpc>
                <a:spcPct val="100000"/>
              </a:lnSpc>
              <a:buNone/>
            </a:pPr>
            <a:r>
              <a:rPr lang="en-US" sz="1350" b="1" dirty="0">
                <a:solidFill>
                  <a:schemeClr val="tx2"/>
                </a:solidFill>
                <a:latin typeface="Arial" pitchFamily="34" charset="0"/>
                <a:ea typeface="Arial" pitchFamily="34" charset="-122"/>
                <a:cs typeface="Arial" pitchFamily="34" charset="-120"/>
              </a:rPr>
              <a:t>apply</a:t>
            </a:r>
            <a:pPr indent="0" marL="0">
              <a:lnSpc>
                <a:spcPct val="100000"/>
              </a:lnSpc>
              <a:buNone/>
            </a:pPr>
            <a:r>
              <a:rPr lang="en-US" sz="1350" dirty="0">
                <a:solidFill>
                  <a:schemeClr val="tx2"/>
                </a:solidFill>
                <a:latin typeface="Arial" pitchFamily="34" charset="0"/>
                <a:ea typeface="Arial" pitchFamily="34" charset="-122"/>
                <a:cs typeface="Arial" pitchFamily="34" charset="-120"/>
              </a:rPr>
              <a:t>, after creating the VPC and subnets.</a:t>
            </a:r>
            <a:endParaRPr lang="en-US" sz="1350" dirty="0"/>
          </a:p>
        </p:txBody>
      </p:sp>
      <p:sp>
        <p:nvSpPr>
          <p:cNvPr id="7" name="Code"/>
          <p:cNvSpPr txBox="1"/>
          <p:nvPr/>
        </p:nvSpPr>
        <p:spPr>
          <a:xfrm>
            <a:off x="685800" y="2766822"/>
            <a:ext cx="3378200" cy="1050989"/>
          </a:xfrm>
          <a:prstGeom prst="roundRect">
            <a:avLst>
              <a:gd name="adj" fmla="val 5220"/>
            </a:avLst>
          </a:prstGeom>
          <a:solidFill>
            <a:srgbClr val="E6EAE4"/>
          </a:solidFill>
          <a:ln/>
        </p:spPr>
        <p:txBody>
          <a:bodyPr wrap="square" lIns="246888" tIns="246888" rIns="246888" bIns="246888" rtlCol="0" anchor="t"/>
          <a:lstStyle/>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InvalidVpcID.NotFound</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Terraform leaves the</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stack half-built.</a:t>
            </a:r>
            <a:endParaRPr lang="en-US" sz="1125" dirty="0"/>
          </a:p>
        </p:txBody>
      </p:sp>
      <p:sp>
        <p:nvSpPr>
          <p:cNvPr id="8" name="Text 5"/>
          <p:cNvSpPr txBox="1"/>
          <p:nvPr/>
        </p:nvSpPr>
        <p:spPr>
          <a:xfrm>
            <a:off x="4406900" y="1645920"/>
            <a:ext cx="3378200" cy="320040"/>
          </a:xfrm>
          <a:prstGeom prst="rect">
            <a:avLst/>
          </a:prstGeom>
          <a:noFill/>
          <a:ln/>
        </p:spPr>
        <p:txBody>
          <a:bodyPr wrap="square" lIns="0" tIns="0" rIns="0" bIns="0" rtlCol="0" anchor="t"/>
          <a:lstStyle/>
          <a:p>
            <a:pPr indent="0" marL="0">
              <a:lnSpc>
                <a:spcPct val="100000"/>
              </a:lnSpc>
              <a:buNone/>
            </a:pPr>
            <a:r>
              <a:rPr lang="en-US" sz="1850" b="1" dirty="0">
                <a:solidFill>
                  <a:schemeClr val="tx1"/>
                </a:solidFill>
                <a:latin typeface="Courier New" pitchFamily="34" charset="0"/>
                <a:ea typeface="Courier New" pitchFamily="34" charset="-122"/>
                <a:cs typeface="Courier New" pitchFamily="34" charset="-120"/>
              </a:rPr>
              <a:t>make order</a:t>
            </a:r>
            <a:endParaRPr lang="en-US" sz="1850" dirty="0"/>
          </a:p>
        </p:txBody>
      </p:sp>
      <p:sp>
        <p:nvSpPr>
          <p:cNvPr id="9" name="Text 6"/>
          <p:cNvSpPr txBox="1"/>
          <p:nvPr/>
        </p:nvSpPr>
        <p:spPr>
          <a:xfrm>
            <a:off x="4406900" y="2221992"/>
            <a:ext cx="3378200" cy="41148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Out of order, but looked up by tag: fails at </a:t>
            </a:r>
            <a:pPr indent="0" marL="0">
              <a:lnSpc>
                <a:spcPct val="100000"/>
              </a:lnSpc>
              <a:buNone/>
            </a:pPr>
            <a:r>
              <a:rPr lang="en-US" sz="1350" b="1" dirty="0">
                <a:solidFill>
                  <a:schemeClr val="tx2"/>
                </a:solidFill>
                <a:latin typeface="Arial" pitchFamily="34" charset="0"/>
                <a:ea typeface="Arial" pitchFamily="34" charset="-122"/>
                <a:cs typeface="Arial" pitchFamily="34" charset="-120"/>
              </a:rPr>
              <a:t>plan</a:t>
            </a:r>
            <a:pPr indent="0" marL="0">
              <a:lnSpc>
                <a:spcPct val="100000"/>
              </a:lnSpc>
              <a:buNone/>
            </a:pPr>
            <a:r>
              <a:rPr lang="en-US" sz="1350" dirty="0">
                <a:solidFill>
                  <a:schemeClr val="tx2"/>
                </a:solidFill>
                <a:latin typeface="Arial" pitchFamily="34" charset="0"/>
                <a:ea typeface="Arial" pitchFamily="34" charset="-122"/>
                <a:cs typeface="Arial" pitchFamily="34" charset="-120"/>
              </a:rPr>
              <a:t>, creates nothing.</a:t>
            </a:r>
            <a:endParaRPr lang="en-US" sz="1350" dirty="0"/>
          </a:p>
        </p:txBody>
      </p:sp>
      <p:sp>
        <p:nvSpPr>
          <p:cNvPr id="10" name="Code"/>
          <p:cNvSpPr txBox="1"/>
          <p:nvPr/>
        </p:nvSpPr>
        <p:spPr>
          <a:xfrm>
            <a:off x="4406900" y="2766822"/>
            <a:ext cx="3378200" cy="1050989"/>
          </a:xfrm>
          <a:prstGeom prst="roundRect">
            <a:avLst>
              <a:gd name="adj" fmla="val 5220"/>
            </a:avLst>
          </a:prstGeom>
          <a:solidFill>
            <a:srgbClr val="E6EAE4"/>
          </a:solidFill>
          <a:ln/>
        </p:spPr>
        <p:txBody>
          <a:bodyPr wrap="square" lIns="246888" tIns="246888" rIns="246888" bIns="246888" rtlCol="0" anchor="t"/>
          <a:lstStyle/>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no matching EC2 VPC</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found</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with data.aws_vpc…</a:t>
            </a:r>
            <a:endParaRPr lang="en-US" sz="1125" dirty="0"/>
          </a:p>
        </p:txBody>
      </p:sp>
      <p:sp>
        <p:nvSpPr>
          <p:cNvPr id="11" name="Text 8"/>
          <p:cNvSpPr txBox="1"/>
          <p:nvPr/>
        </p:nvSpPr>
        <p:spPr>
          <a:xfrm>
            <a:off x="8128000" y="1645920"/>
            <a:ext cx="3378200" cy="320040"/>
          </a:xfrm>
          <a:prstGeom prst="rect">
            <a:avLst/>
          </a:prstGeom>
          <a:noFill/>
          <a:ln/>
        </p:spPr>
        <p:txBody>
          <a:bodyPr wrap="square" lIns="0" tIns="0" rIns="0" bIns="0" rtlCol="0" anchor="t"/>
          <a:lstStyle/>
          <a:p>
            <a:pPr indent="0" marL="0">
              <a:lnSpc>
                <a:spcPct val="100000"/>
              </a:lnSpc>
              <a:buNone/>
            </a:pPr>
            <a:r>
              <a:rPr lang="en-US" sz="1850" b="1" dirty="0">
                <a:solidFill>
                  <a:schemeClr val="tx1"/>
                </a:solidFill>
                <a:latin typeface="Courier New" pitchFamily="34" charset="0"/>
                <a:ea typeface="Courier New" pitchFamily="34" charset="-122"/>
                <a:cs typeface="Courier New" pitchFamily="34" charset="-120"/>
              </a:rPr>
              <a:t>make fixed</a:t>
            </a:r>
            <a:endParaRPr lang="en-US" sz="1850" dirty="0"/>
          </a:p>
        </p:txBody>
      </p:sp>
      <p:sp>
        <p:nvSpPr>
          <p:cNvPr id="12" name="Text 9"/>
          <p:cNvSpPr txBox="1"/>
          <p:nvPr/>
        </p:nvSpPr>
        <p:spPr>
          <a:xfrm>
            <a:off x="8128000" y="2221992"/>
            <a:ext cx="3378200" cy="411480"/>
          </a:xfrm>
          <a:prstGeom prst="rect">
            <a:avLst/>
          </a:prstGeom>
          <a:noFill/>
          <a:ln/>
        </p:spPr>
        <p:txBody>
          <a:bodyPr wrap="square" lIns="0" tIns="0" rIns="0" bIns="0" rtlCol="0" anchor="t"/>
          <a:lstStyle/>
          <a:p>
            <a:pPr indent="0" marL="0">
              <a:lnSpc>
                <a:spcPct val="100000"/>
              </a:lnSpc>
              <a:buNone/>
            </a:pPr>
            <a:r>
              <a:rPr lang="en-US" sz="1350" dirty="0">
                <a:solidFill>
                  <a:schemeClr val="tx2"/>
                </a:solidFill>
                <a:latin typeface="Arial" pitchFamily="34" charset="0"/>
                <a:ea typeface="Arial" pitchFamily="34" charset="-122"/>
                <a:cs typeface="Arial" pitchFamily="34" charset="-120"/>
              </a:rPr>
              <a:t>A third </a:t>
            </a:r>
            <a:pPr indent="0" marL="0">
              <a:lnSpc>
                <a:spcPct val="100000"/>
              </a:lnSpc>
              <a:buNone/>
            </a:pPr>
            <a:r>
              <a:rPr lang="en-US" sz="1190" dirty="0">
                <a:solidFill>
                  <a:schemeClr val="tx2"/>
                </a:solidFill>
                <a:latin typeface="Courier New" pitchFamily="34" charset="0"/>
                <a:ea typeface="Courier New" pitchFamily="34" charset="-122"/>
                <a:cs typeface="Courier New" pitchFamily="34" charset="-120"/>
              </a:rPr>
              <a:t>network/</a:t>
            </a:r>
            <a:pPr indent="0" marL="0">
              <a:lnSpc>
                <a:spcPct val="100000"/>
              </a:lnSpc>
              <a:buNone/>
            </a:pPr>
            <a:r>
              <a:rPr lang="en-US" sz="1350" dirty="0">
                <a:solidFill>
                  <a:schemeClr val="tx2"/>
                </a:solidFill>
                <a:latin typeface="Arial" pitchFamily="34" charset="0"/>
                <a:ea typeface="Arial" pitchFamily="34" charset="-122"/>
                <a:cs typeface="Arial" pitchFamily="34" charset="-120"/>
              </a:rPr>
              <a:t> layer owns both VPCs. App stacks find it by tag.</a:t>
            </a:r>
            <a:endParaRPr lang="en-US" sz="1350" dirty="0"/>
          </a:p>
        </p:txBody>
      </p:sp>
      <p:sp>
        <p:nvSpPr>
          <p:cNvPr id="13" name="Code"/>
          <p:cNvSpPr txBox="1"/>
          <p:nvPr/>
        </p:nvSpPr>
        <p:spPr>
          <a:xfrm>
            <a:off x="8128000" y="2766822"/>
            <a:ext cx="3378200" cy="1050989"/>
          </a:xfrm>
          <a:prstGeom prst="roundRect">
            <a:avLst>
              <a:gd name="adj" fmla="val 5220"/>
            </a:avLst>
          </a:prstGeom>
          <a:solidFill>
            <a:srgbClr val="E6EAE4"/>
          </a:solidFill>
          <a:ln/>
        </p:spPr>
        <p:txBody>
          <a:bodyPr wrap="square" lIns="246888" tIns="246888" rIns="246888" bIns="246888" rtlCol="0" anchor="t"/>
          <a:lstStyle/>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network → pipeline</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network → portal</a:t>
            </a:r>
            <a:endParaRPr lang="en-US" sz="1125" dirty="0"/>
          </a:p>
          <a:p>
            <a:pPr indent="0" marL="0">
              <a:lnSpc>
                <a:spcPct val="105000"/>
              </a:lnSpc>
              <a:buNone/>
            </a:pPr>
            <a:r>
              <a:rPr lang="en-US" sz="1125" dirty="0">
                <a:solidFill>
                  <a:schemeClr val="tx1"/>
                </a:solidFill>
                <a:latin typeface="Courier New" pitchFamily="34" charset="0"/>
                <a:ea typeface="Courier New" pitchFamily="34" charset="-122"/>
                <a:cs typeface="Courier New" pitchFamily="34" charset="-120"/>
              </a:rPr>
              <a:t>all three converge</a:t>
            </a:r>
            <a:endParaRPr lang="en-US" sz="1125" dirty="0"/>
          </a:p>
        </p:txBody>
      </p:sp>
      <p:sp>
        <p:nvSpPr>
          <p:cNvPr id="14" name="Statement"/>
          <p:cNvSpPr txBox="1"/>
          <p:nvPr/>
        </p:nvSpPr>
        <p:spPr>
          <a:xfrm>
            <a:off x="685800" y="4732211"/>
            <a:ext cx="8595360" cy="457200"/>
          </a:xfrm>
          <a:prstGeom prst="rect">
            <a:avLst/>
          </a:prstGeom>
          <a:noFill/>
          <a:ln/>
        </p:spPr>
        <p:txBody>
          <a:bodyPr wrap="square" lIns="0" tIns="0" rIns="0" bIns="0" rtlCol="0" anchor="t"/>
          <a:lstStyle/>
          <a:p>
            <a:pPr indent="0" marL="0">
              <a:lnSpc>
                <a:spcPct val="100000"/>
              </a:lnSpc>
              <a:buNone/>
            </a:pPr>
            <a:r>
              <a:rPr lang="en-US" sz="3000" dirty="0">
                <a:solidFill>
                  <a:schemeClr val="tx1"/>
                </a:solidFill>
                <a:latin typeface="Arial" pitchFamily="34" charset="0"/>
                <a:ea typeface="Arial" pitchFamily="34" charset="-122"/>
                <a:cs typeface="Arial" pitchFamily="34" charset="-120"/>
              </a:rPr>
              <a:t>Shared infrastructure needs one clear owner.</a:t>
            </a:r>
            <a:endParaRPr lang="en-US" sz="300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Eyebrow"/>
          <p:cNvSpPr txBox="1"/>
          <p:nvPr/>
        </p:nvSpPr>
        <p:spPr>
          <a:xfrm>
            <a:off x="685800" y="475488"/>
            <a:ext cx="10820400" cy="219456"/>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RUN IT YOURSELF</a:t>
            </a:r>
            <a:endParaRPr lang="en-US" sz="1100" dirty="0"/>
          </a:p>
        </p:txBody>
      </p:sp>
      <p:sp>
        <p:nvSpPr>
          <p:cNvPr id="4" name="Text 0"/>
          <p:cNvSpPr/>
          <p:nvPr>
            <p:ph idx="100" type="title" hasCustomPrompt="1"/>
          </p:nvPr>
        </p:nvSpPr>
        <p:spPr>
          <a:xfrm>
            <a:off x="685800" y="822960"/>
            <a:ext cx="10820400" cy="109728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The repo</a:t>
            </a:r>
            <a:endParaRPr lang="en-US" sz="3600" dirty="0"/>
          </a:p>
        </p:txBody>
      </p:sp>
      <p:sp>
        <p:nvSpPr>
          <p:cNvPr id="5" name="Statement"/>
          <p:cNvSpPr txBox="1"/>
          <p:nvPr/>
        </p:nvSpPr>
        <p:spPr>
          <a:xfrm>
            <a:off x="685800" y="1645920"/>
            <a:ext cx="8595360" cy="457200"/>
          </a:xfrm>
          <a:prstGeom prst="rect">
            <a:avLst/>
          </a:prstGeom>
          <a:noFill/>
          <a:ln/>
        </p:spPr>
        <p:txBody>
          <a:bodyPr wrap="square" lIns="0" tIns="0" rIns="0" bIns="0" rtlCol="0" anchor="t"/>
          <a:lstStyle/>
          <a:p>
            <a:pPr indent="0" marL="0">
              <a:lnSpc>
                <a:spcPct val="100000"/>
              </a:lnSpc>
              <a:buNone/>
            </a:pPr>
            <a:r>
              <a:rPr lang="en-US" sz="3000" u="sng" dirty="0">
                <a:solidFill>
                  <a:schemeClr val="tx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https://github.com/raysapida/terraform_demo</a:t>
            </a:r>
            <a:endParaRPr lang="en-US" sz="3000" dirty="0"/>
          </a:p>
        </p:txBody>
      </p:sp>
      <p:sp>
        <p:nvSpPr>
          <p:cNvPr id="6" name="Terminal"/>
          <p:cNvSpPr txBox="1"/>
          <p:nvPr/>
        </p:nvSpPr>
        <p:spPr>
          <a:xfrm>
            <a:off x="685800" y="2286000"/>
            <a:ext cx="5143652" cy="2140649"/>
          </a:xfrm>
          <a:prstGeom prst="roundRect">
            <a:avLst>
              <a:gd name="adj" fmla="val 2563"/>
            </a:avLst>
          </a:prstGeom>
          <a:solidFill>
            <a:schemeClr val="tx1"/>
          </a:solidFill>
          <a:ln/>
        </p:spPr>
        <p:txBody>
          <a:bodyPr wrap="square" lIns="246888" tIns="246888" rIns="246888" bIns="246888" rtlCol="0" anchor="t"/>
          <a:lstStyle/>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docker compose pull</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up</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preflight</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site</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rails</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lambda</a:t>
            </a:r>
            <a:endParaRPr lang="en-US" sz="1425" dirty="0"/>
          </a:p>
          <a:p>
            <a:pPr indent="0" marL="0">
              <a:lnSpc>
                <a:spcPct val="105000"/>
              </a:lnSpc>
              <a:buNone/>
            </a:pPr>
            <a:r>
              <a:rPr lang="en-US" sz="1425" dirty="0">
                <a:solidFill>
                  <a:srgbClr val="9AA39E"/>
                </a:solidFill>
                <a:latin typeface="Courier New" pitchFamily="34" charset="0"/>
                <a:ea typeface="Courier New" pitchFamily="34" charset="-122"/>
                <a:cs typeface="Courier New" pitchFamily="34" charset="-120"/>
              </a:rPr>
              <a:t>$</a:t>
            </a:r>
            <a:pPr indent="0" marL="0">
              <a:lnSpc>
                <a:spcPct val="105000"/>
              </a:lnSpc>
              <a:buNone/>
            </a:pPr>
            <a:r>
              <a:rPr lang="en-US" sz="1425" dirty="0">
                <a:solidFill>
                  <a:schemeClr val="bg2"/>
                </a:solidFill>
                <a:latin typeface="Courier New" pitchFamily="34" charset="0"/>
                <a:ea typeface="Courier New" pitchFamily="34" charset="-122"/>
                <a:cs typeface="Courier New" pitchFamily="34" charset="-120"/>
              </a:rPr>
              <a:t> make tanstack</a:t>
            </a:r>
            <a:endParaRPr lang="en-US" sz="1425" dirty="0"/>
          </a:p>
        </p:txBody>
      </p:sp>
      <p:sp>
        <p:nvSpPr>
          <p:cNvPr id="7" name="Text 4"/>
          <p:cNvSpPr txBox="1"/>
          <p:nvPr/>
        </p:nvSpPr>
        <p:spPr>
          <a:xfrm>
            <a:off x="6362548" y="2286000"/>
            <a:ext cx="5143652" cy="201168"/>
          </a:xfrm>
          <a:prstGeom prst="rect">
            <a:avLst/>
          </a:prstGeom>
          <a:noFill/>
          <a:ln/>
        </p:spPr>
        <p:txBody>
          <a:bodyPr wrap="square" lIns="0" tIns="0" rIns="0" bIns="0" rtlCol="0" anchor="t"/>
          <a:lstStyle/>
          <a:p>
            <a:pPr indent="0" marL="0">
              <a:buNone/>
            </a:pPr>
            <a:r>
              <a:rPr lang="en-US" sz="1050" spc="100" kern="0" dirty="0">
                <a:solidFill>
                  <a:schemeClr val="tx2"/>
                </a:solidFill>
                <a:latin typeface="Courier New" pitchFamily="34" charset="0"/>
                <a:ea typeface="Courier New" pitchFamily="34" charset="-122"/>
                <a:cs typeface="Courier New" pitchFamily="34" charset="-120"/>
              </a:rPr>
              <a:t>NEEDS</a:t>
            </a:r>
            <a:endParaRPr lang="en-US" sz="1050" dirty="0"/>
          </a:p>
        </p:txBody>
      </p:sp>
      <p:sp>
        <p:nvSpPr>
          <p:cNvPr id="8" name="Callout"/>
          <p:cNvSpPr txBox="1"/>
          <p:nvPr/>
        </p:nvSpPr>
        <p:spPr>
          <a:xfrm>
            <a:off x="6362548" y="2679192"/>
            <a:ext cx="5143652" cy="1005840"/>
          </a:xfrm>
          <a:prstGeom prst="rect">
            <a:avLst/>
          </a:prstGeom>
          <a:noFill/>
          <a:ln/>
        </p:spPr>
        <p:txBody>
          <a:bodyPr wrap="square" lIns="0" tIns="0" rIns="0" bIns="0" rtlCol="0" anchor="t"/>
          <a:lstStyle/>
          <a:p>
            <a:pPr indent="0" marL="0">
              <a:lnSpc>
                <a:spcPct val="100000"/>
              </a:lnSpc>
              <a:buNone/>
            </a:pPr>
            <a:r>
              <a:rPr lang="en-US" sz="1650" dirty="0">
                <a:solidFill>
                  <a:schemeClr val="tx1"/>
                </a:solidFill>
                <a:latin typeface="Arial" pitchFamily="34" charset="0"/>
                <a:ea typeface="Arial" pitchFamily="34" charset="-122"/>
                <a:cs typeface="Arial" pitchFamily="34" charset="-120"/>
              </a:rPr>
              <a:t>Docker with Compose v2, Terraform ≥ 1.5, make and curl. AWS CLI for the static-site demo; Ruby 4.0.5 and Bundler for Rails. Node is optional. No AWS account and no credentials.</a:t>
            </a:r>
            <a:endParaRPr lang="en-US" sz="1650" dirty="0"/>
          </a:p>
        </p:txBody>
      </p:sp>
      <p:sp>
        <p:nvSpPr>
          <p:cNvPr id="25" name="Slide Number Placeholder 0"/>
          <p:cNvSpPr>
            <a:spLocks noGrp="1"/>
          </p:cNvSpPr>
          <p:nvPr>
            <p:ph type="sldNum" sz="quarter" idx="4294967295"/>
          </p:nvPr>
        </p:nvSpPr>
        <p:spPr>
          <a:xfrm>
            <a:off x="10972800" y="640080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urier New"/>
                <a:ea typeface="Courier New"/>
                <a:cs typeface="Courier New"/>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From Git commits to Terraform">
  <a:themeElements>
    <a:clrScheme name="From Git commits to Terraform">
      <a:dk1>
        <a:srgbClr val="16201C"/>
      </a:dk1>
      <a:lt1>
        <a:srgbClr val="FFFFFF"/>
      </a:lt1>
      <a:dk2>
        <a:srgbClr val="5B6660"/>
      </a:dk2>
      <a:lt2>
        <a:srgbClr val="F1F3EF"/>
      </a:lt2>
      <a:accent1>
        <a:srgbClr val="4B57C9"/>
      </a:accent1>
      <a:accent2>
        <a:srgbClr val="11807A"/>
      </a:accent2>
      <a:accent3>
        <a:srgbClr val="8A3FA0"/>
      </a:accent3>
      <a:accent4>
        <a:srgbClr val="B7791F"/>
      </a:accent4>
      <a:accent5>
        <a:srgbClr val="B4442F"/>
      </a:accent5>
      <a:accent6>
        <a:srgbClr val="1F7A4D"/>
      </a:accent6>
      <a:hlink>
        <a:srgbClr val="4B57C9"/>
      </a:hlink>
      <a:folHlink>
        <a:srgbClr val="8A3FA0"/>
      </a:folHlink>
    </a:clrScheme>
    <a:fontScheme name="From Git commits to Terrafo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Git commits to Terraform</dc:title>
  <dc:subject>Playful Programming talk</dc:subject>
  <dc:creator>PptxGenJS</dc:creator>
  <cp:lastModifiedBy>PptxGenJS</cp:lastModifiedBy>
  <cp:revision>1</cp:revision>
  <dcterms:created xsi:type="dcterms:W3CDTF">2026-10-13T20:47:40Z</dcterms:created>
  <dcterms:modified xsi:type="dcterms:W3CDTF">2026-10-13T20:47:40Z</dcterms:modified>
</cp:coreProperties>
</file>